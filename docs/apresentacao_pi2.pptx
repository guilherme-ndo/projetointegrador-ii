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8"/>
    <p:sldId id="268" r:id="rId1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Índice</c:v>
                </c:pt>
              </c:strCache>
            </c:strRef>
          </c:tx>
          <c:spPr>
            <a:solidFill>
              <a:srgbClr val="CFCAEF"/>
            </a:solidFill>
          </c:spPr>
          <c:dPt>
            <c:idx val="6"/>
            <c:spPr>
              <a:solidFill>
                <a:srgbClr val="F2A541"/>
              </a:solidFill>
            </c:spPr>
          </c:dPt>
          <c:cat>
            <c:strRef>
              <c:f>Sheet1!$A$2:$A$9</c:f>
              <c:strCache>
                <c:ptCount val="8"/>
                <c:pt idx="0">
                  <c:v>Ciências sociais</c:v>
                </c:pt>
                <c:pt idx="1">
                  <c:v>Educação</c:v>
                </c:pt>
                <c:pt idx="2">
                  <c:v>Artes e humanidades</c:v>
                </c:pt>
                <c:pt idx="3">
                  <c:v>Engenharia</c:v>
                </c:pt>
                <c:pt idx="4">
                  <c:v>Negócios e direito</c:v>
                </c:pt>
                <c:pt idx="5">
                  <c:v>Saúde e bem-estar</c:v>
                </c:pt>
                <c:pt idx="6">
                  <c:v>Computação e TIC</c:v>
                </c:pt>
                <c:pt idx="7">
                  <c:v>Ciências naturais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1.29</c:v>
                </c:pt>
                <c:pt idx="1">
                  <c:v>1.66</c:v>
                </c:pt>
                <c:pt idx="2">
                  <c:v>2.06</c:v>
                </c:pt>
                <c:pt idx="3">
                  <c:v>2.07</c:v>
                </c:pt>
                <c:pt idx="4">
                  <c:v>2.36</c:v>
                </c:pt>
                <c:pt idx="5">
                  <c:v>2.55</c:v>
                </c:pt>
                <c:pt idx="6">
                  <c:v>4.67</c:v>
                </c:pt>
                <c:pt idx="7">
                  <c:v>9.69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rgbClr val="22223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22223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Apresentar o tema do PI2 como continuação direta do relato técnico do PI1 (Políticas Públicas e a Inclusão no Ensino Superior).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PI1 concluiu que o gargalo migrou do acesso para a permanência e que o diploma reduz o desemprego. Nas considerações finais recomendamos estratégias de transição estudo-trabalho (ODS 8). O PI2 aplica essa recomendação em escala regional. Números do PI1: SEMESP (matrículas), Banco Mundial (desemprego e diplomados).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3 (destacada) é o núcleo do projeto e depende da tabela de-para CINE x CBO. A pergunta 4 replica localmente o achado nacional do PI1. A pergunta 5 dá continuidade ao tema de permanência.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Recorte regional em torno da Fatec Santana de Parnaíba. Validar com o professor se o recorte de 8 municípios é adequado ou se devemos ampliar para a RMSP.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Fontes: portal de dados abertos do INEP, portal PDET do Ministério do Trabalho e SIDRA do IBGE. Alternativa: Base dos Dados (basedosdados.org) com as bases já tratadas via BigQuery. Os arquivos do CAGED são grandes e serão filtrados em Python antes do Power BI. Conferido no dicionário do INEP 2024: CO_MUNICIPIO é o local de oferta, e os cursos EaD aparecem pelo município do polo. Só 473 concluintes EaD no Brasil vêm sem município.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 rascunho tinha 52 linhas, 18 a verificar. Validamos com as admissões de formados no CAGED 2024 (8 municípios) e com a área CINE dos cursos no INEP 2024: o nome do curso no INEP define a área (ex.: Logística em 04, Educação Física bacharelado em 09). Resultado: 79 linhas, nenhuma a verificar, cobrindo 99% das admissões de formados em cargos de nível superior, técnico ou dirigente. Ocupações dos grandes grupos 4 a 9 (nível médio) ficam sem área de propósito: formado nelas conta como sobrequalificação. A cascata roda no script 04_dim_cbo.py e gera a dimensão dCBO.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Dimensões ficam acima e abaixo; fatos ao centro. Todas as relações são um-para-muitos da dimensão para o fato. A dMunicipio guarda os códigos de 7 e 6 dígitos para resolver a diferença entre INEP/IBGE e CAGED.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 índice de descompasso é a métrica central. Como as admissões incluem quem troca de emprego e formados de fora da região, o índice fica acima de 1 em todas as áreas; por isso a leitura é comparativa (qual área pressiona mais). O prêmio salarial usa mediana e só salários mensais, sem trabalho intermitente, para não distorcer. Novo indicador surgido na validação: sobrequalificação (formados admitidos em ocupações de nível médio).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a validar com o professor: a proposta original previa visita a comerciantes com registro fotográfico. Nossa alternativa mantém o retorno social por meio do guia entregue a escolas e à Fatec. Se for exigido contato presencial ou humano, podemos acrescentar uma entrevista online curta com um coordenador de escola ou da Fatec.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Status em 30/09/2026: de-para validado e dimensão dCBO gerada; INEP 2024 e CAGED 2024 baixados, filtrados e com primeiros resultados. Falta na coleta: INEP e CAGED de 2020 a 2023, RAIS e IBGE. Falta no modelo: montar o esquema estrela no Power BI. Ajustar as semanas ao calendário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Encerrar pedindo retorno nestes quatro pontos. O primeiro é decisivo: se a visita for obrigatória, o projeto pode incorporar uma etapa híbrida.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Fontes: INEP, Censo da Educação Superior 2024 (arquivo de cursos) e MTE, Novo CAGED jan-dez/2024 (movimentações no prazo). Prêmio salarial por município varia de 1,6× (Carapicuíba e Pirapora) a 2,2× (Itapevi, Osasco e Barueri). A sobrequalificação conversa com o PI1: o diploma protege do desemprego, mas nem sempre leva a uma vaga que exige diploma. Cargos mais comuns: assistente administrativo, auxiliar de logística e auxiliar de escritório.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Numerador: admissões de pessoas com superior completo ou mais em ocupações cujo vínculo com a área é Principal no de-para (CAGED 2024). Denominador: concluintes da área nos cursos da região (INEP 2024, presencial e EaD). Fora do gráfico: Agricultura (1 concluinte) e Serviços (só ocupações com vínculo secundário). Próximo passo: repetir para 2020 a 2023 e ver a tendência.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4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-548640"/>
            <a:ext cx="2194560" cy="2194560"/>
          </a:xfrm>
          <a:prstGeom prst="ellipse">
            <a:avLst/>
          </a:prstGeom>
          <a:solidFill>
            <a:srgbClr val="6C5FC7"/>
          </a:solidFill>
          <a:ln w="12700">
            <a:solidFill>
              <a:srgbClr val="6C5FC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0" y="-54864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949440" y="3566160"/>
            <a:ext cx="1188720" cy="118872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0" y="35661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Integrador II · Apresentação de andamento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887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Formação superior e mercado de trabalho na Sub-região Oeste da RMSP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Descompasso entre oferta de cursos e demanda local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76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Neves Dantas de Oliveira · Luiz Rodolfo Dawoglio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 de Dados · Fatec Santana de Parnaíba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PI1 ao PI2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semestre passado mostrou e para onde o projeto avança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10,2 mi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278892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no ensino superior (2024), 80% no setor privado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3,9% / 8,8%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desemprego: superior vs médio no Brasil (2023)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17,19%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jovens de 25 a 34 anos com diploma, abaixo de Chile e México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03520" y="1371600"/>
            <a:ext cx="3383280" cy="2971800"/>
          </a:xfrm>
          <a:prstGeom prst="roundRect">
            <a:avLst>
              <a:gd name="adj" fmla="val 2462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53212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do PI2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532120" y="19659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diploma protege contra o desemprego, os cursos da nossa região formam para as vagas que o mercado local realmente abre?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532120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dado nacional ao dado regional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 de pesquisa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perguntas guiam as análises e os dashboards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57200" cy="45720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áreas de formação mais formam concluintes na região?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29968"/>
            <a:ext cx="457200" cy="45720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02996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ocupações de nível superior mais contratam na região?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8833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há descompasso entre formados e vagas?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346704"/>
            <a:ext cx="457200" cy="45720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346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34670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o diploma aumenta o salário de admissão localmente?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005072"/>
            <a:ext cx="457200" cy="45720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0050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oferta local é pública ou privada, e quanto dela conclui?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do estudo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Onde, quando e o que será medido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municípios da Sub-região Oeste da RMSP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Santana de Parnaíba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Barueri · Osasco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Carapicuíba · Cajamar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Itapevi · Jandira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Pirapora do Bom Jesus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3716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554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até o último ano disponível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56032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CAGED começa em jan/2020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o piso comum entre as bases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ES e RAIS anuais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554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quê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de formação x demanda de trabalho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56032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Cursos, vagas, ingressos e concluintes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Admissões e salários por ocupação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 escolaridade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bases cruzadas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Exigência do PI2: integrar três fontes de dados públicas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54480"/>
            <a:ext cx="685800" cy="68580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54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INEP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317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Censo da Educação Superior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Cursos por município e área CINE: vagas, ingressantes, matrículas, concluintes, rede pública ou privada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3716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554480"/>
            <a:ext cx="685800" cy="685800"/>
          </a:xfrm>
          <a:prstGeom prst="ellipse">
            <a:avLst/>
          </a:prstGeom>
          <a:solidFill>
            <a:srgbClr val="6C5FC7"/>
          </a:solidFill>
          <a:ln w="12700">
            <a:solidFill>
              <a:srgbClr val="6C5FC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554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3317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Novo CAGED e RAIS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7889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Admissões, desligamentos, salário e escolaridade por ocupação CBO e município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3716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1554480"/>
            <a:ext cx="685800" cy="68580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1554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IBGE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3317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Censo Demográfico 2022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7889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por faixa etária e escolaridade por município (SIDRA)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86200"/>
            <a:ext cx="8183880" cy="777240"/>
          </a:xfrm>
          <a:prstGeom prst="roundRect">
            <a:avLst>
              <a:gd name="adj" fmla="val 9412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8862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Chaves de ligação: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do município (7 dígitos no INEP e IBGE, 6 no CAGED) e ano. Curso e emprego ligam pela tabela de-para CINE x CBO.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Desafio metodológico: tabela de-para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e emprego usam classificações diferentes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423160" cy="1417320"/>
          </a:xfrm>
          <a:prstGeom prst="roundRect">
            <a:avLst>
              <a:gd name="adj" fmla="val 5161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CINE Brasil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286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áreas gerais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4173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3337560" y="1417320"/>
            <a:ext cx="2423160" cy="1417320"/>
          </a:xfrm>
          <a:prstGeom prst="roundRect">
            <a:avLst>
              <a:gd name="adj" fmla="val 5161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0440" y="15544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De-para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18745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Nossa tabela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286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ocupação recebe uma área principal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14173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217920" y="1417320"/>
            <a:ext cx="2423160" cy="1417320"/>
          </a:xfrm>
          <a:prstGeom prst="roundRect">
            <a:avLst>
              <a:gd name="adj" fmla="val 5161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15544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Emprego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8745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CBO 2002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286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de ocupação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15468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8404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no de-para validado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337560" y="315468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3337560" y="38404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CINE com ocupação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15468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8404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formados em cargos qualificados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com CAGED e INEP 2024. Limitação: ocupações que recebem formados de várias áreas.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dados no Power BI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estrela: quatro fatos ligados por dimensões comuns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24028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2402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fOfertaEnsino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224028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0" y="22402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fAdmissoes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224028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2402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fEstoqueEmprego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766560" y="224028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66560" y="22402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fPopulacao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132588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1325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dMunicipio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60420" y="132588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360420" y="1325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dCalendario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132588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63640" y="1325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dArea (CINE)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828800" y="338328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82880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dCBO (de-para)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92040" y="338328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dEscolaridade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 de município, tempo e área filtram as quatro tabelas de fatos. dCBO traduz ocupação em área; dEscolaridade agrupa em fundamental, médio e superior.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principais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Medidas DAX que respondem às perguntas de pesquisa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00200"/>
            <a:ext cx="411480" cy="41148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600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 de descompasso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031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Admissões com superior na área ÷ concluintes na área. Leitura comparativa entre áreas.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17720" y="13716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600200"/>
            <a:ext cx="411480" cy="41148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1600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Prêmio salarial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1031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 mediano de admissão com superior ÷ com ensino médio. Só salário mensal, sem intermitente.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246120"/>
            <a:ext cx="411480" cy="41148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Taxa de conclusão local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7490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Concluintes ÷ ingressantes, com defasagem pela duração do curso.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17720" y="301752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3246120"/>
            <a:ext cx="411480" cy="41148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Participação privada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37490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na rede privada ÷ total de matrículas da região.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Primeiros resultados (2024)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INEP e CAGED 2024 nos 8 municípios do recorte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13,6 mil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278892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concluintes; 91% na rede privada e 67% em EaD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73,2 mil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admissões de formados, 14% de todas as admissões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2,1×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 salarial: mediana de R$ 3.841 com superior e R$ 1.850 com médio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03520" y="1371600"/>
            <a:ext cx="3383280" cy="2971800"/>
          </a:xfrm>
          <a:prstGeom prst="roundRect">
            <a:avLst>
              <a:gd name="adj" fmla="val 2462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53212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inicial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532120" y="19659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em cada 3 formados contratados na região entra em vaga de nível médio.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532120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Sobrequalificação: 34% das admissões com diploma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 de descompasso por área (2024)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Admissões de formados em ocupações da área ÷ concluintes da área na região</a:t>
            </a:r>
            <a:endParaRPr lang="en-US" sz="1400" dirty="0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25880"/>
          <a:ext cx="49377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0" y="1417320"/>
            <a:ext cx="3017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2B2462"/>
                </a:solidFill>
                <a:latin typeface="Calibri"/>
              </a:rPr>
              <a:t>Computação e TIC: </a:t>
            </a:r>
            <a:r>
              <a:rPr sz="1200">
                <a:solidFill>
                  <a:srgbClr val="22223A"/>
                </a:solidFill>
                <a:latin typeface="Calibri"/>
              </a:rPr>
              <a:t>4,7 admissões por concluinte: a maior pressão entre as áreas com muitos formados.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2B2462"/>
                </a:solidFill>
                <a:latin typeface="Calibri"/>
              </a:rPr>
              <a:t>Ciências naturais: </a:t>
            </a:r>
            <a:r>
              <a:rPr sz="1200">
                <a:solidFill>
                  <a:srgbClr val="22223A"/>
                </a:solidFill>
                <a:latin typeface="Calibri"/>
              </a:rPr>
              <a:t>índice alto, mas com só 72 concluintes na região.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2B2462"/>
                </a:solidFill>
                <a:latin typeface="Calibri"/>
              </a:rPr>
              <a:t>Ciências sociais e Educação: </a:t>
            </a:r>
            <a:r>
              <a:rPr sz="1200">
                <a:solidFill>
                  <a:srgbClr val="22223A"/>
                </a:solidFill>
                <a:latin typeface="Calibri"/>
              </a:rPr>
              <a:t>menores índices (1,3 e 1,7).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2B2462"/>
                </a:solidFill>
                <a:latin typeface="Calibri"/>
              </a:rPr>
              <a:t>Por que tudo acima de 1? </a:t>
            </a:r>
            <a:r>
              <a:rPr sz="1200">
                <a:solidFill>
                  <a:srgbClr val="22223A"/>
                </a:solidFill>
                <a:latin typeface="Calibri"/>
              </a:rPr>
              <a:t>a região também contrata formados de fora e recontrata quem já trabalha. Por isso a leitura é comparativa.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Retorno para a sociedade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 à orientação do MEC de extensão universitária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8745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Guia "Cursos com mercado na nossa região"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 duas páginas, linguagem para estudantes do ensino médio, com link para o dashboard público no Power BI.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371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Destinatários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17099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Diretoria de Ensino da região (escolas estaduais) e coordenação da Fatec Santana de Parnaíba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2468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2807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Ofício ou e-mail institucional, sem necessidade de visita de campo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35661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390448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Comprovante de envio, repositório GitHub, prints das etapas e dashboard publicado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Cronograma e status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previstas para o semestre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7680960" cy="0"/>
          </a:xfrm>
          <a:prstGeom prst="line">
            <a:avLst/>
          </a:prstGeom>
          <a:noFill/>
          <a:ln w="25400">
            <a:solidFill>
              <a:srgbClr val="C9C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1-2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517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Coleta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154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Baixar e filtrar bases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48840" y="1783080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488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2377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3-4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828800" y="26517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De-para e modelo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3154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tabela e montar estrela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20440" y="1783080"/>
            <a:ext cx="457200" cy="457200"/>
          </a:xfrm>
          <a:prstGeom prst="ellipse">
            <a:avLst/>
          </a:prstGeom>
          <a:solidFill>
            <a:srgbClr val="B9B3D9"/>
          </a:solidFill>
          <a:ln w="12700">
            <a:solidFill>
              <a:srgbClr val="B9B3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204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2377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5-7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6517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154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DAX e visuais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92040" y="1783080"/>
            <a:ext cx="457200" cy="457200"/>
          </a:xfrm>
          <a:prstGeom prst="ellipse">
            <a:avLst/>
          </a:prstGeom>
          <a:solidFill>
            <a:srgbClr val="B9B3D9"/>
          </a:solidFill>
          <a:ln w="12700">
            <a:solidFill>
              <a:srgbClr val="B9B3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2377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8-9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26517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0" y="3154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 e redação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1783080"/>
            <a:ext cx="457200" cy="457200"/>
          </a:xfrm>
          <a:prstGeom prst="ellipse">
            <a:avLst/>
          </a:prstGeom>
          <a:solidFill>
            <a:srgbClr val="B9B3D9"/>
          </a:solidFill>
          <a:ln w="12700">
            <a:solidFill>
              <a:srgbClr val="B9B3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2377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10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26517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Retorno social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0" y="3154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e envio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635240" y="1783080"/>
            <a:ext cx="457200" cy="457200"/>
          </a:xfrm>
          <a:prstGeom prst="ellipse">
            <a:avLst/>
          </a:prstGeom>
          <a:solidFill>
            <a:srgbClr val="B9B3D9"/>
          </a:solidFill>
          <a:ln w="12700">
            <a:solidFill>
              <a:srgbClr val="B9B3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35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0" y="2377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11+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0" y="26517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Fechamento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0" y="3154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e apresentação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206240"/>
            <a:ext cx="201168" cy="201168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41330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Concluído: de-para validado; INEP 2024 e CAGED 2024 tratados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394960" y="4206240"/>
            <a:ext cx="201168" cy="20116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669280" y="41330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andamento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040880" y="4206240"/>
            <a:ext cx="201168" cy="201168"/>
          </a:xfrm>
          <a:prstGeom prst="ellipse">
            <a:avLst/>
          </a:prstGeom>
          <a:solidFill>
            <a:srgbClr val="B9B3D9"/>
          </a:solidFill>
          <a:ln w="12700">
            <a:solidFill>
              <a:srgbClr val="B9B3D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0" y="41330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Próximas etapas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24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Pontos para validar com o professor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02920" cy="50292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2344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com dados públicos, sem visita de campo, atende à exigência de retorno social?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039112"/>
            <a:ext cx="502920" cy="50292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039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03911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 técnico ou artigo científico? (alinhar com o professor Venerson)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43784"/>
            <a:ext cx="502920" cy="50292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43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43784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 de 8 municípios é adequado ou ampliar para toda a RMSP?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648456"/>
            <a:ext cx="502920" cy="50292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6484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64845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 entrevista online curta como registro de contato com a comunidade?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A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PI2 - Formação superior e mercado de trabalho</dc:title>
  <dc:subject>PptxGenJS Presentation</dc:subject>
  <dc:creator>PptxGenJS</dc:creator>
  <cp:lastModifiedBy>PptxGenJS</cp:lastModifiedBy>
  <cp:revision>1</cp:revision>
  <dcterms:created xsi:type="dcterms:W3CDTF">2026-09-30T18:23:47Z</dcterms:created>
  <dcterms:modified xsi:type="dcterms:W3CDTF">2026-09-30T18:23:47Z</dcterms:modified>
</cp:coreProperties>
</file>