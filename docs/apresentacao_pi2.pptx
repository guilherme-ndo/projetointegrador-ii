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5"/>
  </p:notesMasterIdLst>
  <p:sldIdLst>
    <p:sldId id="266" r:id="rId2"/>
    <p:sldId id="258" r:id="rId3"/>
    <p:sldId id="259" r:id="rId4"/>
    <p:sldId id="260" r:id="rId5"/>
    <p:sldId id="261" r:id="rId6"/>
    <p:sldId id="262" r:id="rId7"/>
    <p:sldId id="268" r:id="rId8"/>
    <p:sldId id="269" r:id="rId9"/>
    <p:sldId id="270" r:id="rId10"/>
    <p:sldId id="263" r:id="rId11"/>
    <p:sldId id="278" r:id="rId12"/>
    <p:sldId id="279" r:id="rId13"/>
    <p:sldId id="271" r:id="rId14"/>
    <p:sldId id="273" r:id="rId15"/>
    <p:sldId id="280" r:id="rId16"/>
    <p:sldId id="281" r:id="rId17"/>
    <p:sldId id="282" r:id="rId18"/>
    <p:sldId id="283" r:id="rId19"/>
    <p:sldId id="277" r:id="rId20"/>
    <p:sldId id="267" r:id="rId21"/>
    <p:sldId id="272" r:id="rId22"/>
    <p:sldId id="265" r:id="rId23"/>
    <p:sldId id="284" r:id="rId24"/>
  </p:sldIdLst>
  <p:sldSz cx="18288000" cy="10287000"/>
  <p:notesSz cx="6858000" cy="9144000"/>
  <p:embeddedFontLst>
    <p:embeddedFont>
      <p:font typeface="Montaser Arabic" panose="020B0604020202020204" charset="-78"/>
      <p:regular r:id="rId26"/>
    </p:embeddedFont>
    <p:embeddedFont>
      <p:font typeface="Montaser Arabic Light" panose="020B0604020202020204" charset="-78"/>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D6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749" autoAdjust="0"/>
    <p:restoredTop sz="94640" autoAdjust="0"/>
  </p:normalViewPr>
  <p:slideViewPr>
    <p:cSldViewPr>
      <p:cViewPr varScale="1">
        <p:scale>
          <a:sx n="70" d="100"/>
          <a:sy n="70" d="100"/>
        </p:scale>
        <p:origin x="111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31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476937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Projeto Integrador II, Ciência de Dados, Fatec Santana de Parnaíba, 2026. Continuação do PI1 (Políticas Públicas e a Inclusão no Ensino Superior).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 Projeto Integrador anterior foi possível verificar que as políticas públicas de incentivo ao Ensino Superior, como o ENEM, o SISU e o PROUNI, ampliaram o acesso de forma expressiva, mas que o problema do país passou a ser a permanência e a conclusão dos cursos. Também foi possível notar que o diploma protege do desemprego, já que em 2023 a taxa de desemprego de quem tem nível superior foi de 3,9%, contra 8,8% de quem tem apenas o nível médio (Banco Mundial, 2024). Mas, se o diploma ajuda a conseguir emprego, será que os cursos oferecidos perto de casa formam para as vagas que existem na própria região? Diante disso, este relatório leva a análise do nível nacional para o regional, olhando para a Sub-região Oeste da Região Metropolitana de São Paulo, formada por Santana de Parnaíba, Barueri, Osasco, Carapicuíba, Cajamar, Itapevi, Jandira e Pirapora do Bom Jesus, onde moram cerca de 2 milhões de pessoas (IBGE, 2022). O foco está nos cursos das Fatecs da região, que são públicos e gratuitos e atendem boa parte dos jovens das escolas estaduais, comparando quantos alunos se formam em cada área com quantas pessoas com diploma são contratadas nas ocupações dessa área, quanto o diploma aumenta o salário de entrada e quantos formados acabam em vagas que não exigem diploma.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Retorno para a sociedade, conforme orientação do MEC: guia "Cursos com mercado na nossa região" para a Diretoria de Ensino (escolas estaduais) e a coordenação da Fatec.</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As cinco perguntas de pesquisa viram os objetivos específicos. A terceira (descompasso) é o núcleo do projeto e depende da tabela de-para CINE x CBO.</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principal conceito utilizado é o de descompasso entre a formação e a ocupação, que na literatura econômica aparece também como sobre-educação ou sobrequalificação. São considerados sobre-educados os trabalhadores que exercem funções que exigem um nível de escolaridade abaixo do seu, de acordo com a Classificação Brasileira de Ocupações (Carvalho; Reis, 2024). Conforme destacam Carvalho e Reis (2024), o mercado de trabalho brasileiro passou por um acelerado crescimento da proporção de trabalhadores sobre-educados ao longo dos últimos dez anos, junto com a redução do prêmio de escolaridade, o que indica que a demanda por trabalho qualificado não tem acompanhado o crescimento da oferta de mão de obra mais educada. Silva e Monte (2024), utilizando dados da RAIS entre 2010 e 2019, chegaram a uma conclusão parecida: a sobre-educação no Brasil é causada tanto pelo aumento de trabalhadores com Ensino Superior quanto pelo baixo crescimento da demanda por empregos qualificados. Os autores recomendam políticas que melhorem a qualidade do ensino e criem condições para que a demanda por empregos qualificados acompanhe a oferta de trabalhadores qualificados. Carvalho e Reis (2024) reforçam que, além do crescimento econômico, são necessárias mudanças estruturais e que o sistema de ensino seja capaz de formar pessoas mais preparadas para o mercado, inclusive por meio da ampliação de cursos de educação profissional, como os oferecidos pelas Fatecs.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recorte parte de 2020 porque o Novo CAGED começa em janeiro de 2020. Os scripts ficam no repositório GitHub do projeto.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Chaves de ligação: código do município (7 dígitos no INEP e IBGE, 6 no CAGED) e ano. Conferido no dicionário do INEP 2024: cursos EaD aparecem pelo município do polo. Já tratados: INEP 2020 a 2024 e CAGED jan/2020 a dez/2024 (60 meses de movimentações); RAIS 2020 a 2024 (vínculos ativos em 31/12).</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área de cada ocupação foi decidida pelo nome do curso no INEP (ex.: Logística em 04, Educação Física bacharelado em 09). Ocupações de nível médio ficam sem área: formado nelas conta como sobrequalificação. Limitação: ocupações que recebem formados de várias áreas. Fatos: oferta de ensino (INEP), admissões (CAGED), estoque de emprego (RAIS) e população (IBGE).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índice de descompasso fica acima de 1 em todas as áreas, porque as admissões incluem quem troca de emprego e formados de fora da região; por isso a leitura é comparativa. O prêmio salarial usa só salários mensais, sem trabalho intermitente.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 2024 as cinco Fatecs da região tiveram 2.253 ingressantes, 4.697 matrículas e 813 concluintes, o que representa cerca de 6% dos 13,6 mil concluintes de todas as instituições da região. Diferente do cenário regional, em que 91% das matrículas estão na rede privada e 67% dos concluintes vêm do ensino a distância, nas Fatecs toda a oferta é pública e apenas 9% dos concluintes são de cursos a distância.</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Analisando o gráfico de concluintes por área pode-se notar que a formação das Fatecs está concentrada em duas áreas, Negócios, administração e direito, que se manteve estável em torno de 360 concluintes por ano, e Computação e TIC, que passou de 240 concluintes em 2021 para 362 em 2024, um crescimento de 51%. Já Engenharia, onde estão os cursos industriais da Fatec Osasco, caiu de 131 para 59 concluintes no último ano, e Serviços vem diminuindo desde 2020. A taxa de conclusão das Fatecs, medida pelos concluintes em relação aos ingressantes de três anos antes, foi de 44% em 2023 e 36% em 2024, o que mostra que o problema de permanência apontado no relato anterior também está presente na região.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lado do mercado, a região fez 513 mil admissões em 2024, das quais 73,2 mil foram de pessoas com diploma. O gráfico de ocupações mostra que a ocupação que mais contratou formados foi a de Analista de Desenvolvimento de Sistemas, com 5.528 admissões, mais que o dobro da segunda colocada, Analista de Negócios, seguida por ocupações ligadas à gestão, como Analista de Recursos Humanos, Tecnólogo em Logística de Transporte e Administrador, o que conversa diretamente com os cursos oferecidos pelas Fatecs.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gráfico do índice de descompasso demonstra que Negócios e direito é a área com mais admissões de formados por concluinte das Fatecs (43,3), seguida por Computação e TIC (29,9) e Engenharia (21,9). Os valores são altos porque as admissões incluem pessoas que trocaram de emprego e formados de outras faculdades e de outras regiões, e porque as Fatecs formam só uma pequena parte dos concluintes da região, por isso o índice deve ser lido de forma comparativa entre as áreas e não como o número de vagas esperando cada formado. A área de Serviços ficou de fora, pois as ocupações ligadas a ela, como turismo e eventos, aparecem na tabela de-para apenas como vínculo secundário e não entram no cálculo do índice.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 evolução do índice é possível perceber movimentos diferentes em cada área. Em Computação e TIC o índice caiu de 51,1 em 2021 para 29,9 em 2024, porque os concluintes das Fatecs cresceram enquanto as admissões de formados nas ocupações da área caíram de 12,3 mil para 10,8 mil, o que indica que o mercado de tecnologia da região ficou mais disputado. Em Negócios e direito aconteceu o contrário, o índice dobrou de 20,8 para 43,3, já que as admissões de formados passaram de 7,5 mil em 2020 para 15,5 mil em 2024 com os concluintes estáveis. O salto de Engenharia em 2024 vem da queda de concluintes, e não do aumento de vagas, e por isso deve ser interpretado com cautela. Vale lembrar também que 2020 teve poucas admissões por causa da pandemia.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análise dos salários de admissão comprova que o diploma continua compensando no mercado da região, já que em 2024 o salário mediano de quem foi contratado com nível superior foi de R$ 3.841, contra R$ 1.850 de quem tinha apenas o nível médio, ou seja, 2,1 vezes maior. Contudo, esse prêmio salarial caiu desde o pico de 2,7 vezes em 2021, principalmente porque o salário do nível médio subiu mais rápido, o que está de acordo com a redução dos retornos à educação descrita por Carvalho e Reis (2024). Entre quem já está empregado, segundo a RAIS, a diferença é ainda maior, de 2,6 vezes, o que sugere que o diploma rende mais com o tempo de carreira.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 gráfico de sobrequalificação mostra o outro lado dessa moeda: em 2024, 34% dos formados contratados na região entraram em vagas que não exigem diploma, como auxiliar de logística, assistente administrativo e operador de telemarketing, percentual que subiu de 30% em 2020 e chegou a 37% em 2023. Entre os vínculos ativos da RAIS, porém, essa parcela é de apenas 16% e vem caindo, o que indica que o descompasso pesa mais na entrada no mercado e que muitos formados começam em vagas de nível médio e depois mudam de cargo. Esse resultado conversa com o relato anterior, pois o diploma protege do desemprego, mas nem sempre leva diretamente a uma vaga que exige diploma.</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município, o gráfico evidencia que o mercado de trabalho da região é regional e não municipal. Barueri concentra 64% das admissões de formados da região e 37% dos concluintes das Fatecs, enquanto Carapicuíba forma 31% dos concluintes das Fatecs e responde por apenas 2% das admissões de formados, o que significa que boa parte desses alunos precisa trabalhar em outro município. Cajamar, Itapevi, Jandira e Pirapora do Bom Jesus não têm unidade da Fatec, o que reforça a importância do transporte entre os municípios para o acesso tanto ao curso quanto ao emprego.</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Os dados do Censo 2022 mostram que 21% dos moradores da região com 25 anos ou mais têm Ensino Superior completo, com grande diferença entre os municípios, de 33% em Santana de Parnaíba a apenas 10% em Itapevi. Além disso, apenas 15% dos jovens de 18 a 24 anos frequentam a graduação. Cruzando a área de formação dos moradores com os vínculos de emprego, Computação e TIC foi a única área em que há menos moradores formados (21,7 mil) do que vínculos de formados nas ocupações da área (30,3 mil), ou seja, a região precisa atrair profissionais de tecnologia de fora, enquanto nas outras áreas sobram formados residentes.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 fim, a tabela dos cursos da Fatec Santana de Parnaíba ilustra como esses resultados chegam ao nível do curso. Os cursos de tecnologia levam a ocupações que contratam cerca de 8 mil formados por ano na região, com salário mediano acima de R$ 9 mil, mas essas contratações caíram entre 11% e 15% desde 2021, enquanto Gestão Comercial leva a ocupações que cresceram 23% no mesmo período. Também chama atenção a taxa de conclusão, que fica entre 31% e 34% nos cursos de tecnologia, o que confirma que formar o aluno que entrou continua sendo um desafio tão grande quanto o próprio mercado.</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Com base </a:t>
            </a:r>
            <a:r>
              <a:rPr dirty="0" err="1"/>
              <a:t>nos</a:t>
            </a:r>
            <a:r>
              <a:rPr dirty="0"/>
              <a:t> dados </a:t>
            </a:r>
            <a:r>
              <a:rPr dirty="0" err="1"/>
              <a:t>analisados</a:t>
            </a:r>
            <a:r>
              <a:rPr dirty="0"/>
              <a:t> é </a:t>
            </a:r>
            <a:r>
              <a:rPr dirty="0" err="1"/>
              <a:t>possível</a:t>
            </a:r>
            <a:r>
              <a:rPr dirty="0"/>
              <a:t> </a:t>
            </a:r>
            <a:r>
              <a:rPr dirty="0" err="1"/>
              <a:t>afirmar</a:t>
            </a:r>
            <a:r>
              <a:rPr dirty="0"/>
              <a:t> </a:t>
            </a:r>
            <a:r>
              <a:rPr dirty="0" err="1"/>
              <a:t>que</a:t>
            </a:r>
            <a:r>
              <a:rPr dirty="0"/>
              <a:t> o diploma continua </a:t>
            </a:r>
            <a:r>
              <a:rPr dirty="0" err="1"/>
              <a:t>sendo</a:t>
            </a:r>
            <a:r>
              <a:rPr dirty="0"/>
              <a:t> </a:t>
            </a:r>
            <a:r>
              <a:rPr dirty="0" err="1"/>
              <a:t>vantajoso</a:t>
            </a:r>
            <a:r>
              <a:rPr dirty="0"/>
              <a:t> no mercado de </a:t>
            </a:r>
            <a:r>
              <a:rPr dirty="0" err="1"/>
              <a:t>trabalho</a:t>
            </a:r>
            <a:r>
              <a:rPr dirty="0"/>
              <a:t> da Sub-</a:t>
            </a:r>
            <a:r>
              <a:rPr dirty="0" err="1"/>
              <a:t>região</a:t>
            </a:r>
            <a:r>
              <a:rPr dirty="0"/>
              <a:t> Oeste, com </a:t>
            </a:r>
            <a:r>
              <a:rPr dirty="0" err="1"/>
              <a:t>salário</a:t>
            </a:r>
            <a:r>
              <a:rPr dirty="0"/>
              <a:t> de </a:t>
            </a:r>
            <a:r>
              <a:rPr dirty="0" err="1"/>
              <a:t>admissão</a:t>
            </a:r>
            <a:r>
              <a:rPr dirty="0"/>
              <a:t> </a:t>
            </a:r>
            <a:r>
              <a:rPr dirty="0" err="1"/>
              <a:t>cerca</a:t>
            </a:r>
            <a:r>
              <a:rPr dirty="0"/>
              <a:t> de duas </a:t>
            </a:r>
            <a:r>
              <a:rPr dirty="0" err="1"/>
              <a:t>vezes</a:t>
            </a:r>
            <a:r>
              <a:rPr dirty="0"/>
              <a:t> </a:t>
            </a:r>
            <a:r>
              <a:rPr dirty="0" err="1"/>
              <a:t>maior</a:t>
            </a:r>
            <a:r>
              <a:rPr dirty="0"/>
              <a:t> </a:t>
            </a:r>
            <a:r>
              <a:rPr dirty="0" err="1"/>
              <a:t>que</a:t>
            </a:r>
            <a:r>
              <a:rPr dirty="0"/>
              <a:t> o do </a:t>
            </a:r>
            <a:r>
              <a:rPr dirty="0" err="1"/>
              <a:t>nível</a:t>
            </a:r>
            <a:r>
              <a:rPr dirty="0"/>
              <a:t> </a:t>
            </a:r>
            <a:r>
              <a:rPr dirty="0" err="1"/>
              <a:t>médio</a:t>
            </a:r>
            <a:r>
              <a:rPr dirty="0"/>
              <a:t>, mas </a:t>
            </a:r>
            <a:r>
              <a:rPr dirty="0" err="1"/>
              <a:t>que</a:t>
            </a:r>
            <a:r>
              <a:rPr dirty="0"/>
              <a:t> </a:t>
            </a:r>
            <a:r>
              <a:rPr dirty="0" err="1"/>
              <a:t>essa</a:t>
            </a:r>
            <a:r>
              <a:rPr dirty="0"/>
              <a:t> </a:t>
            </a:r>
            <a:r>
              <a:rPr dirty="0" err="1"/>
              <a:t>vantagem</a:t>
            </a:r>
            <a:r>
              <a:rPr dirty="0"/>
              <a:t> </a:t>
            </a:r>
            <a:r>
              <a:rPr dirty="0" err="1"/>
              <a:t>vem</a:t>
            </a:r>
            <a:r>
              <a:rPr dirty="0"/>
              <a:t> </a:t>
            </a:r>
            <a:r>
              <a:rPr dirty="0" err="1"/>
              <a:t>diminuindo</a:t>
            </a:r>
            <a:r>
              <a:rPr dirty="0"/>
              <a:t> e </a:t>
            </a:r>
            <a:r>
              <a:rPr dirty="0" err="1"/>
              <a:t>que</a:t>
            </a:r>
            <a:r>
              <a:rPr dirty="0"/>
              <a:t> um </a:t>
            </a:r>
            <a:r>
              <a:rPr dirty="0" err="1"/>
              <a:t>em</a:t>
            </a:r>
            <a:r>
              <a:rPr dirty="0"/>
              <a:t> </a:t>
            </a:r>
            <a:r>
              <a:rPr dirty="0" err="1"/>
              <a:t>cada</a:t>
            </a:r>
            <a:r>
              <a:rPr dirty="0"/>
              <a:t> </a:t>
            </a:r>
            <a:r>
              <a:rPr dirty="0" err="1"/>
              <a:t>três</a:t>
            </a:r>
            <a:r>
              <a:rPr dirty="0"/>
              <a:t> </a:t>
            </a:r>
            <a:r>
              <a:rPr dirty="0" err="1"/>
              <a:t>formados</a:t>
            </a:r>
            <a:r>
              <a:rPr dirty="0"/>
              <a:t> </a:t>
            </a:r>
            <a:r>
              <a:rPr dirty="0" err="1"/>
              <a:t>contratados</a:t>
            </a:r>
            <a:r>
              <a:rPr dirty="0"/>
              <a:t> </a:t>
            </a:r>
            <a:r>
              <a:rPr dirty="0" err="1"/>
              <a:t>entra</a:t>
            </a:r>
            <a:r>
              <a:rPr dirty="0"/>
              <a:t> </a:t>
            </a:r>
            <a:r>
              <a:rPr dirty="0" err="1"/>
              <a:t>em</a:t>
            </a:r>
            <a:r>
              <a:rPr dirty="0"/>
              <a:t> </a:t>
            </a:r>
            <a:r>
              <a:rPr dirty="0" err="1"/>
              <a:t>uma</a:t>
            </a:r>
            <a:r>
              <a:rPr dirty="0"/>
              <a:t> </a:t>
            </a:r>
            <a:r>
              <a:rPr dirty="0" err="1"/>
              <a:t>vaga</a:t>
            </a:r>
            <a:r>
              <a:rPr dirty="0"/>
              <a:t> </a:t>
            </a:r>
            <a:r>
              <a:rPr dirty="0" err="1"/>
              <a:t>que</a:t>
            </a:r>
            <a:r>
              <a:rPr dirty="0"/>
              <a:t> </a:t>
            </a:r>
            <a:r>
              <a:rPr dirty="0" err="1"/>
              <a:t>não</a:t>
            </a:r>
            <a:r>
              <a:rPr dirty="0"/>
              <a:t> </a:t>
            </a:r>
            <a:r>
              <a:rPr dirty="0" err="1"/>
              <a:t>exige</a:t>
            </a:r>
            <a:r>
              <a:rPr dirty="0"/>
              <a:t> diploma. As </a:t>
            </a:r>
            <a:r>
              <a:rPr dirty="0" err="1"/>
              <a:t>Fatecs</a:t>
            </a:r>
            <a:r>
              <a:rPr dirty="0"/>
              <a:t> da </a:t>
            </a:r>
            <a:r>
              <a:rPr dirty="0" err="1"/>
              <a:t>região</a:t>
            </a:r>
            <a:r>
              <a:rPr dirty="0"/>
              <a:t> </a:t>
            </a:r>
            <a:r>
              <a:rPr dirty="0" err="1"/>
              <a:t>formam</a:t>
            </a:r>
            <a:r>
              <a:rPr dirty="0"/>
              <a:t> </a:t>
            </a:r>
            <a:r>
              <a:rPr dirty="0" err="1"/>
              <a:t>principalmente</a:t>
            </a:r>
            <a:r>
              <a:rPr dirty="0"/>
              <a:t> </a:t>
            </a:r>
            <a:r>
              <a:rPr dirty="0" err="1"/>
              <a:t>em</a:t>
            </a:r>
            <a:r>
              <a:rPr dirty="0"/>
              <a:t> </a:t>
            </a:r>
            <a:r>
              <a:rPr dirty="0" err="1"/>
              <a:t>Negócios</a:t>
            </a:r>
            <a:r>
              <a:rPr dirty="0"/>
              <a:t> e </a:t>
            </a:r>
            <a:r>
              <a:rPr dirty="0" err="1"/>
              <a:t>em</a:t>
            </a:r>
            <a:r>
              <a:rPr dirty="0"/>
              <a:t> </a:t>
            </a:r>
            <a:r>
              <a:rPr dirty="0" err="1"/>
              <a:t>Computação</a:t>
            </a:r>
            <a:r>
              <a:rPr dirty="0"/>
              <a:t> e TIC, duas </a:t>
            </a:r>
            <a:r>
              <a:rPr dirty="0" err="1"/>
              <a:t>áreas</a:t>
            </a:r>
            <a:r>
              <a:rPr dirty="0"/>
              <a:t> com </a:t>
            </a:r>
            <a:r>
              <a:rPr dirty="0" err="1"/>
              <a:t>muitas</a:t>
            </a:r>
            <a:r>
              <a:rPr dirty="0"/>
              <a:t> </a:t>
            </a:r>
            <a:r>
              <a:rPr dirty="0" err="1"/>
              <a:t>vagas</a:t>
            </a:r>
            <a:r>
              <a:rPr dirty="0"/>
              <a:t>. </a:t>
            </a:r>
            <a:r>
              <a:rPr dirty="0" err="1"/>
              <a:t>Contudo</a:t>
            </a:r>
            <a:r>
              <a:rPr dirty="0"/>
              <a:t>, as </a:t>
            </a:r>
            <a:r>
              <a:rPr dirty="0" err="1"/>
              <a:t>contratações</a:t>
            </a:r>
            <a:r>
              <a:rPr dirty="0"/>
              <a:t> de </a:t>
            </a:r>
            <a:r>
              <a:rPr dirty="0" err="1"/>
              <a:t>formados</a:t>
            </a:r>
            <a:r>
              <a:rPr dirty="0"/>
              <a:t> </a:t>
            </a:r>
            <a:r>
              <a:rPr dirty="0" err="1"/>
              <a:t>em</a:t>
            </a:r>
            <a:r>
              <a:rPr dirty="0"/>
              <a:t> </a:t>
            </a:r>
            <a:r>
              <a:rPr dirty="0" err="1"/>
              <a:t>tecnologia</a:t>
            </a:r>
            <a:r>
              <a:rPr dirty="0"/>
              <a:t> </a:t>
            </a:r>
            <a:r>
              <a:rPr dirty="0" err="1"/>
              <a:t>caíram</a:t>
            </a:r>
            <a:r>
              <a:rPr dirty="0"/>
              <a:t> </a:t>
            </a:r>
            <a:r>
              <a:rPr dirty="0" err="1"/>
              <a:t>desde</a:t>
            </a:r>
            <a:r>
              <a:rPr dirty="0"/>
              <a:t> 2021 </a:t>
            </a:r>
            <a:r>
              <a:rPr dirty="0" err="1"/>
              <a:t>enquanto</a:t>
            </a:r>
            <a:r>
              <a:rPr dirty="0"/>
              <a:t> </a:t>
            </a:r>
            <a:r>
              <a:rPr dirty="0" err="1"/>
              <a:t>os</a:t>
            </a:r>
            <a:r>
              <a:rPr dirty="0"/>
              <a:t> </a:t>
            </a:r>
            <a:r>
              <a:rPr dirty="0" err="1"/>
              <a:t>concluintes</a:t>
            </a:r>
            <a:r>
              <a:rPr dirty="0"/>
              <a:t> </a:t>
            </a:r>
            <a:r>
              <a:rPr dirty="0" err="1"/>
              <a:t>cresceram</a:t>
            </a:r>
            <a:r>
              <a:rPr dirty="0"/>
              <a:t>, e </a:t>
            </a:r>
            <a:r>
              <a:rPr dirty="0" err="1"/>
              <a:t>em</a:t>
            </a:r>
            <a:r>
              <a:rPr dirty="0"/>
              <a:t> </a:t>
            </a:r>
            <a:r>
              <a:rPr dirty="0" err="1"/>
              <a:t>Negócios</a:t>
            </a:r>
            <a:r>
              <a:rPr dirty="0"/>
              <a:t> e </a:t>
            </a:r>
            <a:r>
              <a:rPr dirty="0" err="1"/>
              <a:t>direito</a:t>
            </a:r>
            <a:r>
              <a:rPr dirty="0"/>
              <a:t> as </a:t>
            </a:r>
            <a:r>
              <a:rPr dirty="0" err="1"/>
              <a:t>contratações</a:t>
            </a:r>
            <a:r>
              <a:rPr dirty="0"/>
              <a:t> </a:t>
            </a:r>
            <a:r>
              <a:rPr dirty="0" err="1"/>
              <a:t>dobraram</a:t>
            </a:r>
            <a:r>
              <a:rPr dirty="0"/>
              <a:t>, o </a:t>
            </a:r>
            <a:r>
              <a:rPr dirty="0" err="1"/>
              <a:t>que</a:t>
            </a:r>
            <a:r>
              <a:rPr dirty="0"/>
              <a:t> </a:t>
            </a:r>
            <a:r>
              <a:rPr dirty="0" err="1"/>
              <a:t>mostra</a:t>
            </a:r>
            <a:r>
              <a:rPr dirty="0"/>
              <a:t> </a:t>
            </a:r>
            <a:r>
              <a:rPr dirty="0" err="1"/>
              <a:t>que</a:t>
            </a:r>
            <a:r>
              <a:rPr dirty="0"/>
              <a:t> o mercado </a:t>
            </a:r>
            <a:r>
              <a:rPr dirty="0" err="1"/>
              <a:t>muda</a:t>
            </a:r>
            <a:r>
              <a:rPr dirty="0"/>
              <a:t> </a:t>
            </a:r>
            <a:r>
              <a:rPr dirty="0" err="1"/>
              <a:t>rápido</a:t>
            </a:r>
            <a:r>
              <a:rPr dirty="0"/>
              <a:t> e </a:t>
            </a:r>
            <a:r>
              <a:rPr dirty="0" err="1"/>
              <a:t>que</a:t>
            </a:r>
            <a:r>
              <a:rPr dirty="0"/>
              <a:t> a </a:t>
            </a:r>
            <a:r>
              <a:rPr dirty="0" err="1"/>
              <a:t>escolha</a:t>
            </a:r>
            <a:r>
              <a:rPr dirty="0"/>
              <a:t> do </a:t>
            </a:r>
            <a:r>
              <a:rPr dirty="0" err="1"/>
              <a:t>curso</a:t>
            </a:r>
            <a:r>
              <a:rPr dirty="0"/>
              <a:t> </a:t>
            </a:r>
            <a:r>
              <a:rPr dirty="0" err="1"/>
              <a:t>precisa</a:t>
            </a:r>
            <a:r>
              <a:rPr dirty="0"/>
              <a:t> ser </a:t>
            </a:r>
            <a:r>
              <a:rPr dirty="0" err="1"/>
              <a:t>acompanhada</a:t>
            </a:r>
            <a:r>
              <a:rPr dirty="0"/>
              <a:t> de </a:t>
            </a:r>
            <a:r>
              <a:rPr dirty="0" err="1"/>
              <a:t>informação</a:t>
            </a:r>
            <a:r>
              <a:rPr dirty="0"/>
              <a:t> </a:t>
            </a:r>
            <a:r>
              <a:rPr dirty="0" err="1"/>
              <a:t>atualizada</a:t>
            </a:r>
            <a:r>
              <a:rPr dirty="0"/>
              <a:t>. A taxa de </a:t>
            </a:r>
            <a:r>
              <a:rPr dirty="0" err="1"/>
              <a:t>conclusão</a:t>
            </a:r>
            <a:r>
              <a:rPr dirty="0"/>
              <a:t> </a:t>
            </a:r>
            <a:r>
              <a:rPr dirty="0" err="1"/>
              <a:t>em</a:t>
            </a:r>
            <a:r>
              <a:rPr dirty="0"/>
              <a:t> </a:t>
            </a:r>
            <a:r>
              <a:rPr dirty="0" err="1"/>
              <a:t>torno</a:t>
            </a:r>
            <a:r>
              <a:rPr dirty="0"/>
              <a:t> de 36% </a:t>
            </a:r>
            <a:r>
              <a:rPr dirty="0" err="1"/>
              <a:t>mostra</a:t>
            </a:r>
            <a:r>
              <a:rPr dirty="0"/>
              <a:t> </a:t>
            </a:r>
            <a:r>
              <a:rPr dirty="0" err="1"/>
              <a:t>que</a:t>
            </a:r>
            <a:r>
              <a:rPr dirty="0"/>
              <a:t> o </a:t>
            </a:r>
            <a:r>
              <a:rPr dirty="0" err="1"/>
              <a:t>gargalo</a:t>
            </a:r>
            <a:r>
              <a:rPr dirty="0"/>
              <a:t> da </a:t>
            </a:r>
            <a:r>
              <a:rPr dirty="0" err="1"/>
              <a:t>permanência</a:t>
            </a:r>
            <a:r>
              <a:rPr dirty="0"/>
              <a:t>, </a:t>
            </a:r>
            <a:r>
              <a:rPr dirty="0" err="1"/>
              <a:t>identificado</a:t>
            </a:r>
            <a:r>
              <a:rPr dirty="0"/>
              <a:t> no </a:t>
            </a:r>
            <a:r>
              <a:rPr dirty="0" err="1"/>
              <a:t>relato</a:t>
            </a:r>
            <a:r>
              <a:rPr dirty="0"/>
              <a:t> anterior, </a:t>
            </a:r>
            <a:r>
              <a:rPr dirty="0" err="1"/>
              <a:t>também</a:t>
            </a:r>
            <a:r>
              <a:rPr dirty="0"/>
              <a:t> </a:t>
            </a:r>
            <a:r>
              <a:rPr dirty="0" err="1"/>
              <a:t>atinge</a:t>
            </a:r>
            <a:r>
              <a:rPr dirty="0"/>
              <a:t> as </a:t>
            </a:r>
            <a:r>
              <a:rPr dirty="0" err="1"/>
              <a:t>Fatecs</a:t>
            </a:r>
            <a:r>
              <a:rPr dirty="0"/>
              <a:t> da </a:t>
            </a:r>
            <a:r>
              <a:rPr dirty="0" err="1"/>
              <a:t>região</a:t>
            </a:r>
            <a:r>
              <a:rPr dirty="0"/>
              <a:t>, e o mercado </a:t>
            </a:r>
            <a:r>
              <a:rPr dirty="0" err="1"/>
              <a:t>concentrado</a:t>
            </a:r>
            <a:r>
              <a:rPr dirty="0"/>
              <a:t> </a:t>
            </a:r>
            <a:r>
              <a:rPr dirty="0" err="1"/>
              <a:t>em</a:t>
            </a:r>
            <a:r>
              <a:rPr dirty="0"/>
              <a:t> </a:t>
            </a:r>
            <a:r>
              <a:rPr dirty="0" err="1"/>
              <a:t>Barueri</a:t>
            </a:r>
            <a:r>
              <a:rPr dirty="0"/>
              <a:t> </a:t>
            </a:r>
            <a:r>
              <a:rPr dirty="0" err="1"/>
              <a:t>mostra</a:t>
            </a:r>
            <a:r>
              <a:rPr dirty="0"/>
              <a:t> </a:t>
            </a:r>
            <a:r>
              <a:rPr dirty="0" err="1"/>
              <a:t>que</a:t>
            </a:r>
            <a:r>
              <a:rPr dirty="0"/>
              <a:t> o </a:t>
            </a:r>
            <a:r>
              <a:rPr dirty="0" err="1"/>
              <a:t>acesso</a:t>
            </a:r>
            <a:r>
              <a:rPr dirty="0"/>
              <a:t> </a:t>
            </a:r>
            <a:r>
              <a:rPr dirty="0" err="1"/>
              <a:t>ao</a:t>
            </a:r>
            <a:r>
              <a:rPr dirty="0"/>
              <a:t> </a:t>
            </a:r>
            <a:r>
              <a:rPr dirty="0" err="1"/>
              <a:t>emprego</a:t>
            </a:r>
            <a:r>
              <a:rPr dirty="0"/>
              <a:t> </a:t>
            </a:r>
            <a:r>
              <a:rPr dirty="0" err="1"/>
              <a:t>depende</a:t>
            </a:r>
            <a:r>
              <a:rPr dirty="0"/>
              <a:t> da </a:t>
            </a:r>
            <a:r>
              <a:rPr dirty="0" err="1"/>
              <a:t>mobilidade</a:t>
            </a:r>
            <a:r>
              <a:rPr dirty="0"/>
              <a:t> entre </a:t>
            </a:r>
            <a:r>
              <a:rPr dirty="0" err="1"/>
              <a:t>os</a:t>
            </a:r>
            <a:r>
              <a:rPr dirty="0"/>
              <a:t> </a:t>
            </a:r>
            <a:r>
              <a:rPr dirty="0" err="1"/>
              <a:t>municípios</a:t>
            </a:r>
            <a:r>
              <a:rPr dirty="0"/>
              <a:t>. Como </a:t>
            </a:r>
            <a:r>
              <a:rPr dirty="0" err="1"/>
              <a:t>retorno</a:t>
            </a:r>
            <a:r>
              <a:rPr dirty="0"/>
              <a:t> à </a:t>
            </a:r>
            <a:r>
              <a:rPr dirty="0" err="1"/>
              <a:t>sociedade</a:t>
            </a:r>
            <a:r>
              <a:rPr dirty="0"/>
              <a:t>, </a:t>
            </a:r>
            <a:r>
              <a:rPr dirty="0" err="1"/>
              <a:t>recomenda</a:t>
            </a:r>
            <a:r>
              <a:rPr dirty="0"/>
              <a:t>-se </a:t>
            </a:r>
            <a:r>
              <a:rPr dirty="0" err="1"/>
              <a:t>transformar</a:t>
            </a:r>
            <a:r>
              <a:rPr dirty="0"/>
              <a:t> esses </a:t>
            </a:r>
            <a:r>
              <a:rPr dirty="0" err="1"/>
              <a:t>resultados</a:t>
            </a:r>
            <a:r>
              <a:rPr dirty="0"/>
              <a:t> </a:t>
            </a:r>
            <a:r>
              <a:rPr dirty="0" err="1"/>
              <a:t>em</a:t>
            </a:r>
            <a:r>
              <a:rPr dirty="0"/>
              <a:t> um </a:t>
            </a:r>
            <a:r>
              <a:rPr dirty="0" err="1"/>
              <a:t>guia</a:t>
            </a:r>
            <a:r>
              <a:rPr dirty="0"/>
              <a:t> de </a:t>
            </a:r>
            <a:r>
              <a:rPr dirty="0" err="1"/>
              <a:t>cursos</a:t>
            </a:r>
            <a:r>
              <a:rPr dirty="0"/>
              <a:t> com mercado </a:t>
            </a:r>
            <a:r>
              <a:rPr dirty="0" err="1"/>
              <a:t>na</a:t>
            </a:r>
            <a:r>
              <a:rPr dirty="0"/>
              <a:t> </a:t>
            </a:r>
            <a:r>
              <a:rPr dirty="0" err="1"/>
              <a:t>região</a:t>
            </a:r>
            <a:r>
              <a:rPr dirty="0"/>
              <a:t> para as </a:t>
            </a:r>
            <a:r>
              <a:rPr dirty="0" err="1"/>
              <a:t>escolas</a:t>
            </a:r>
            <a:r>
              <a:rPr dirty="0"/>
              <a:t> </a:t>
            </a:r>
            <a:r>
              <a:rPr dirty="0" err="1"/>
              <a:t>estaduais</a:t>
            </a:r>
            <a:r>
              <a:rPr dirty="0"/>
              <a:t> e para a </a:t>
            </a:r>
            <a:r>
              <a:rPr dirty="0" err="1"/>
              <a:t>coordenação</a:t>
            </a:r>
            <a:r>
              <a:rPr dirty="0"/>
              <a:t> da </a:t>
            </a:r>
            <a:r>
              <a:rPr dirty="0" err="1"/>
              <a:t>Fatec</a:t>
            </a:r>
            <a:r>
              <a:rPr dirty="0"/>
              <a:t>, junto com </a:t>
            </a:r>
            <a:r>
              <a:rPr dirty="0" err="1"/>
              <a:t>ações</a:t>
            </a:r>
            <a:r>
              <a:rPr dirty="0"/>
              <a:t> de </a:t>
            </a:r>
            <a:r>
              <a:rPr dirty="0" err="1"/>
              <a:t>orientação</a:t>
            </a:r>
            <a:r>
              <a:rPr dirty="0"/>
              <a:t> de </a:t>
            </a:r>
            <a:r>
              <a:rPr dirty="0" err="1"/>
              <a:t>carreira</a:t>
            </a:r>
            <a:r>
              <a:rPr dirty="0"/>
              <a:t>, </a:t>
            </a:r>
            <a:r>
              <a:rPr dirty="0" err="1"/>
              <a:t>apoio</a:t>
            </a:r>
            <a:r>
              <a:rPr dirty="0"/>
              <a:t> à </a:t>
            </a:r>
            <a:r>
              <a:rPr dirty="0" err="1"/>
              <a:t>permanência</a:t>
            </a:r>
            <a:r>
              <a:rPr dirty="0"/>
              <a:t> e </a:t>
            </a:r>
            <a:r>
              <a:rPr dirty="0" err="1"/>
              <a:t>transição</a:t>
            </a:r>
            <a:r>
              <a:rPr dirty="0"/>
              <a:t> </a:t>
            </a:r>
            <a:r>
              <a:rPr dirty="0" err="1"/>
              <a:t>estudo</a:t>
            </a:r>
            <a:r>
              <a:rPr dirty="0"/>
              <a:t>–</a:t>
            </a:r>
            <a:r>
              <a:rPr dirty="0" err="1"/>
              <a:t>trabalho</a:t>
            </a:r>
            <a:r>
              <a:rPr dirty="0"/>
              <a:t> (ODS 8), </a:t>
            </a:r>
            <a:r>
              <a:rPr dirty="0" err="1"/>
              <a:t>dando</a:t>
            </a:r>
            <a:r>
              <a:rPr dirty="0"/>
              <a:t> </a:t>
            </a:r>
            <a:r>
              <a:rPr dirty="0" err="1"/>
              <a:t>continuidade</a:t>
            </a:r>
            <a:r>
              <a:rPr dirty="0"/>
              <a:t> </a:t>
            </a:r>
            <a:r>
              <a:rPr dirty="0" err="1"/>
              <a:t>às</a:t>
            </a:r>
            <a:r>
              <a:rPr dirty="0"/>
              <a:t> </a:t>
            </a:r>
            <a:r>
              <a:rPr dirty="0" err="1"/>
              <a:t>recomendações</a:t>
            </a:r>
            <a:r>
              <a:rPr dirty="0"/>
              <a:t> do </a:t>
            </a:r>
            <a:r>
              <a:rPr dirty="0" err="1"/>
              <a:t>Projeto</a:t>
            </a:r>
            <a:r>
              <a:rPr dirty="0"/>
              <a:t> </a:t>
            </a:r>
            <a:r>
              <a:rPr dirty="0" err="1"/>
              <a:t>Integrador</a:t>
            </a:r>
            <a:r>
              <a:rPr dirty="0"/>
              <a:t> anterior.</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Pontos para validar com o professor: (1) a proposta só com dados públicos, sem visita de campo, atende ao retorno social? (2) relato técnico ou artigo científico? (3) o recorte de 8 municípios é adequado? (4) incluir uma entrevista online curta como contato com a comunidade?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4" name="Freeform 11">
            <a:extLst>
              <a:ext uri="{FF2B5EF4-FFF2-40B4-BE49-F238E27FC236}">
                <a16:creationId xmlns:a16="http://schemas.microsoft.com/office/drawing/2014/main" id="{CA828E0E-BD47-4230-1054-2B22C2ED952A}"/>
              </a:ext>
            </a:extLst>
          </p:cNvPr>
          <p:cNvSpPr/>
          <p:nvPr userDrawn="1"/>
        </p:nvSpPr>
        <p:spPr>
          <a:xfrm>
            <a:off x="5389" y="4304"/>
            <a:ext cx="826014" cy="10282696"/>
          </a:xfrm>
          <a:custGeom>
            <a:avLst/>
            <a:gdLst/>
            <a:ahLst/>
            <a:cxnLst/>
            <a:rect l="l" t="t" r="r" b="b"/>
            <a:pathLst>
              <a:path w="1997418" h="646871">
                <a:moveTo>
                  <a:pt x="0" y="0"/>
                </a:moveTo>
                <a:lnTo>
                  <a:pt x="1997418" y="0"/>
                </a:lnTo>
                <a:lnTo>
                  <a:pt x="1997418" y="646871"/>
                </a:lnTo>
                <a:lnTo>
                  <a:pt x="0" y="646871"/>
                </a:lnTo>
                <a:close/>
              </a:path>
            </a:pathLst>
          </a:custGeom>
          <a:solidFill>
            <a:schemeClr val="tx1">
              <a:lumMod val="65000"/>
              <a:lumOff val="35000"/>
            </a:schemeClr>
          </a:solidFill>
        </p:spPr>
        <p:txBody>
          <a:bodyPr/>
          <a:lstStyle/>
          <a:p>
            <a:endParaRPr lang="pt-BR"/>
          </a:p>
        </p:txBody>
      </p:sp>
      <p:sp>
        <p:nvSpPr>
          <p:cNvPr id="16" name="Freeform 11">
            <a:extLst>
              <a:ext uri="{FF2B5EF4-FFF2-40B4-BE49-F238E27FC236}">
                <a16:creationId xmlns:a16="http://schemas.microsoft.com/office/drawing/2014/main" id="{FCF7147D-171C-2A4F-0E57-5B967023CF14}"/>
              </a:ext>
            </a:extLst>
          </p:cNvPr>
          <p:cNvSpPr/>
          <p:nvPr/>
        </p:nvSpPr>
        <p:spPr>
          <a:xfrm>
            <a:off x="10191139" y="4200123"/>
            <a:ext cx="8096861" cy="3534171"/>
          </a:xfrm>
          <a:custGeom>
            <a:avLst/>
            <a:gdLst/>
            <a:ahLst/>
            <a:cxnLst/>
            <a:rect l="l" t="t" r="r" b="b"/>
            <a:pathLst>
              <a:path w="1997418" h="646871">
                <a:moveTo>
                  <a:pt x="0" y="0"/>
                </a:moveTo>
                <a:lnTo>
                  <a:pt x="1997418" y="0"/>
                </a:lnTo>
                <a:lnTo>
                  <a:pt x="1997418" y="646871"/>
                </a:lnTo>
                <a:lnTo>
                  <a:pt x="0" y="646871"/>
                </a:lnTo>
                <a:close/>
              </a:path>
            </a:pathLst>
          </a:custGeom>
          <a:solidFill>
            <a:schemeClr val="bg1">
              <a:lumMod val="50000"/>
            </a:schemeClr>
          </a:solidFill>
        </p:spPr>
        <p:txBody>
          <a:bodyPr/>
          <a:lstStyle/>
          <a:p>
            <a:endParaRPr lang="pt-BR"/>
          </a:p>
        </p:txBody>
      </p:sp>
      <p:grpSp>
        <p:nvGrpSpPr>
          <p:cNvPr id="12" name="Group 7">
            <a:extLst>
              <a:ext uri="{FF2B5EF4-FFF2-40B4-BE49-F238E27FC236}">
                <a16:creationId xmlns:a16="http://schemas.microsoft.com/office/drawing/2014/main" id="{A4F78A55-67FA-46AD-B8A4-E3CBDB0849FE}"/>
              </a:ext>
            </a:extLst>
          </p:cNvPr>
          <p:cNvGrpSpPr/>
          <p:nvPr userDrawn="1"/>
        </p:nvGrpSpPr>
        <p:grpSpPr>
          <a:xfrm>
            <a:off x="10230461" y="3344253"/>
            <a:ext cx="8057539" cy="542213"/>
            <a:chOff x="0" y="0"/>
            <a:chExt cx="1997418" cy="142805"/>
          </a:xfrm>
        </p:grpSpPr>
        <p:sp>
          <p:nvSpPr>
            <p:cNvPr id="13" name="Freeform 8">
              <a:extLst>
                <a:ext uri="{FF2B5EF4-FFF2-40B4-BE49-F238E27FC236}">
                  <a16:creationId xmlns:a16="http://schemas.microsoft.com/office/drawing/2014/main" id="{8D895707-9975-030F-2C4F-65A3EF0A7625}"/>
                </a:ext>
              </a:extLst>
            </p:cNvPr>
            <p:cNvSpPr/>
            <p:nvPr/>
          </p:nvSpPr>
          <p:spPr>
            <a:xfrm>
              <a:off x="0" y="0"/>
              <a:ext cx="1997418" cy="142805"/>
            </a:xfrm>
            <a:custGeom>
              <a:avLst/>
              <a:gdLst/>
              <a:ahLst/>
              <a:cxnLst/>
              <a:rect l="l" t="t" r="r" b="b"/>
              <a:pathLst>
                <a:path w="1997418" h="142805">
                  <a:moveTo>
                    <a:pt x="0" y="0"/>
                  </a:moveTo>
                  <a:lnTo>
                    <a:pt x="1997418" y="0"/>
                  </a:lnTo>
                  <a:lnTo>
                    <a:pt x="1997418" y="142805"/>
                  </a:lnTo>
                  <a:lnTo>
                    <a:pt x="0" y="142805"/>
                  </a:lnTo>
                  <a:close/>
                </a:path>
              </a:pathLst>
            </a:custGeom>
            <a:solidFill>
              <a:srgbClr val="BFBFBF"/>
            </a:solidFill>
          </p:spPr>
          <p:txBody>
            <a:bodyPr/>
            <a:lstStyle/>
            <a:p>
              <a:endParaRPr lang="pt-BR"/>
            </a:p>
          </p:txBody>
        </p:sp>
        <p:sp>
          <p:nvSpPr>
            <p:cNvPr id="14" name="TextBox 9">
              <a:extLst>
                <a:ext uri="{FF2B5EF4-FFF2-40B4-BE49-F238E27FC236}">
                  <a16:creationId xmlns:a16="http://schemas.microsoft.com/office/drawing/2014/main" id="{BCC5E8BF-0150-87CA-C9CD-670043616AA6}"/>
                </a:ext>
              </a:extLst>
            </p:cNvPr>
            <p:cNvSpPr txBox="1"/>
            <p:nvPr/>
          </p:nvSpPr>
          <p:spPr>
            <a:xfrm>
              <a:off x="0" y="-47625"/>
              <a:ext cx="1997418" cy="190430"/>
            </a:xfrm>
            <a:prstGeom prst="rect">
              <a:avLst/>
            </a:prstGeom>
          </p:spPr>
          <p:txBody>
            <a:bodyPr lIns="50800" tIns="50800" rIns="50800" bIns="50800" rtlCol="0" anchor="ctr"/>
            <a:lstStyle/>
            <a:p>
              <a:pPr algn="ctr">
                <a:lnSpc>
                  <a:spcPts val="3295"/>
                </a:lnSpc>
              </a:pPr>
              <a:endParaRPr/>
            </a:p>
          </p:txBody>
        </p:sp>
      </p:grpSp>
      <p:sp>
        <p:nvSpPr>
          <p:cNvPr id="24" name="Retângulo 23">
            <a:extLst>
              <a:ext uri="{FF2B5EF4-FFF2-40B4-BE49-F238E27FC236}">
                <a16:creationId xmlns:a16="http://schemas.microsoft.com/office/drawing/2014/main" id="{22D2DCD8-832E-DBED-E6B6-A8335F358007}"/>
              </a:ext>
            </a:extLst>
          </p:cNvPr>
          <p:cNvSpPr/>
          <p:nvPr userDrawn="1"/>
        </p:nvSpPr>
        <p:spPr>
          <a:xfrm>
            <a:off x="457200" y="876300"/>
            <a:ext cx="9773261" cy="8151695"/>
          </a:xfrm>
          <a:prstGeom prst="rect">
            <a:avLst/>
          </a:prstGeom>
          <a:ln w="57150">
            <a:gradFill>
              <a:gsLst>
                <a:gs pos="0">
                  <a:schemeClr val="accent1">
                    <a:lumMod val="5000"/>
                    <a:lumOff val="95000"/>
                  </a:schemeClr>
                </a:gs>
                <a:gs pos="74000">
                  <a:schemeClr val="bg1">
                    <a:lumMod val="95000"/>
                  </a:schemeClr>
                </a:gs>
                <a:gs pos="83000">
                  <a:schemeClr val="bg1">
                    <a:lumMod val="75000"/>
                  </a:schemeClr>
                </a:gs>
                <a:gs pos="100000">
                  <a:schemeClr val="bg1">
                    <a:lumMod val="50000"/>
                  </a:schemeClr>
                </a:gs>
              </a:gsLst>
              <a:lin ang="5400000" scaled="1"/>
            </a:gra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pt-B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grpSp>
        <p:nvGrpSpPr>
          <p:cNvPr id="9" name="Group 4">
            <a:extLst>
              <a:ext uri="{FF2B5EF4-FFF2-40B4-BE49-F238E27FC236}">
                <a16:creationId xmlns:a16="http://schemas.microsoft.com/office/drawing/2014/main" id="{16BCD1D1-522E-EEC9-4AC6-2AFE722F114F}"/>
              </a:ext>
            </a:extLst>
          </p:cNvPr>
          <p:cNvGrpSpPr/>
          <p:nvPr userDrawn="1"/>
        </p:nvGrpSpPr>
        <p:grpSpPr>
          <a:xfrm>
            <a:off x="17332088" y="1396378"/>
            <a:ext cx="574912" cy="574912"/>
            <a:chOff x="0" y="0"/>
            <a:chExt cx="812800" cy="812800"/>
          </a:xfrm>
        </p:grpSpPr>
        <p:sp>
          <p:nvSpPr>
            <p:cNvPr id="10" name="Freeform 5">
              <a:extLst>
                <a:ext uri="{FF2B5EF4-FFF2-40B4-BE49-F238E27FC236}">
                  <a16:creationId xmlns:a16="http://schemas.microsoft.com/office/drawing/2014/main" id="{0A605380-2099-B60E-0820-3C8A319E6E2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6">
              <a:extLst>
                <a:ext uri="{FF2B5EF4-FFF2-40B4-BE49-F238E27FC236}">
                  <a16:creationId xmlns:a16="http://schemas.microsoft.com/office/drawing/2014/main" id="{066BCD79-43F7-8265-245B-4ECD527F73C4}"/>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pic>
        <p:nvPicPr>
          <p:cNvPr id="22" name="Imagem 21">
            <a:extLst>
              <a:ext uri="{FF2B5EF4-FFF2-40B4-BE49-F238E27FC236}">
                <a16:creationId xmlns:a16="http://schemas.microsoft.com/office/drawing/2014/main" id="{C889B8FC-F1F7-2FF3-32C1-3B52057C1DAF}"/>
              </a:ext>
            </a:extLst>
          </p:cNvPr>
          <p:cNvPicPr>
            <a:picLocks noChangeAspect="1"/>
          </p:cNvPicPr>
          <p:nvPr userDrawn="1"/>
        </p:nvPicPr>
        <p:blipFill>
          <a:blip r:embed="rId2">
            <a:extLst>
              <a:ext uri="{28A0092B-C50C-407E-A947-70E740481C1C}">
                <a14:useLocalDpi xmlns:a14="http://schemas.microsoft.com/office/drawing/2010/main" val="0"/>
              </a:ext>
            </a:extLst>
          </a:blip>
          <a:srcRect l="3809" t="2298" b="20754"/>
          <a:stretch>
            <a:fillRect/>
          </a:stretch>
        </p:blipFill>
        <p:spPr>
          <a:xfrm>
            <a:off x="533400" y="1104900"/>
            <a:ext cx="9620861" cy="7696200"/>
          </a:xfrm>
          <a:prstGeom prst="rect">
            <a:avLst/>
          </a:prstGeom>
        </p:spPr>
      </p:pic>
      <p:sp>
        <p:nvSpPr>
          <p:cNvPr id="18" name="TextBox 13">
            <a:extLst>
              <a:ext uri="{FF2B5EF4-FFF2-40B4-BE49-F238E27FC236}">
                <a16:creationId xmlns:a16="http://schemas.microsoft.com/office/drawing/2014/main" id="{DAD8163B-932B-ADD0-4342-E58100FB35C8}"/>
              </a:ext>
            </a:extLst>
          </p:cNvPr>
          <p:cNvSpPr txBox="1"/>
          <p:nvPr userDrawn="1"/>
        </p:nvSpPr>
        <p:spPr>
          <a:xfrm>
            <a:off x="10328859" y="3445829"/>
            <a:ext cx="5977941" cy="436017"/>
          </a:xfrm>
          <a:prstGeom prst="rect">
            <a:avLst/>
          </a:prstGeom>
        </p:spPr>
        <p:txBody>
          <a:bodyPr wrap="square" lIns="0" tIns="0" rIns="0" bIns="0" rtlCol="0" anchor="t">
            <a:spAutoFit/>
          </a:bodyPr>
          <a:lstStyle/>
          <a:p>
            <a:pPr algn="l">
              <a:lnSpc>
                <a:spcPts val="3352"/>
              </a:lnSpc>
            </a:pPr>
            <a:r>
              <a:rPr lang="en-US" sz="3103" spc="1924" dirty="0">
                <a:solidFill>
                  <a:srgbClr val="000000"/>
                </a:solidFill>
                <a:latin typeface="Montaser Arabic Light"/>
                <a:ea typeface="Montaser Arabic Light"/>
                <a:cs typeface="Montaser Arabic Light"/>
                <a:sym typeface="Montaser Arabic Light"/>
              </a:rPr>
              <a:t>PROJETO</a:t>
            </a:r>
          </a:p>
        </p:txBody>
      </p:sp>
      <p:sp>
        <p:nvSpPr>
          <p:cNvPr id="25" name="AutoShape 3">
            <a:extLst>
              <a:ext uri="{FF2B5EF4-FFF2-40B4-BE49-F238E27FC236}">
                <a16:creationId xmlns:a16="http://schemas.microsoft.com/office/drawing/2014/main" id="{A3CCA323-A143-337C-544E-BCF16C82E935}"/>
              </a:ext>
            </a:extLst>
          </p:cNvPr>
          <p:cNvSpPr/>
          <p:nvPr userDrawn="1"/>
        </p:nvSpPr>
        <p:spPr>
          <a:xfrm>
            <a:off x="8581200" y="1712337"/>
            <a:ext cx="8640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26" name="Imagem 25">
            <a:extLst>
              <a:ext uri="{FF2B5EF4-FFF2-40B4-BE49-F238E27FC236}">
                <a16:creationId xmlns:a16="http://schemas.microsoft.com/office/drawing/2014/main" id="{3C14FD09-C576-0A01-02E0-FB1D25F115F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963400" y="754571"/>
            <a:ext cx="1580129" cy="992351"/>
          </a:xfrm>
          <a:prstGeom prst="rect">
            <a:avLst/>
          </a:prstGeom>
        </p:spPr>
      </p:pic>
      <p:pic>
        <p:nvPicPr>
          <p:cNvPr id="27" name="Imagem 26">
            <a:extLst>
              <a:ext uri="{FF2B5EF4-FFF2-40B4-BE49-F238E27FC236}">
                <a16:creationId xmlns:a16="http://schemas.microsoft.com/office/drawing/2014/main" id="{A53D35A9-C1DD-F70B-B15B-AF0E34FC52A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3892292" y="788744"/>
            <a:ext cx="1175237" cy="796128"/>
          </a:xfrm>
          <a:prstGeom prst="rect">
            <a:avLst/>
          </a:prstGeom>
        </p:spPr>
      </p:pic>
      <p:pic>
        <p:nvPicPr>
          <p:cNvPr id="28" name="Picture 2" descr="FECOEP - Assista à primeira Reunião Ordinária do exercício de 2020">
            <a:extLst>
              <a:ext uri="{FF2B5EF4-FFF2-40B4-BE49-F238E27FC236}">
                <a16:creationId xmlns:a16="http://schemas.microsoft.com/office/drawing/2014/main" id="{DFDFFBAF-5EEB-BA2A-370A-CC9FA050A9EB}"/>
              </a:ext>
            </a:extLst>
          </p:cNvPr>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5392400" y="571500"/>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grpSp>
        <p:nvGrpSpPr>
          <p:cNvPr id="14" name="Group 4">
            <a:extLst>
              <a:ext uri="{FF2B5EF4-FFF2-40B4-BE49-F238E27FC236}">
                <a16:creationId xmlns:a16="http://schemas.microsoft.com/office/drawing/2014/main" id="{408AB8B7-6278-E7BB-0F3A-0846AF94D821}"/>
              </a:ext>
            </a:extLst>
          </p:cNvPr>
          <p:cNvGrpSpPr/>
          <p:nvPr userDrawn="1"/>
        </p:nvGrpSpPr>
        <p:grpSpPr>
          <a:xfrm>
            <a:off x="17332088" y="9399541"/>
            <a:ext cx="574912" cy="574912"/>
            <a:chOff x="0" y="0"/>
            <a:chExt cx="812800" cy="812800"/>
          </a:xfrm>
        </p:grpSpPr>
        <p:sp>
          <p:nvSpPr>
            <p:cNvPr id="15" name="Freeform 5">
              <a:extLst>
                <a:ext uri="{FF2B5EF4-FFF2-40B4-BE49-F238E27FC236}">
                  <a16:creationId xmlns:a16="http://schemas.microsoft.com/office/drawing/2014/main" id="{7807DB4B-FF1C-E789-67B6-1DCFB08B681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6" name="TextBox 6">
              <a:extLst>
                <a:ext uri="{FF2B5EF4-FFF2-40B4-BE49-F238E27FC236}">
                  <a16:creationId xmlns:a16="http://schemas.microsoft.com/office/drawing/2014/main" id="{A53B5835-15AA-1664-184D-A685A621F197}"/>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7" name="AutoShape 3">
            <a:extLst>
              <a:ext uri="{FF2B5EF4-FFF2-40B4-BE49-F238E27FC236}">
                <a16:creationId xmlns:a16="http://schemas.microsoft.com/office/drawing/2014/main" id="{62633D84-3043-7EAF-91B2-F3FB7FFEE6D8}"/>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8" name="Imagem 17">
            <a:extLst>
              <a:ext uri="{FF2B5EF4-FFF2-40B4-BE49-F238E27FC236}">
                <a16:creationId xmlns:a16="http://schemas.microsoft.com/office/drawing/2014/main" id="{2D612930-784E-5D4F-676F-8681E752F61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9" name="Imagem 18">
            <a:extLst>
              <a:ext uri="{FF2B5EF4-FFF2-40B4-BE49-F238E27FC236}">
                <a16:creationId xmlns:a16="http://schemas.microsoft.com/office/drawing/2014/main" id="{D9E668AB-E4DA-3EB2-FF34-D72B13DB719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20" name="Picture 2" descr="FECOEP - Assista à primeira Reunião Ordinária do exercício de 2020">
            <a:extLst>
              <a:ext uri="{FF2B5EF4-FFF2-40B4-BE49-F238E27FC236}">
                <a16:creationId xmlns:a16="http://schemas.microsoft.com/office/drawing/2014/main" id="{4C4B1373-599C-BC00-37BC-4F4D80F8F37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grpSp>
        <p:nvGrpSpPr>
          <p:cNvPr id="7" name="Group 4">
            <a:extLst>
              <a:ext uri="{FF2B5EF4-FFF2-40B4-BE49-F238E27FC236}">
                <a16:creationId xmlns:a16="http://schemas.microsoft.com/office/drawing/2014/main" id="{2D442BA8-C8F4-2141-AB53-1FF0C7C1D4EB}"/>
              </a:ext>
            </a:extLst>
          </p:cNvPr>
          <p:cNvGrpSpPr/>
          <p:nvPr userDrawn="1"/>
        </p:nvGrpSpPr>
        <p:grpSpPr>
          <a:xfrm>
            <a:off x="17332088" y="9399541"/>
            <a:ext cx="574912" cy="574912"/>
            <a:chOff x="0" y="0"/>
            <a:chExt cx="812800" cy="812800"/>
          </a:xfrm>
        </p:grpSpPr>
        <p:sp>
          <p:nvSpPr>
            <p:cNvPr id="8" name="Freeform 5">
              <a:extLst>
                <a:ext uri="{FF2B5EF4-FFF2-40B4-BE49-F238E27FC236}">
                  <a16:creationId xmlns:a16="http://schemas.microsoft.com/office/drawing/2014/main" id="{27AF2FF4-964D-5FCD-32C8-2F456DAE0F0B}"/>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9" name="TextBox 6">
              <a:extLst>
                <a:ext uri="{FF2B5EF4-FFF2-40B4-BE49-F238E27FC236}">
                  <a16:creationId xmlns:a16="http://schemas.microsoft.com/office/drawing/2014/main" id="{994B3381-E85D-C12B-4666-EB2CC12D8B73}"/>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0" name="AutoShape 3">
            <a:extLst>
              <a:ext uri="{FF2B5EF4-FFF2-40B4-BE49-F238E27FC236}">
                <a16:creationId xmlns:a16="http://schemas.microsoft.com/office/drawing/2014/main" id="{5F926657-A124-C747-8B1D-5A7933AE6B88}"/>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1" name="Imagem 10">
            <a:extLst>
              <a:ext uri="{FF2B5EF4-FFF2-40B4-BE49-F238E27FC236}">
                <a16:creationId xmlns:a16="http://schemas.microsoft.com/office/drawing/2014/main" id="{A791E481-5D13-7571-079F-99B705F111A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2" name="Imagem 11">
            <a:extLst>
              <a:ext uri="{FF2B5EF4-FFF2-40B4-BE49-F238E27FC236}">
                <a16:creationId xmlns:a16="http://schemas.microsoft.com/office/drawing/2014/main" id="{085CC9C6-F10F-DBDA-63B2-E623FC59342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3" name="Picture 2" descr="FECOEP - Assista à primeira Reunião Ordinária do exercício de 2020">
            <a:extLst>
              <a:ext uri="{FF2B5EF4-FFF2-40B4-BE49-F238E27FC236}">
                <a16:creationId xmlns:a16="http://schemas.microsoft.com/office/drawing/2014/main" id="{21B630F4-A9DE-F53F-378A-E88EB6F0945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grpSp>
        <p:nvGrpSpPr>
          <p:cNvPr id="8" name="Group 4">
            <a:extLst>
              <a:ext uri="{FF2B5EF4-FFF2-40B4-BE49-F238E27FC236}">
                <a16:creationId xmlns:a16="http://schemas.microsoft.com/office/drawing/2014/main" id="{1D86AA44-AE13-E305-6305-66174414DB66}"/>
              </a:ext>
            </a:extLst>
          </p:cNvPr>
          <p:cNvGrpSpPr/>
          <p:nvPr userDrawn="1"/>
        </p:nvGrpSpPr>
        <p:grpSpPr>
          <a:xfrm>
            <a:off x="17332088" y="9399541"/>
            <a:ext cx="574912" cy="574912"/>
            <a:chOff x="0" y="0"/>
            <a:chExt cx="812800" cy="812800"/>
          </a:xfrm>
        </p:grpSpPr>
        <p:sp>
          <p:nvSpPr>
            <p:cNvPr id="9" name="Freeform 5">
              <a:extLst>
                <a:ext uri="{FF2B5EF4-FFF2-40B4-BE49-F238E27FC236}">
                  <a16:creationId xmlns:a16="http://schemas.microsoft.com/office/drawing/2014/main" id="{CD157CBE-2395-C9F6-C425-A34B27C4B1C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0" name="TextBox 6">
              <a:extLst>
                <a:ext uri="{FF2B5EF4-FFF2-40B4-BE49-F238E27FC236}">
                  <a16:creationId xmlns:a16="http://schemas.microsoft.com/office/drawing/2014/main" id="{B505C6CC-BB3C-B5F5-8920-4CD13AC171DC}"/>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1" name="AutoShape 3">
            <a:extLst>
              <a:ext uri="{FF2B5EF4-FFF2-40B4-BE49-F238E27FC236}">
                <a16:creationId xmlns:a16="http://schemas.microsoft.com/office/drawing/2014/main" id="{3249B7E8-FB83-47C2-8847-2E0861EF369F}"/>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2" name="Imagem 11">
            <a:extLst>
              <a:ext uri="{FF2B5EF4-FFF2-40B4-BE49-F238E27FC236}">
                <a16:creationId xmlns:a16="http://schemas.microsoft.com/office/drawing/2014/main" id="{B91E9852-0BD7-3627-849F-AA68CD49EC2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3" name="Imagem 12">
            <a:extLst>
              <a:ext uri="{FF2B5EF4-FFF2-40B4-BE49-F238E27FC236}">
                <a16:creationId xmlns:a16="http://schemas.microsoft.com/office/drawing/2014/main" id="{254FB718-4951-7A33-5C98-02000F33B50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4" name="Picture 2" descr="FECOEP - Assista à primeira Reunião Ordinária do exercício de 2020">
            <a:extLst>
              <a:ext uri="{FF2B5EF4-FFF2-40B4-BE49-F238E27FC236}">
                <a16:creationId xmlns:a16="http://schemas.microsoft.com/office/drawing/2014/main" id="{D8AD4C55-25BF-65F6-E24D-ED69C32964E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grpSp>
        <p:nvGrpSpPr>
          <p:cNvPr id="10" name="Group 4">
            <a:extLst>
              <a:ext uri="{FF2B5EF4-FFF2-40B4-BE49-F238E27FC236}">
                <a16:creationId xmlns:a16="http://schemas.microsoft.com/office/drawing/2014/main" id="{FCB2D406-1800-2622-E494-8C362DE0BE2C}"/>
              </a:ext>
            </a:extLst>
          </p:cNvPr>
          <p:cNvGrpSpPr/>
          <p:nvPr userDrawn="1"/>
        </p:nvGrpSpPr>
        <p:grpSpPr>
          <a:xfrm>
            <a:off x="17332088" y="9399541"/>
            <a:ext cx="574912" cy="574912"/>
            <a:chOff x="0" y="0"/>
            <a:chExt cx="812800" cy="812800"/>
          </a:xfrm>
        </p:grpSpPr>
        <p:sp>
          <p:nvSpPr>
            <p:cNvPr id="11" name="Freeform 5">
              <a:extLst>
                <a:ext uri="{FF2B5EF4-FFF2-40B4-BE49-F238E27FC236}">
                  <a16:creationId xmlns:a16="http://schemas.microsoft.com/office/drawing/2014/main" id="{811E7295-147E-3C16-74EF-C58A5D8AD2B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2" name="TextBox 6">
              <a:extLst>
                <a:ext uri="{FF2B5EF4-FFF2-40B4-BE49-F238E27FC236}">
                  <a16:creationId xmlns:a16="http://schemas.microsoft.com/office/drawing/2014/main" id="{B2167BDD-E5AC-74F7-794A-8F80AF20A05C}"/>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3" name="AutoShape 3">
            <a:extLst>
              <a:ext uri="{FF2B5EF4-FFF2-40B4-BE49-F238E27FC236}">
                <a16:creationId xmlns:a16="http://schemas.microsoft.com/office/drawing/2014/main" id="{EBEFCEAC-6C9D-C1B7-73EC-13CA2E1ED176}"/>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4" name="Imagem 13">
            <a:extLst>
              <a:ext uri="{FF2B5EF4-FFF2-40B4-BE49-F238E27FC236}">
                <a16:creationId xmlns:a16="http://schemas.microsoft.com/office/drawing/2014/main" id="{F25E2090-A4D9-BB65-7FF8-7B854A33FA8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5" name="Imagem 14">
            <a:extLst>
              <a:ext uri="{FF2B5EF4-FFF2-40B4-BE49-F238E27FC236}">
                <a16:creationId xmlns:a16="http://schemas.microsoft.com/office/drawing/2014/main" id="{B99666C9-520F-140D-6E3C-4BC5A642331C}"/>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6" name="Picture 2" descr="FECOEP - Assista à primeira Reunião Ordinária do exercício de 2020">
            <a:extLst>
              <a:ext uri="{FF2B5EF4-FFF2-40B4-BE49-F238E27FC236}">
                <a16:creationId xmlns:a16="http://schemas.microsoft.com/office/drawing/2014/main" id="{A78F8571-26CC-E4B2-A948-D38B4A7DA6E9}"/>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grpSp>
        <p:nvGrpSpPr>
          <p:cNvPr id="6" name="Group 4">
            <a:extLst>
              <a:ext uri="{FF2B5EF4-FFF2-40B4-BE49-F238E27FC236}">
                <a16:creationId xmlns:a16="http://schemas.microsoft.com/office/drawing/2014/main" id="{6D10B1E7-0C5C-E67E-29AD-C9D4ED5022B0}"/>
              </a:ext>
            </a:extLst>
          </p:cNvPr>
          <p:cNvGrpSpPr/>
          <p:nvPr userDrawn="1"/>
        </p:nvGrpSpPr>
        <p:grpSpPr>
          <a:xfrm>
            <a:off x="17332088" y="9399541"/>
            <a:ext cx="574912" cy="574912"/>
            <a:chOff x="0" y="0"/>
            <a:chExt cx="812800" cy="812800"/>
          </a:xfrm>
        </p:grpSpPr>
        <p:sp>
          <p:nvSpPr>
            <p:cNvPr id="7" name="Freeform 5">
              <a:extLst>
                <a:ext uri="{FF2B5EF4-FFF2-40B4-BE49-F238E27FC236}">
                  <a16:creationId xmlns:a16="http://schemas.microsoft.com/office/drawing/2014/main" id="{DE68B82B-A3A6-4EDA-AF84-25A61E4D18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8" name="TextBox 6">
              <a:extLst>
                <a:ext uri="{FF2B5EF4-FFF2-40B4-BE49-F238E27FC236}">
                  <a16:creationId xmlns:a16="http://schemas.microsoft.com/office/drawing/2014/main" id="{712B6336-74C5-6B4D-23F8-173F3AE15C8F}"/>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9" name="AutoShape 3">
            <a:extLst>
              <a:ext uri="{FF2B5EF4-FFF2-40B4-BE49-F238E27FC236}">
                <a16:creationId xmlns:a16="http://schemas.microsoft.com/office/drawing/2014/main" id="{77393E84-8FF1-44B3-45A5-B93C11873FEC}"/>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0" name="Imagem 9">
            <a:extLst>
              <a:ext uri="{FF2B5EF4-FFF2-40B4-BE49-F238E27FC236}">
                <a16:creationId xmlns:a16="http://schemas.microsoft.com/office/drawing/2014/main" id="{9113F16C-2F15-A107-725C-1D0849C413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1" name="Imagem 10">
            <a:extLst>
              <a:ext uri="{FF2B5EF4-FFF2-40B4-BE49-F238E27FC236}">
                <a16:creationId xmlns:a16="http://schemas.microsoft.com/office/drawing/2014/main" id="{FDC28EC4-1A9D-ED6C-10B2-36212E7BA5A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2" name="Picture 2" descr="FECOEP - Assista à primeira Reunião Ordinária do exercício de 2020">
            <a:extLst>
              <a:ext uri="{FF2B5EF4-FFF2-40B4-BE49-F238E27FC236}">
                <a16:creationId xmlns:a16="http://schemas.microsoft.com/office/drawing/2014/main" id="{CE3CFEC6-E6C8-731A-65A8-DB28B4B867BA}"/>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grpSp>
        <p:nvGrpSpPr>
          <p:cNvPr id="5" name="Group 4">
            <a:extLst>
              <a:ext uri="{FF2B5EF4-FFF2-40B4-BE49-F238E27FC236}">
                <a16:creationId xmlns:a16="http://schemas.microsoft.com/office/drawing/2014/main" id="{72975A44-EBB4-87B1-1197-9C1160A8FDAF}"/>
              </a:ext>
            </a:extLst>
          </p:cNvPr>
          <p:cNvGrpSpPr/>
          <p:nvPr userDrawn="1"/>
        </p:nvGrpSpPr>
        <p:grpSpPr>
          <a:xfrm>
            <a:off x="17332088" y="9399541"/>
            <a:ext cx="574912" cy="574912"/>
            <a:chOff x="0" y="0"/>
            <a:chExt cx="812800" cy="812800"/>
          </a:xfrm>
        </p:grpSpPr>
        <p:sp>
          <p:nvSpPr>
            <p:cNvPr id="6" name="Freeform 5">
              <a:extLst>
                <a:ext uri="{FF2B5EF4-FFF2-40B4-BE49-F238E27FC236}">
                  <a16:creationId xmlns:a16="http://schemas.microsoft.com/office/drawing/2014/main" id="{7D0D6F27-6EF5-E10C-7C71-1BE0AD24F13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7" name="TextBox 6">
              <a:extLst>
                <a:ext uri="{FF2B5EF4-FFF2-40B4-BE49-F238E27FC236}">
                  <a16:creationId xmlns:a16="http://schemas.microsoft.com/office/drawing/2014/main" id="{844ACF77-55BA-68F5-8569-93C94983759B}"/>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8" name="AutoShape 3">
            <a:extLst>
              <a:ext uri="{FF2B5EF4-FFF2-40B4-BE49-F238E27FC236}">
                <a16:creationId xmlns:a16="http://schemas.microsoft.com/office/drawing/2014/main" id="{9649EB28-041A-E933-2F25-88F16FAF90A6}"/>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9" name="Imagem 8">
            <a:extLst>
              <a:ext uri="{FF2B5EF4-FFF2-40B4-BE49-F238E27FC236}">
                <a16:creationId xmlns:a16="http://schemas.microsoft.com/office/drawing/2014/main" id="{4259DFB0-CA66-1952-4BA9-09CEBC0DCE6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0" name="Imagem 9">
            <a:extLst>
              <a:ext uri="{FF2B5EF4-FFF2-40B4-BE49-F238E27FC236}">
                <a16:creationId xmlns:a16="http://schemas.microsoft.com/office/drawing/2014/main" id="{BC237DE2-2307-6893-6A25-4E45226BC9D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1" name="Picture 2" descr="FECOEP - Assista à primeira Reunião Ordinária do exercício de 2020">
            <a:extLst>
              <a:ext uri="{FF2B5EF4-FFF2-40B4-BE49-F238E27FC236}">
                <a16:creationId xmlns:a16="http://schemas.microsoft.com/office/drawing/2014/main" id="{41BF0946-32D9-D3BC-30CD-A83B7FD28605}"/>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grpSp>
        <p:nvGrpSpPr>
          <p:cNvPr id="8" name="Group 4">
            <a:extLst>
              <a:ext uri="{FF2B5EF4-FFF2-40B4-BE49-F238E27FC236}">
                <a16:creationId xmlns:a16="http://schemas.microsoft.com/office/drawing/2014/main" id="{7A06D820-D635-4562-AA3F-94204880A6AA}"/>
              </a:ext>
            </a:extLst>
          </p:cNvPr>
          <p:cNvGrpSpPr/>
          <p:nvPr userDrawn="1"/>
        </p:nvGrpSpPr>
        <p:grpSpPr>
          <a:xfrm>
            <a:off x="17332088" y="9399541"/>
            <a:ext cx="574912" cy="574912"/>
            <a:chOff x="0" y="0"/>
            <a:chExt cx="812800" cy="812800"/>
          </a:xfrm>
        </p:grpSpPr>
        <p:sp>
          <p:nvSpPr>
            <p:cNvPr id="9" name="Freeform 5">
              <a:extLst>
                <a:ext uri="{FF2B5EF4-FFF2-40B4-BE49-F238E27FC236}">
                  <a16:creationId xmlns:a16="http://schemas.microsoft.com/office/drawing/2014/main" id="{2557A122-0CC4-4858-B5C3-C6C2FE89E88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0" name="TextBox 6">
              <a:extLst>
                <a:ext uri="{FF2B5EF4-FFF2-40B4-BE49-F238E27FC236}">
                  <a16:creationId xmlns:a16="http://schemas.microsoft.com/office/drawing/2014/main" id="{2E6548A2-72F3-4B96-F26D-FFE8073EBC2E}"/>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1" name="AutoShape 3">
            <a:extLst>
              <a:ext uri="{FF2B5EF4-FFF2-40B4-BE49-F238E27FC236}">
                <a16:creationId xmlns:a16="http://schemas.microsoft.com/office/drawing/2014/main" id="{C5374333-7DED-1FA4-8266-6DFABC6BC666}"/>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2" name="Imagem 11">
            <a:extLst>
              <a:ext uri="{FF2B5EF4-FFF2-40B4-BE49-F238E27FC236}">
                <a16:creationId xmlns:a16="http://schemas.microsoft.com/office/drawing/2014/main" id="{580D594B-A263-45FD-C9EA-07503C44AC7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3" name="Imagem 12">
            <a:extLst>
              <a:ext uri="{FF2B5EF4-FFF2-40B4-BE49-F238E27FC236}">
                <a16:creationId xmlns:a16="http://schemas.microsoft.com/office/drawing/2014/main" id="{BDE5A74A-F7A3-66EF-BD8B-489634FD741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4" name="Picture 2" descr="FECOEP - Assista à primeira Reunião Ordinária do exercício de 2020">
            <a:extLst>
              <a:ext uri="{FF2B5EF4-FFF2-40B4-BE49-F238E27FC236}">
                <a16:creationId xmlns:a16="http://schemas.microsoft.com/office/drawing/2014/main" id="{8732DDA6-F9AC-5E9E-90A7-48B65C5F24EC}"/>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grpSp>
        <p:nvGrpSpPr>
          <p:cNvPr id="8" name="Group 4">
            <a:extLst>
              <a:ext uri="{FF2B5EF4-FFF2-40B4-BE49-F238E27FC236}">
                <a16:creationId xmlns:a16="http://schemas.microsoft.com/office/drawing/2014/main" id="{F46BDAD5-78C1-B53F-ED01-5ECC2B09840E}"/>
              </a:ext>
            </a:extLst>
          </p:cNvPr>
          <p:cNvGrpSpPr/>
          <p:nvPr userDrawn="1"/>
        </p:nvGrpSpPr>
        <p:grpSpPr>
          <a:xfrm>
            <a:off x="17332088" y="9399541"/>
            <a:ext cx="574912" cy="574912"/>
            <a:chOff x="0" y="0"/>
            <a:chExt cx="812800" cy="812800"/>
          </a:xfrm>
        </p:grpSpPr>
        <p:sp>
          <p:nvSpPr>
            <p:cNvPr id="9" name="Freeform 5">
              <a:extLst>
                <a:ext uri="{FF2B5EF4-FFF2-40B4-BE49-F238E27FC236}">
                  <a16:creationId xmlns:a16="http://schemas.microsoft.com/office/drawing/2014/main" id="{103BF50A-9D8C-5D72-8CFB-127644ECE1C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0" name="TextBox 6">
              <a:extLst>
                <a:ext uri="{FF2B5EF4-FFF2-40B4-BE49-F238E27FC236}">
                  <a16:creationId xmlns:a16="http://schemas.microsoft.com/office/drawing/2014/main" id="{F2DA23F4-25A8-7637-E1B4-7B04240F9A91}"/>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1" name="AutoShape 3">
            <a:extLst>
              <a:ext uri="{FF2B5EF4-FFF2-40B4-BE49-F238E27FC236}">
                <a16:creationId xmlns:a16="http://schemas.microsoft.com/office/drawing/2014/main" id="{B9AC1284-470E-2958-8D92-EA6FFF24E066}"/>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2" name="Imagem 11">
            <a:extLst>
              <a:ext uri="{FF2B5EF4-FFF2-40B4-BE49-F238E27FC236}">
                <a16:creationId xmlns:a16="http://schemas.microsoft.com/office/drawing/2014/main" id="{5EC79A9F-8575-A6A0-378A-06D5FB5B5C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3" name="Imagem 12">
            <a:extLst>
              <a:ext uri="{FF2B5EF4-FFF2-40B4-BE49-F238E27FC236}">
                <a16:creationId xmlns:a16="http://schemas.microsoft.com/office/drawing/2014/main" id="{3B69AD7A-BA58-376C-115F-4D2CC03C6D23}"/>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4" name="Picture 2" descr="FECOEP - Assista à primeira Reunião Ordinária do exercício de 2020">
            <a:extLst>
              <a:ext uri="{FF2B5EF4-FFF2-40B4-BE49-F238E27FC236}">
                <a16:creationId xmlns:a16="http://schemas.microsoft.com/office/drawing/2014/main" id="{4521E6B2-6F46-2105-BAE1-6B9706A65E28}"/>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grpSp>
        <p:nvGrpSpPr>
          <p:cNvPr id="7" name="Group 4">
            <a:extLst>
              <a:ext uri="{FF2B5EF4-FFF2-40B4-BE49-F238E27FC236}">
                <a16:creationId xmlns:a16="http://schemas.microsoft.com/office/drawing/2014/main" id="{05233067-9A44-29CB-5986-81B78E8D93AC}"/>
              </a:ext>
            </a:extLst>
          </p:cNvPr>
          <p:cNvGrpSpPr/>
          <p:nvPr userDrawn="1"/>
        </p:nvGrpSpPr>
        <p:grpSpPr>
          <a:xfrm>
            <a:off x="17332088" y="9399541"/>
            <a:ext cx="574912" cy="574912"/>
            <a:chOff x="0" y="0"/>
            <a:chExt cx="812800" cy="812800"/>
          </a:xfrm>
        </p:grpSpPr>
        <p:sp>
          <p:nvSpPr>
            <p:cNvPr id="8" name="Freeform 5">
              <a:extLst>
                <a:ext uri="{FF2B5EF4-FFF2-40B4-BE49-F238E27FC236}">
                  <a16:creationId xmlns:a16="http://schemas.microsoft.com/office/drawing/2014/main" id="{9D69D7A9-40B8-4AF8-C876-28E05FFEEAA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9" name="TextBox 6">
              <a:extLst>
                <a:ext uri="{FF2B5EF4-FFF2-40B4-BE49-F238E27FC236}">
                  <a16:creationId xmlns:a16="http://schemas.microsoft.com/office/drawing/2014/main" id="{15BFCFAA-62A7-AF1C-CF81-DF135929D78D}"/>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0" name="AutoShape 3">
            <a:extLst>
              <a:ext uri="{FF2B5EF4-FFF2-40B4-BE49-F238E27FC236}">
                <a16:creationId xmlns:a16="http://schemas.microsoft.com/office/drawing/2014/main" id="{8A52438F-36AC-58F6-CE1E-C00A30601466}"/>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1" name="Imagem 10">
            <a:extLst>
              <a:ext uri="{FF2B5EF4-FFF2-40B4-BE49-F238E27FC236}">
                <a16:creationId xmlns:a16="http://schemas.microsoft.com/office/drawing/2014/main" id="{A9A1EA23-2C34-331E-0956-0D8D43581DE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2" name="Imagem 11">
            <a:extLst>
              <a:ext uri="{FF2B5EF4-FFF2-40B4-BE49-F238E27FC236}">
                <a16:creationId xmlns:a16="http://schemas.microsoft.com/office/drawing/2014/main" id="{61EBB08D-1E04-92C2-F8C6-2B885AD20B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3" name="Picture 2" descr="FECOEP - Assista à primeira Reunião Ordinária do exercício de 2020">
            <a:extLst>
              <a:ext uri="{FF2B5EF4-FFF2-40B4-BE49-F238E27FC236}">
                <a16:creationId xmlns:a16="http://schemas.microsoft.com/office/drawing/2014/main" id="{C82E2293-C8FA-DF10-A05C-5051D0D6C0B3}"/>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grpSp>
        <p:nvGrpSpPr>
          <p:cNvPr id="7" name="Group 4">
            <a:extLst>
              <a:ext uri="{FF2B5EF4-FFF2-40B4-BE49-F238E27FC236}">
                <a16:creationId xmlns:a16="http://schemas.microsoft.com/office/drawing/2014/main" id="{81FF9232-AEA2-2D2E-8C8A-8C990E9EB677}"/>
              </a:ext>
            </a:extLst>
          </p:cNvPr>
          <p:cNvGrpSpPr/>
          <p:nvPr userDrawn="1"/>
        </p:nvGrpSpPr>
        <p:grpSpPr>
          <a:xfrm>
            <a:off x="17332088" y="9399541"/>
            <a:ext cx="574912" cy="574912"/>
            <a:chOff x="0" y="0"/>
            <a:chExt cx="812800" cy="812800"/>
          </a:xfrm>
        </p:grpSpPr>
        <p:sp>
          <p:nvSpPr>
            <p:cNvPr id="8" name="Freeform 5">
              <a:extLst>
                <a:ext uri="{FF2B5EF4-FFF2-40B4-BE49-F238E27FC236}">
                  <a16:creationId xmlns:a16="http://schemas.microsoft.com/office/drawing/2014/main" id="{BB9E533A-3BCD-94D2-E339-53694E57F76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9" name="TextBox 6">
              <a:extLst>
                <a:ext uri="{FF2B5EF4-FFF2-40B4-BE49-F238E27FC236}">
                  <a16:creationId xmlns:a16="http://schemas.microsoft.com/office/drawing/2014/main" id="{7E6C6033-2637-5367-41AC-4E475C4F203C}"/>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
        <p:nvSpPr>
          <p:cNvPr id="10" name="AutoShape 3">
            <a:extLst>
              <a:ext uri="{FF2B5EF4-FFF2-40B4-BE49-F238E27FC236}">
                <a16:creationId xmlns:a16="http://schemas.microsoft.com/office/drawing/2014/main" id="{7DBB4A51-C496-1B86-8EEA-6BBD3536109C}"/>
              </a:ext>
            </a:extLst>
          </p:cNvPr>
          <p:cNvSpPr/>
          <p:nvPr userDrawn="1"/>
        </p:nvSpPr>
        <p:spPr>
          <a:xfrm>
            <a:off x="5620201" y="9715500"/>
            <a:ext cx="11484000" cy="0"/>
          </a:xfrm>
          <a:prstGeom prst="line">
            <a:avLst/>
          </a:prstGeom>
          <a:ln w="38100" cap="flat">
            <a:gradFill>
              <a:gsLst>
                <a:gs pos="0">
                  <a:schemeClr val="accent1">
                    <a:lumMod val="5000"/>
                    <a:lumOff val="95000"/>
                  </a:schemeClr>
                </a:gs>
                <a:gs pos="74000">
                  <a:schemeClr val="tx1">
                    <a:lumMod val="50000"/>
                    <a:lumOff val="50000"/>
                  </a:schemeClr>
                </a:gs>
                <a:gs pos="83000">
                  <a:schemeClr val="tx1">
                    <a:lumMod val="75000"/>
                    <a:lumOff val="25000"/>
                  </a:schemeClr>
                </a:gs>
                <a:gs pos="100000">
                  <a:schemeClr val="tx1"/>
                </a:gs>
              </a:gsLst>
              <a:lin ang="5400000" scaled="1"/>
            </a:gradFill>
            <a:prstDash val="solid"/>
            <a:headEnd type="none" w="sm" len="sm"/>
            <a:tailEnd type="none" w="sm" len="sm"/>
          </a:ln>
        </p:spPr>
        <p:txBody>
          <a:bodyPr/>
          <a:lstStyle/>
          <a:p>
            <a:endParaRPr lang="pt-BR"/>
          </a:p>
        </p:txBody>
      </p:sp>
      <p:pic>
        <p:nvPicPr>
          <p:cNvPr id="11" name="Imagem 10">
            <a:extLst>
              <a:ext uri="{FF2B5EF4-FFF2-40B4-BE49-F238E27FC236}">
                <a16:creationId xmlns:a16="http://schemas.microsoft.com/office/drawing/2014/main" id="{8A39ACE8-8372-0C42-C0BA-7DD1EF8EB14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9917" y="9311672"/>
            <a:ext cx="1580129" cy="992351"/>
          </a:xfrm>
          <a:prstGeom prst="rect">
            <a:avLst/>
          </a:prstGeom>
        </p:spPr>
      </p:pic>
      <p:pic>
        <p:nvPicPr>
          <p:cNvPr id="12" name="Imagem 11">
            <a:extLst>
              <a:ext uri="{FF2B5EF4-FFF2-40B4-BE49-F238E27FC236}">
                <a16:creationId xmlns:a16="http://schemas.microsoft.com/office/drawing/2014/main" id="{0B0D2261-78F1-016F-9FEE-1269E0240CB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8809" y="9345845"/>
            <a:ext cx="1175237" cy="796128"/>
          </a:xfrm>
          <a:prstGeom prst="rect">
            <a:avLst/>
          </a:prstGeom>
        </p:spPr>
      </p:pic>
      <p:pic>
        <p:nvPicPr>
          <p:cNvPr id="13" name="Picture 2" descr="FECOEP - Assista à primeira Reunião Ordinária do exercício de 2020">
            <a:extLst>
              <a:ext uri="{FF2B5EF4-FFF2-40B4-BE49-F238E27FC236}">
                <a16:creationId xmlns:a16="http://schemas.microsoft.com/office/drawing/2014/main" id="{0CA3D5A1-9EA0-1D25-1C79-E5FA2FBDE8DB}"/>
              </a:ext>
            </a:extLst>
          </p:cNvPr>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3728917" y="9128601"/>
            <a:ext cx="1453389" cy="109004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14">
            <a:extLst>
              <a:ext uri="{FF2B5EF4-FFF2-40B4-BE49-F238E27FC236}">
                <a16:creationId xmlns:a16="http://schemas.microsoft.com/office/drawing/2014/main" id="{897C1E87-7813-9517-AAA9-42380DFA223F}"/>
              </a:ext>
            </a:extLst>
          </p:cNvPr>
          <p:cNvSpPr txBox="1"/>
          <p:nvPr/>
        </p:nvSpPr>
        <p:spPr>
          <a:xfrm>
            <a:off x="10337932" y="4389965"/>
            <a:ext cx="7498079" cy="2743200"/>
          </a:xfrm>
          <a:prstGeom prst="rect">
            <a:avLst/>
          </a:prstGeom>
        </p:spPr>
        <p:txBody>
          <a:bodyPr lIns="0" tIns="0" rIns="0" bIns="0" rtlCol="0" anchor="t">
            <a:spAutoFit/>
          </a:bodyPr>
          <a:lstStyle/>
          <a:p>
            <a:pPr algn="l">
              <a:lnSpc>
                <a:spcPts val="5760"/>
              </a:lnSpc>
            </a:pPr>
            <a:r>
              <a:rPr lang="en-US" sz="3600" b="1" dirty="0">
                <a:solidFill>
                  <a:srgbClr val="FFFFFF"/>
                </a:solidFill>
                <a:latin typeface="Montaser Arabic"/>
                <a:ea typeface="Montaser Arabic"/>
                <a:cs typeface="Montaser Arabic"/>
                <a:sym typeface="Montaser Arabic"/>
              </a:rPr>
              <a:t>Formação superior e mercado de trabalho na Sub-região Oeste da RMSP</a:t>
            </a:r>
          </a:p>
        </p:txBody>
      </p:sp>
      <p:sp>
        <p:nvSpPr>
          <p:cNvPr id="5" name="TextBox 15">
            <a:extLst>
              <a:ext uri="{FF2B5EF4-FFF2-40B4-BE49-F238E27FC236}">
                <a16:creationId xmlns:a16="http://schemas.microsoft.com/office/drawing/2014/main" id="{C4B13D04-6E82-0548-7FD0-A67783BBB9D5}"/>
              </a:ext>
            </a:extLst>
          </p:cNvPr>
          <p:cNvSpPr txBox="1"/>
          <p:nvPr/>
        </p:nvSpPr>
        <p:spPr>
          <a:xfrm>
            <a:off x="10318598" y="8267700"/>
            <a:ext cx="7498079" cy="815223"/>
          </a:xfrm>
          <a:prstGeom prst="rect">
            <a:avLst/>
          </a:prstGeom>
        </p:spPr>
        <p:txBody>
          <a:bodyPr wrap="square" lIns="0" tIns="0" rIns="0" bIns="0" rtlCol="0" anchor="t">
            <a:spAutoFit/>
          </a:bodyPr>
          <a:lstStyle/>
          <a:p>
            <a:pPr>
              <a:lnSpc>
                <a:spcPts val="2880"/>
              </a:lnSpc>
            </a:pPr>
            <a:r>
              <a:rPr lang="en-US" sz="1800" spc="47" dirty="0">
                <a:solidFill>
                  <a:srgbClr val="6C6C6C"/>
                </a:solidFill>
                <a:latin typeface="Montaser Arabic Light"/>
                <a:ea typeface="Montaser Arabic Light"/>
                <a:cs typeface="Montaser Arabic Light"/>
                <a:sym typeface="Montaser Arabic Light"/>
              </a:rPr>
              <a:t>Autores: Guilherme Neves Dantas de Oliveira e Luiz Rodolfo Dawoglio</a:t>
            </a:r>
          </a:p>
          <a:p>
            <a:pPr>
              <a:lnSpc>
                <a:spcPts val="2880"/>
              </a:lnSpc>
            </a:pPr>
            <a:r>
              <a:rPr lang="en-US" sz="1800" spc="47" dirty="0">
                <a:solidFill>
                  <a:srgbClr val="6C6C6C"/>
                </a:solidFill>
                <a:latin typeface="Montaser Arabic Light"/>
                <a:ea typeface="Montaser Arabic Light"/>
                <a:cs typeface="Montaser Arabic Light"/>
                <a:sym typeface="Montaser Arabic Light"/>
              </a:rPr>
              <a:t>Orientador: Prof. Me. Antonio Manuel Marques Matias</a:t>
            </a:r>
          </a:p>
        </p:txBody>
      </p:sp>
    </p:spTree>
    <p:extLst>
      <p:ext uri="{BB962C8B-B14F-4D97-AF65-F5344CB8AC3E}">
        <p14:creationId xmlns:p14="http://schemas.microsoft.com/office/powerpoint/2010/main" val="33299000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59" y="1736320"/>
            <a:ext cx="7645250" cy="6814359"/>
          </a:xfrm>
          <a:custGeom>
            <a:avLst/>
            <a:gdLst/>
            <a:ahLst/>
            <a:cxnLst/>
            <a:rect l="l" t="t" r="r" b="b"/>
            <a:pathLst>
              <a:path w="7828899" h="6814359">
                <a:moveTo>
                  <a:pt x="0" y="0"/>
                </a:moveTo>
                <a:lnTo>
                  <a:pt x="7828899" y="0"/>
                </a:lnTo>
                <a:lnTo>
                  <a:pt x="7828899" y="6814360"/>
                </a:lnTo>
                <a:lnTo>
                  <a:pt x="0" y="6814360"/>
                </a:lnTo>
                <a:lnTo>
                  <a:pt x="0" y="0"/>
                </a:lnTo>
                <a:close/>
              </a:path>
            </a:pathLst>
          </a:custGeom>
          <a:blipFill>
            <a:blip r:embed="rId3"/>
            <a:stretch>
              <a:fillRect l="-2402" t="-20768" r="-59162"/>
            </a:stretch>
          </a:blipFill>
        </p:spPr>
        <p:txBody>
          <a:bodyPr/>
          <a:lstStyle/>
          <a:p>
            <a:endParaRPr lang="pt-BR"/>
          </a:p>
        </p:txBody>
      </p:sp>
      <p:sp>
        <p:nvSpPr>
          <p:cNvPr id="3" name="Freeform 3"/>
          <p:cNvSpPr/>
          <p:nvPr/>
        </p:nvSpPr>
        <p:spPr>
          <a:xfrm>
            <a:off x="16449296" y="1736319"/>
            <a:ext cx="1838704" cy="6814359"/>
          </a:xfrm>
          <a:custGeom>
            <a:avLst/>
            <a:gdLst/>
            <a:ahLst/>
            <a:cxnLst/>
            <a:rect l="l" t="t" r="r" b="b"/>
            <a:pathLst>
              <a:path w="1838704" h="6814359">
                <a:moveTo>
                  <a:pt x="0" y="0"/>
                </a:moveTo>
                <a:lnTo>
                  <a:pt x="1838704" y="0"/>
                </a:lnTo>
                <a:lnTo>
                  <a:pt x="1838704" y="6814360"/>
                </a:lnTo>
                <a:lnTo>
                  <a:pt x="0" y="6814360"/>
                </a:lnTo>
                <a:lnTo>
                  <a:pt x="0" y="0"/>
                </a:lnTo>
                <a:close/>
              </a:path>
            </a:pathLst>
          </a:custGeom>
          <a:blipFill>
            <a:blip r:embed="rId3"/>
            <a:stretch>
              <a:fillRect t="-20768" r="-571783"/>
            </a:stretch>
          </a:blipFill>
        </p:spPr>
        <p:txBody>
          <a:bodyPr/>
          <a:lstStyle/>
          <a:p>
            <a:endParaRPr lang="pt-BR"/>
          </a:p>
        </p:txBody>
      </p:sp>
      <p:sp>
        <p:nvSpPr>
          <p:cNvPr id="4" name="TextBox 4"/>
          <p:cNvSpPr txBox="1"/>
          <p:nvPr/>
        </p:nvSpPr>
        <p:spPr>
          <a:xfrm>
            <a:off x="8637579" y="3002930"/>
            <a:ext cx="7393805" cy="758572"/>
          </a:xfrm>
          <a:prstGeom prst="rect">
            <a:avLst/>
          </a:prstGeom>
        </p:spPr>
        <p:txBody>
          <a:bodyPr lIns="0" tIns="0" rIns="0" bIns="0" rtlCol="0" anchor="t">
            <a:spAutoFit/>
          </a:bodyPr>
          <a:lstStyle/>
          <a:p>
            <a:pPr algn="l">
              <a:lnSpc>
                <a:spcPts val="5832"/>
              </a:lnSpc>
            </a:pPr>
            <a:r>
              <a:rPr lang="en-US" sz="5400" spc="918">
                <a:solidFill>
                  <a:srgbClr val="000000"/>
                </a:solidFill>
                <a:latin typeface="Montaser Arabic"/>
                <a:ea typeface="Montaser Arabic"/>
                <a:cs typeface="Montaser Arabic"/>
                <a:sym typeface="Montaser Arabic"/>
              </a:rPr>
              <a:t>INTRODUÇÃO</a:t>
            </a:r>
          </a:p>
        </p:txBody>
      </p:sp>
      <p:sp>
        <p:nvSpPr>
          <p:cNvPr id="5" name="TextBox 5"/>
          <p:cNvSpPr txBox="1"/>
          <p:nvPr/>
        </p:nvSpPr>
        <p:spPr>
          <a:xfrm>
            <a:off x="8637579" y="4010742"/>
            <a:ext cx="7645250" cy="3955542"/>
          </a:xfrm>
          <a:prstGeom prst="rect">
            <a:avLst/>
          </a:prstGeom>
        </p:spPr>
        <p:txBody>
          <a:bodyPr lIns="0" tIns="0" rIns="0" bIns="0" rtlCol="0" anchor="t">
            <a:spAutoFit/>
          </a:bodyPr>
          <a:lstStyle/>
          <a:p>
            <a:pPr algn="l">
              <a:lnSpc>
                <a:spcPts val="3840"/>
              </a:lnSpc>
            </a:pPr>
            <a:r>
              <a:rPr lang="en-US" sz="2400" spc="143">
                <a:solidFill>
                  <a:srgbClr val="6C6C6C"/>
                </a:solidFill>
                <a:latin typeface="Montaser Arabic Light"/>
                <a:ea typeface="Montaser Arabic Light"/>
                <a:cs typeface="Montaser Arabic Light"/>
                <a:sym typeface="Montaser Arabic Light"/>
              </a:rPr>
              <a:t>No Projeto Integrador anterior foi possível verificar que o gargalo do Ensino Superior migrou do acesso para a permanência e que o diploma protege do desemprego (3,9% no nível superior contra 8,8% no médio). Mas será que os cursos das Faculdades de Tecnologia (Fatecs) da nossa região formam para as vagas que o mercado local abre?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028700"/>
            <a:ext cx="8115300" cy="8229600"/>
          </a:xfrm>
          <a:custGeom>
            <a:avLst/>
            <a:gdLst/>
            <a:ahLst/>
            <a:cxnLst/>
            <a:rect l="l" t="t" r="r" b="b"/>
            <a:pathLst>
              <a:path w="8115300" h="8229600">
                <a:moveTo>
                  <a:pt x="0" y="0"/>
                </a:moveTo>
                <a:lnTo>
                  <a:pt x="8115300" y="0"/>
                </a:lnTo>
                <a:lnTo>
                  <a:pt x="8115300" y="8229600"/>
                </a:lnTo>
                <a:lnTo>
                  <a:pt x="0" y="8229600"/>
                </a:lnTo>
                <a:lnTo>
                  <a:pt x="0" y="0"/>
                </a:lnTo>
                <a:close/>
              </a:path>
            </a:pathLst>
          </a:custGeom>
          <a:blipFill>
            <a:blip r:embed="rId3"/>
            <a:stretch>
              <a:fillRect l="-22535" r="-12676"/>
            </a:stretch>
          </a:blipFill>
        </p:spPr>
        <p:txBody>
          <a:bodyPr/>
          <a:lstStyle/>
          <a:p>
            <a:endParaRPr lang="pt-BR"/>
          </a:p>
        </p:txBody>
      </p:sp>
      <p:grpSp>
        <p:nvGrpSpPr>
          <p:cNvPr id="3" name="Group 3"/>
          <p:cNvGrpSpPr/>
          <p:nvPr/>
        </p:nvGrpSpPr>
        <p:grpSpPr>
          <a:xfrm>
            <a:off x="0" y="3298200"/>
            <a:ext cx="12564775" cy="4410867"/>
            <a:chOff x="0" y="0"/>
            <a:chExt cx="3309241" cy="1161710"/>
          </a:xfrm>
        </p:grpSpPr>
        <p:sp>
          <p:nvSpPr>
            <p:cNvPr id="4" name="Freeform 4"/>
            <p:cNvSpPr/>
            <p:nvPr/>
          </p:nvSpPr>
          <p:spPr>
            <a:xfrm>
              <a:off x="0" y="0"/>
              <a:ext cx="3309241" cy="1161710"/>
            </a:xfrm>
            <a:custGeom>
              <a:avLst/>
              <a:gdLst/>
              <a:ahLst/>
              <a:cxnLst/>
              <a:rect l="l" t="t" r="r" b="b"/>
              <a:pathLst>
                <a:path w="3309241" h="1161710">
                  <a:moveTo>
                    <a:pt x="0" y="0"/>
                  </a:moveTo>
                  <a:lnTo>
                    <a:pt x="3309241" y="0"/>
                  </a:lnTo>
                  <a:lnTo>
                    <a:pt x="3309241" y="1161710"/>
                  </a:lnTo>
                  <a:lnTo>
                    <a:pt x="0" y="1161710"/>
                  </a:lnTo>
                  <a:close/>
                </a:path>
              </a:pathLst>
            </a:custGeom>
            <a:solidFill>
              <a:srgbClr val="FFFFFF"/>
            </a:solidFill>
          </p:spPr>
          <p:txBody>
            <a:bodyPr/>
            <a:lstStyle/>
            <a:p>
              <a:endParaRPr lang="pt-BR"/>
            </a:p>
          </p:txBody>
        </p:sp>
        <p:sp>
          <p:nvSpPr>
            <p:cNvPr id="5" name="TextBox 5"/>
            <p:cNvSpPr txBox="1"/>
            <p:nvPr/>
          </p:nvSpPr>
          <p:spPr>
            <a:xfrm>
              <a:off x="0" y="-47625"/>
              <a:ext cx="3309241" cy="1209335"/>
            </a:xfrm>
            <a:prstGeom prst="rect">
              <a:avLst/>
            </a:prstGeom>
          </p:spPr>
          <p:txBody>
            <a:bodyPr lIns="50800" tIns="50800" rIns="50800" bIns="50800" rtlCol="0" anchor="ctr"/>
            <a:lstStyle/>
            <a:p>
              <a:pPr algn="ctr">
                <a:lnSpc>
                  <a:spcPts val="3429"/>
                </a:lnSpc>
              </a:pPr>
              <a:endParaRPr/>
            </a:p>
          </p:txBody>
        </p:sp>
      </p:grpSp>
      <p:sp>
        <p:nvSpPr>
          <p:cNvPr id="6" name="TextBox 6"/>
          <p:cNvSpPr txBox="1"/>
          <p:nvPr/>
        </p:nvSpPr>
        <p:spPr>
          <a:xfrm>
            <a:off x="1737360" y="2605752"/>
            <a:ext cx="7406640" cy="758572"/>
          </a:xfrm>
          <a:prstGeom prst="rect">
            <a:avLst/>
          </a:prstGeom>
        </p:spPr>
        <p:txBody>
          <a:bodyPr lIns="0" tIns="0" rIns="0" bIns="0" rtlCol="0" anchor="t">
            <a:spAutoFit/>
          </a:bodyPr>
          <a:lstStyle/>
          <a:p>
            <a:pPr marL="0" lvl="0" indent="0" algn="l">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JUSTIFICATIVA</a:t>
            </a:r>
          </a:p>
        </p:txBody>
      </p:sp>
      <p:sp>
        <p:nvSpPr>
          <p:cNvPr id="7" name="TextBox 7"/>
          <p:cNvSpPr txBox="1"/>
          <p:nvPr/>
        </p:nvSpPr>
        <p:spPr>
          <a:xfrm>
            <a:off x="1737360" y="4158332"/>
            <a:ext cx="9326880" cy="2812542"/>
          </a:xfrm>
          <a:prstGeom prst="rect">
            <a:avLst/>
          </a:prstGeom>
        </p:spPr>
        <p:txBody>
          <a:bodyPr lIns="0" tIns="0" rIns="0" bIns="0" rtlCol="0" anchor="t">
            <a:spAutoFit/>
          </a:bodyPr>
          <a:lstStyle/>
          <a:p>
            <a:pPr marL="0" lvl="0" indent="0" algn="l">
              <a:lnSpc>
                <a:spcPts val="3520"/>
              </a:lnSpc>
              <a:spcBef>
                <a:spcPct val="0"/>
              </a:spcBef>
            </a:pPr>
            <a:r>
              <a:rPr lang="en-US" sz="2200" u="none" strike="noStrike" spc="143">
                <a:solidFill>
                  <a:srgbClr val="6C6C6C"/>
                </a:solidFill>
                <a:latin typeface="Montaser Arabic Light"/>
                <a:ea typeface="Montaser Arabic Light"/>
                <a:cs typeface="Montaser Arabic Light"/>
                <a:sym typeface="Montaser Arabic Light"/>
              </a:rPr>
              <a:t>Muitos estudantes escolhem o curso sem saber o que o mercado da região procura. Diante disso, cruzar dados públicos de educação e de emprego permite mostrar onde sobram e onde faltam formados, apoiando a transição estudo–trabalho prevista no Objetivo de Desenvolvimento Sustentável (ODS) 8 e servindo de base para um guia de cursos para os jovens da região.</a:t>
            </a:r>
          </a:p>
        </p:txBody>
      </p:sp>
      <p:sp>
        <p:nvSpPr>
          <p:cNvPr id="8" name="AutoShape 8"/>
          <p:cNvSpPr/>
          <p:nvPr/>
        </p:nvSpPr>
        <p:spPr>
          <a:xfrm>
            <a:off x="1579081" y="8763221"/>
            <a:ext cx="4190056" cy="0"/>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9" name="Group 9"/>
          <p:cNvGrpSpPr/>
          <p:nvPr/>
        </p:nvGrpSpPr>
        <p:grpSpPr>
          <a:xfrm>
            <a:off x="5888146" y="8605241"/>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12" name="Group 12"/>
          <p:cNvGrpSpPr/>
          <p:nvPr/>
        </p:nvGrpSpPr>
        <p:grpSpPr>
          <a:xfrm>
            <a:off x="6400800" y="8605241"/>
            <a:ext cx="315960" cy="31596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4" name="TextBox 14"/>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1721247" y="3002623"/>
            <a:ext cx="13258800" cy="2821919"/>
          </a:xfrm>
          <a:prstGeom prst="rect">
            <a:avLst/>
          </a:prstGeom>
        </p:spPr>
        <p:txBody>
          <a:bodyPr lIns="0" tIns="0" rIns="0" bIns="0" rtlCol="0" anchor="t">
            <a:spAutoFit/>
          </a:bodyPr>
          <a:lstStyle/>
          <a:p>
            <a:pPr marL="0" lvl="0" indent="0" algn="l">
              <a:lnSpc>
                <a:spcPts val="3840"/>
              </a:lnSpc>
              <a:spcBef>
                <a:spcPct val="0"/>
              </a:spcBef>
            </a:pPr>
            <a:r>
              <a:rPr lang="en-US" sz="2400" u="none" strike="noStrike" spc="143" dirty="0">
                <a:solidFill>
                  <a:srgbClr val="6C6C6C"/>
                </a:solidFill>
                <a:latin typeface="Montaser Arabic"/>
                <a:ea typeface="Montaser Arabic"/>
                <a:cs typeface="Montaser Arabic"/>
                <a:sym typeface="Montaser Arabic"/>
              </a:rPr>
              <a:t>Geral: </a:t>
            </a:r>
            <a:r>
              <a:rPr lang="en-US" sz="2400" u="none" strike="noStrike" spc="143" dirty="0">
                <a:solidFill>
                  <a:srgbClr val="6C6C6C"/>
                </a:solidFill>
                <a:latin typeface="Montaser Arabic Light"/>
                <a:ea typeface="Montaser Arabic Light"/>
                <a:cs typeface="Montaser Arabic Light"/>
                <a:sym typeface="Montaser Arabic Light"/>
              </a:rPr>
              <a:t>investigar se os cursos das Fatecs da Sub-região Oeste formam para as vagas abertas pelo mercado de trabalho local.</a:t>
            </a:r>
          </a:p>
          <a:p>
            <a:pPr marL="0" lvl="0" indent="0" algn="l">
              <a:lnSpc>
                <a:spcPts val="3840"/>
              </a:lnSpc>
              <a:spcBef>
                <a:spcPct val="0"/>
              </a:spcBef>
            </a:pPr>
            <a:r>
              <a:rPr lang="en-US" sz="2400" u="none" strike="noStrike" spc="143" dirty="0">
                <a:solidFill>
                  <a:srgbClr val="6C6C6C"/>
                </a:solidFill>
                <a:latin typeface="Montaser Arabic"/>
                <a:ea typeface="Montaser Arabic"/>
                <a:cs typeface="Montaser Arabic"/>
                <a:sym typeface="Montaser Arabic"/>
              </a:rPr>
              <a:t>Específicos: </a:t>
            </a:r>
          </a:p>
        </p:txBody>
      </p:sp>
      <p:sp>
        <p:nvSpPr>
          <p:cNvPr id="2" name="TextBox 3"/>
          <p:cNvSpPr txBox="1"/>
          <p:nvPr/>
        </p:nvSpPr>
        <p:spPr>
          <a:xfrm>
            <a:off x="1721247" y="4754880"/>
            <a:ext cx="13258800" cy="2821919"/>
          </a:xfrm>
          <a:prstGeom prst="rect">
            <a:avLst/>
          </a:prstGeom>
        </p:spPr>
        <p:txBody>
          <a:bodyPr lIns="0" tIns="0" rIns="0" bIns="0" rtlCol="0" anchor="t">
            <a:spAutoFit/>
          </a:bodyPr>
          <a:lstStyle/>
          <a:p>
            <a:pPr marL="342900" lvl="0" indent="-342900" algn="l">
              <a:lnSpc>
                <a:spcPts val="3520"/>
              </a:lnSpc>
              <a:spcBef>
                <a:spcPct val="0"/>
              </a:spcBef>
              <a:buChar char="•"/>
            </a:pPr>
            <a:r>
              <a:rPr lang="en-US" sz="2200" u="none" strike="noStrike" spc="143" dirty="0">
                <a:solidFill>
                  <a:srgbClr val="6C6C6C"/>
                </a:solidFill>
                <a:latin typeface="Montaser Arabic Light"/>
                <a:ea typeface="Montaser Arabic Light"/>
                <a:cs typeface="Montaser Arabic Light"/>
                <a:sym typeface="Montaser Arabic Light"/>
              </a:rPr>
              <a:t>identificar as áreas com mais concluintes nas Fatecs;</a:t>
            </a:r>
          </a:p>
          <a:p>
            <a:pPr marL="342900" lvl="0" indent="-342900" algn="l">
              <a:lnSpc>
                <a:spcPts val="3520"/>
              </a:lnSpc>
              <a:spcBef>
                <a:spcPct val="0"/>
              </a:spcBef>
              <a:buChar char="•"/>
            </a:pPr>
            <a:r>
              <a:rPr lang="en-US" sz="2200" u="none" strike="noStrike" spc="143" dirty="0">
                <a:solidFill>
                  <a:srgbClr val="6C6C6C"/>
                </a:solidFill>
                <a:latin typeface="Montaser Arabic Light"/>
                <a:ea typeface="Montaser Arabic Light"/>
                <a:cs typeface="Montaser Arabic Light"/>
                <a:sym typeface="Montaser Arabic Light"/>
              </a:rPr>
              <a:t>identificar as ocupações de nível superior que mais contratam;</a:t>
            </a:r>
          </a:p>
          <a:p>
            <a:pPr marL="342900" lvl="0" indent="-342900" algn="l">
              <a:lnSpc>
                <a:spcPts val="3520"/>
              </a:lnSpc>
              <a:spcBef>
                <a:spcPct val="0"/>
              </a:spcBef>
              <a:buChar char="•"/>
            </a:pPr>
            <a:r>
              <a:rPr lang="en-US" sz="2200" u="none" strike="noStrike" spc="143" dirty="0">
                <a:solidFill>
                  <a:srgbClr val="6C6C6C"/>
                </a:solidFill>
                <a:latin typeface="Montaser Arabic Light"/>
                <a:ea typeface="Montaser Arabic Light"/>
                <a:cs typeface="Montaser Arabic Light"/>
                <a:sym typeface="Montaser Arabic Light"/>
              </a:rPr>
              <a:t>calcular o descompasso entre formados e vagas por área;</a:t>
            </a:r>
          </a:p>
          <a:p>
            <a:pPr marL="342900" lvl="0" indent="-342900" algn="l">
              <a:lnSpc>
                <a:spcPts val="3520"/>
              </a:lnSpc>
              <a:spcBef>
                <a:spcPct val="0"/>
              </a:spcBef>
              <a:buChar char="•"/>
            </a:pPr>
            <a:r>
              <a:rPr lang="en-US" sz="2200" u="none" strike="noStrike" spc="143" dirty="0">
                <a:solidFill>
                  <a:srgbClr val="6C6C6C"/>
                </a:solidFill>
                <a:latin typeface="Montaser Arabic Light"/>
                <a:ea typeface="Montaser Arabic Light"/>
                <a:cs typeface="Montaser Arabic Light"/>
                <a:sym typeface="Montaser Arabic Light"/>
              </a:rPr>
              <a:t>medir o prêmio salarial do diploma na admissão;</a:t>
            </a:r>
          </a:p>
          <a:p>
            <a:pPr marL="342900" lvl="0" indent="-342900" algn="l">
              <a:lnSpc>
                <a:spcPts val="3520"/>
              </a:lnSpc>
              <a:spcBef>
                <a:spcPct val="0"/>
              </a:spcBef>
              <a:buChar char="•"/>
            </a:pPr>
            <a:r>
              <a:rPr lang="en-US" sz="2200" u="none" strike="noStrike" spc="143" dirty="0">
                <a:solidFill>
                  <a:srgbClr val="6C6C6C"/>
                </a:solidFill>
                <a:latin typeface="Montaser Arabic Light"/>
                <a:ea typeface="Montaser Arabic Light"/>
                <a:cs typeface="Montaser Arabic Light"/>
                <a:sym typeface="Montaser Arabic Light"/>
              </a:rPr>
              <a:t>descrever a oferta das Fatecs, o peso do ensino a distância (EaD) e a taxa de conclusão.</a:t>
            </a:r>
          </a:p>
        </p:txBody>
      </p:sp>
      <p:sp>
        <p:nvSpPr>
          <p:cNvPr id="4" name="TextBox 4"/>
          <p:cNvSpPr txBox="1"/>
          <p:nvPr/>
        </p:nvSpPr>
        <p:spPr>
          <a:xfrm>
            <a:off x="1721247" y="1652730"/>
            <a:ext cx="8115300" cy="758572"/>
          </a:xfrm>
          <a:prstGeom prst="rect">
            <a:avLst/>
          </a:prstGeom>
        </p:spPr>
        <p:txBody>
          <a:bodyPr lIns="0" tIns="0" rIns="0" bIns="0" rtlCol="0" anchor="t">
            <a:spAutoFit/>
          </a:bodyPr>
          <a:lstStyle/>
          <a:p>
            <a:pPr marL="0" lvl="0" indent="0" algn="l">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OBJETIVOS</a:t>
            </a:r>
          </a:p>
        </p:txBody>
      </p:sp>
      <p:sp>
        <p:nvSpPr>
          <p:cNvPr id="5" name="AutoShape 5"/>
          <p:cNvSpPr/>
          <p:nvPr/>
        </p:nvSpPr>
        <p:spPr>
          <a:xfrm>
            <a:off x="16408773" y="38100"/>
            <a:ext cx="0" cy="4190056"/>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6" name="Group 6"/>
          <p:cNvGrpSpPr/>
          <p:nvPr/>
        </p:nvGrpSpPr>
        <p:grpSpPr>
          <a:xfrm rot="5400000">
            <a:off x="16250794" y="4347165"/>
            <a:ext cx="315960" cy="3159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8" name="TextBox 8"/>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9" name="Group 9"/>
          <p:cNvGrpSpPr/>
          <p:nvPr/>
        </p:nvGrpSpPr>
        <p:grpSpPr>
          <a:xfrm rot="5400000">
            <a:off x="16250794" y="4859818"/>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92382" y="0"/>
            <a:ext cx="5234391" cy="8912791"/>
          </a:xfrm>
          <a:custGeom>
            <a:avLst/>
            <a:gdLst/>
            <a:ahLst/>
            <a:cxnLst/>
            <a:rect l="l" t="t" r="r" b="b"/>
            <a:pathLst>
              <a:path w="5234391" h="8912791">
                <a:moveTo>
                  <a:pt x="0" y="0"/>
                </a:moveTo>
                <a:lnTo>
                  <a:pt x="5234391" y="0"/>
                </a:lnTo>
                <a:lnTo>
                  <a:pt x="5234391" y="8912791"/>
                </a:lnTo>
                <a:lnTo>
                  <a:pt x="0" y="8912791"/>
                </a:lnTo>
                <a:lnTo>
                  <a:pt x="0" y="0"/>
                </a:lnTo>
                <a:close/>
              </a:path>
            </a:pathLst>
          </a:custGeom>
          <a:blipFill>
            <a:blip r:embed="rId3"/>
            <a:stretch>
              <a:fillRect l="-7904" r="-165210" b="-6931"/>
            </a:stretch>
          </a:blipFill>
        </p:spPr>
        <p:txBody>
          <a:bodyPr/>
          <a:lstStyle/>
          <a:p>
            <a:endParaRPr lang="pt-BR"/>
          </a:p>
        </p:txBody>
      </p:sp>
      <p:sp>
        <p:nvSpPr>
          <p:cNvPr id="3" name="TextBox 3"/>
          <p:cNvSpPr txBox="1"/>
          <p:nvPr/>
        </p:nvSpPr>
        <p:spPr>
          <a:xfrm>
            <a:off x="7026773" y="3701737"/>
            <a:ext cx="9366150" cy="758572"/>
          </a:xfrm>
          <a:prstGeom prst="rect">
            <a:avLst/>
          </a:prstGeom>
        </p:spPr>
        <p:txBody>
          <a:bodyPr lIns="0" tIns="0" rIns="0" bIns="0" rtlCol="0" anchor="t">
            <a:spAutoFit/>
          </a:bodyPr>
          <a:lstStyle/>
          <a:p>
            <a:pPr marL="0" lvl="0" indent="0" algn="r">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REVISÃO TEÓRICA</a:t>
            </a:r>
          </a:p>
        </p:txBody>
      </p:sp>
      <p:sp>
        <p:nvSpPr>
          <p:cNvPr id="4" name="TextBox 4"/>
          <p:cNvSpPr txBox="1"/>
          <p:nvPr/>
        </p:nvSpPr>
        <p:spPr>
          <a:xfrm>
            <a:off x="7644563" y="5065452"/>
            <a:ext cx="8748360" cy="3384042"/>
          </a:xfrm>
          <a:prstGeom prst="rect">
            <a:avLst/>
          </a:prstGeom>
        </p:spPr>
        <p:txBody>
          <a:bodyPr lIns="0" tIns="0" rIns="0" bIns="0" rtlCol="0" anchor="t">
            <a:spAutoFit/>
          </a:bodyPr>
          <a:lstStyle/>
          <a:p>
            <a:pPr marL="0" lvl="0" indent="0" algn="r">
              <a:lnSpc>
                <a:spcPts val="3520"/>
              </a:lnSpc>
              <a:spcBef>
                <a:spcPct val="0"/>
              </a:spcBef>
            </a:pPr>
            <a:r>
              <a:rPr lang="en-US" sz="2200" u="none" strike="noStrike" spc="143">
                <a:solidFill>
                  <a:srgbClr val="6C6C6C"/>
                </a:solidFill>
                <a:latin typeface="Montaser Arabic Light"/>
                <a:ea typeface="Montaser Arabic Light"/>
                <a:cs typeface="Montaser Arabic Light"/>
                <a:sym typeface="Montaser Arabic Light"/>
              </a:rPr>
              <a:t>Segundo Carvalho e Reis (2024), cresceu no Brasil a proporção de trabalhadores sobre-educados, e Silva e Monte (2024) apontam que isso vem do aumento de formados e da pouca oferta de empregos qualificados. Os cursos seguem a Classificação Internacional Normalizada da Educação (CINE Brasil), do Instituto Nacional de Estudos e Pesquisas Educacionais Anísio Teixeira (INEP), e as ocupações, a Classificação Brasileira de Ocupações (CBO 2002), do Ministério do Trabalho e Emprego (MTE).</a:t>
            </a:r>
          </a:p>
        </p:txBody>
      </p:sp>
      <p:sp>
        <p:nvSpPr>
          <p:cNvPr id="5" name="AutoShape 5"/>
          <p:cNvSpPr/>
          <p:nvPr/>
        </p:nvSpPr>
        <p:spPr>
          <a:xfrm>
            <a:off x="11255245" y="1186680"/>
            <a:ext cx="4190056" cy="0"/>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6" name="Group 6"/>
          <p:cNvGrpSpPr/>
          <p:nvPr/>
        </p:nvGrpSpPr>
        <p:grpSpPr>
          <a:xfrm>
            <a:off x="15564310" y="1028700"/>
            <a:ext cx="315960" cy="3159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8" name="TextBox 8"/>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9" name="Group 9"/>
          <p:cNvGrpSpPr/>
          <p:nvPr/>
        </p:nvGrpSpPr>
        <p:grpSpPr>
          <a:xfrm>
            <a:off x="16076964" y="1028700"/>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2260292" y="4300762"/>
            <a:ext cx="810161" cy="810161"/>
            <a:chOff x="0" y="0"/>
            <a:chExt cx="323804" cy="323804"/>
          </a:xfrm>
        </p:grpSpPr>
        <p:sp>
          <p:nvSpPr>
            <p:cNvPr id="3" name="Freeform 3"/>
            <p:cNvSpPr/>
            <p:nvPr/>
          </p:nvSpPr>
          <p:spPr>
            <a:xfrm>
              <a:off x="0" y="0"/>
              <a:ext cx="323804" cy="323804"/>
            </a:xfrm>
            <a:custGeom>
              <a:avLst/>
              <a:gdLst/>
              <a:ahLst/>
              <a:cxnLst/>
              <a:rect l="l" t="t" r="r" b="b"/>
              <a:pathLst>
                <a:path w="323804" h="323804">
                  <a:moveTo>
                    <a:pt x="0" y="0"/>
                  </a:moveTo>
                  <a:lnTo>
                    <a:pt x="323804" y="0"/>
                  </a:lnTo>
                  <a:lnTo>
                    <a:pt x="323804" y="323804"/>
                  </a:lnTo>
                  <a:lnTo>
                    <a:pt x="0" y="323804"/>
                  </a:lnTo>
                  <a:close/>
                </a:path>
              </a:pathLst>
            </a:custGeom>
            <a:solidFill>
              <a:srgbClr val="000000"/>
            </a:solidFill>
          </p:spPr>
          <p:txBody>
            <a:bodyPr/>
            <a:lstStyle/>
            <a:p>
              <a:endParaRPr lang="pt-BR"/>
            </a:p>
          </p:txBody>
        </p:sp>
        <p:sp>
          <p:nvSpPr>
            <p:cNvPr id="4" name="TextBox 4"/>
            <p:cNvSpPr txBox="1"/>
            <p:nvPr/>
          </p:nvSpPr>
          <p:spPr>
            <a:xfrm>
              <a:off x="0" y="-114300"/>
              <a:ext cx="323804" cy="438104"/>
            </a:xfrm>
            <a:prstGeom prst="rect">
              <a:avLst/>
            </a:prstGeom>
          </p:spPr>
          <p:txBody>
            <a:bodyPr lIns="50800" tIns="50800" rIns="50800" bIns="50800" rtlCol="0" anchor="ctr"/>
            <a:lstStyle/>
            <a:p>
              <a:pPr algn="ctr">
                <a:lnSpc>
                  <a:spcPts val="3435"/>
                </a:lnSpc>
              </a:pPr>
              <a:endParaRPr/>
            </a:p>
          </p:txBody>
        </p:sp>
      </p:grpSp>
      <p:grpSp>
        <p:nvGrpSpPr>
          <p:cNvPr id="5" name="Group 5"/>
          <p:cNvGrpSpPr/>
          <p:nvPr/>
        </p:nvGrpSpPr>
        <p:grpSpPr>
          <a:xfrm>
            <a:off x="12260292" y="5666198"/>
            <a:ext cx="810161" cy="810161"/>
            <a:chOff x="0" y="0"/>
            <a:chExt cx="323804" cy="323804"/>
          </a:xfrm>
        </p:grpSpPr>
        <p:sp>
          <p:nvSpPr>
            <p:cNvPr id="6" name="Freeform 6"/>
            <p:cNvSpPr/>
            <p:nvPr/>
          </p:nvSpPr>
          <p:spPr>
            <a:xfrm>
              <a:off x="0" y="0"/>
              <a:ext cx="323804" cy="323804"/>
            </a:xfrm>
            <a:custGeom>
              <a:avLst/>
              <a:gdLst/>
              <a:ahLst/>
              <a:cxnLst/>
              <a:rect l="l" t="t" r="r" b="b"/>
              <a:pathLst>
                <a:path w="323804" h="323804">
                  <a:moveTo>
                    <a:pt x="0" y="0"/>
                  </a:moveTo>
                  <a:lnTo>
                    <a:pt x="323804" y="0"/>
                  </a:lnTo>
                  <a:lnTo>
                    <a:pt x="323804" y="323804"/>
                  </a:lnTo>
                  <a:lnTo>
                    <a:pt x="0" y="323804"/>
                  </a:lnTo>
                  <a:close/>
                </a:path>
              </a:pathLst>
            </a:custGeom>
            <a:solidFill>
              <a:srgbClr val="000000"/>
            </a:solidFill>
          </p:spPr>
          <p:txBody>
            <a:bodyPr/>
            <a:lstStyle/>
            <a:p>
              <a:endParaRPr lang="pt-BR"/>
            </a:p>
          </p:txBody>
        </p:sp>
        <p:sp>
          <p:nvSpPr>
            <p:cNvPr id="7" name="TextBox 7"/>
            <p:cNvSpPr txBox="1"/>
            <p:nvPr/>
          </p:nvSpPr>
          <p:spPr>
            <a:xfrm>
              <a:off x="0" y="-114300"/>
              <a:ext cx="323804" cy="438104"/>
            </a:xfrm>
            <a:prstGeom prst="rect">
              <a:avLst/>
            </a:prstGeom>
          </p:spPr>
          <p:txBody>
            <a:bodyPr lIns="50800" tIns="50800" rIns="50800" bIns="50800" rtlCol="0" anchor="ctr"/>
            <a:lstStyle/>
            <a:p>
              <a:pPr algn="ctr">
                <a:lnSpc>
                  <a:spcPts val="3435"/>
                </a:lnSpc>
              </a:pPr>
              <a:endParaRPr/>
            </a:p>
          </p:txBody>
        </p:sp>
      </p:grpSp>
      <p:grpSp>
        <p:nvGrpSpPr>
          <p:cNvPr id="8" name="Group 8"/>
          <p:cNvGrpSpPr/>
          <p:nvPr/>
        </p:nvGrpSpPr>
        <p:grpSpPr>
          <a:xfrm>
            <a:off x="12260292" y="7171683"/>
            <a:ext cx="810161" cy="810161"/>
            <a:chOff x="0" y="0"/>
            <a:chExt cx="323804" cy="323804"/>
          </a:xfrm>
        </p:grpSpPr>
        <p:sp>
          <p:nvSpPr>
            <p:cNvPr id="9" name="Freeform 9"/>
            <p:cNvSpPr/>
            <p:nvPr/>
          </p:nvSpPr>
          <p:spPr>
            <a:xfrm>
              <a:off x="0" y="0"/>
              <a:ext cx="323804" cy="323804"/>
            </a:xfrm>
            <a:custGeom>
              <a:avLst/>
              <a:gdLst/>
              <a:ahLst/>
              <a:cxnLst/>
              <a:rect l="l" t="t" r="r" b="b"/>
              <a:pathLst>
                <a:path w="323804" h="323804">
                  <a:moveTo>
                    <a:pt x="0" y="0"/>
                  </a:moveTo>
                  <a:lnTo>
                    <a:pt x="323804" y="0"/>
                  </a:lnTo>
                  <a:lnTo>
                    <a:pt x="323804" y="323804"/>
                  </a:lnTo>
                  <a:lnTo>
                    <a:pt x="0" y="323804"/>
                  </a:lnTo>
                  <a:close/>
                </a:path>
              </a:pathLst>
            </a:custGeom>
            <a:solidFill>
              <a:srgbClr val="000000"/>
            </a:solidFill>
          </p:spPr>
          <p:txBody>
            <a:bodyPr/>
            <a:lstStyle/>
            <a:p>
              <a:endParaRPr lang="pt-BR"/>
            </a:p>
          </p:txBody>
        </p:sp>
        <p:sp>
          <p:nvSpPr>
            <p:cNvPr id="10" name="TextBox 10"/>
            <p:cNvSpPr txBox="1"/>
            <p:nvPr/>
          </p:nvSpPr>
          <p:spPr>
            <a:xfrm>
              <a:off x="0" y="-114300"/>
              <a:ext cx="323804" cy="438104"/>
            </a:xfrm>
            <a:prstGeom prst="rect">
              <a:avLst/>
            </a:prstGeom>
          </p:spPr>
          <p:txBody>
            <a:bodyPr lIns="50800" tIns="50800" rIns="50800" bIns="50800" rtlCol="0" anchor="ctr"/>
            <a:lstStyle/>
            <a:p>
              <a:pPr algn="ctr">
                <a:lnSpc>
                  <a:spcPts val="3435"/>
                </a:lnSpc>
              </a:pPr>
              <a:endParaRPr/>
            </a:p>
          </p:txBody>
        </p:sp>
      </p:grpSp>
      <p:sp>
        <p:nvSpPr>
          <p:cNvPr id="11" name="Freeform 11"/>
          <p:cNvSpPr/>
          <p:nvPr/>
        </p:nvSpPr>
        <p:spPr>
          <a:xfrm>
            <a:off x="1772721" y="-38100"/>
            <a:ext cx="14606457" cy="3114630"/>
          </a:xfrm>
          <a:custGeom>
            <a:avLst/>
            <a:gdLst/>
            <a:ahLst/>
            <a:cxnLst/>
            <a:rect l="l" t="t" r="r" b="b"/>
            <a:pathLst>
              <a:path w="14606457" h="3114630">
                <a:moveTo>
                  <a:pt x="0" y="0"/>
                </a:moveTo>
                <a:lnTo>
                  <a:pt x="14606457" y="0"/>
                </a:lnTo>
                <a:lnTo>
                  <a:pt x="14606457" y="3114630"/>
                </a:lnTo>
                <a:lnTo>
                  <a:pt x="0" y="3114630"/>
                </a:lnTo>
                <a:lnTo>
                  <a:pt x="0" y="0"/>
                </a:lnTo>
                <a:close/>
              </a:path>
            </a:pathLst>
          </a:custGeom>
          <a:blipFill>
            <a:blip r:embed="rId3"/>
            <a:stretch>
              <a:fillRect l="-4098" t="-195042" b="-30818"/>
            </a:stretch>
          </a:blipFill>
        </p:spPr>
        <p:txBody>
          <a:bodyPr/>
          <a:lstStyle/>
          <a:p>
            <a:endParaRPr lang="pt-BR"/>
          </a:p>
        </p:txBody>
      </p:sp>
      <p:sp>
        <p:nvSpPr>
          <p:cNvPr id="12" name="TextBox 12"/>
          <p:cNvSpPr txBox="1"/>
          <p:nvPr/>
        </p:nvSpPr>
        <p:spPr>
          <a:xfrm>
            <a:off x="1772721" y="3463651"/>
            <a:ext cx="81153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METODOLOGIA</a:t>
            </a:r>
          </a:p>
        </p:txBody>
      </p:sp>
      <p:sp>
        <p:nvSpPr>
          <p:cNvPr id="13" name="TextBox 13"/>
          <p:cNvSpPr txBox="1"/>
          <p:nvPr/>
        </p:nvSpPr>
        <p:spPr>
          <a:xfrm>
            <a:off x="12346377" y="4475176"/>
            <a:ext cx="637992" cy="499432"/>
          </a:xfrm>
          <a:prstGeom prst="rect">
            <a:avLst/>
          </a:prstGeom>
        </p:spPr>
        <p:txBody>
          <a:bodyPr lIns="0" tIns="0" rIns="0" bIns="0" rtlCol="0" anchor="t">
            <a:spAutoFit/>
          </a:bodyPr>
          <a:lstStyle/>
          <a:p>
            <a:pPr marL="0" lvl="0" indent="0" algn="ctr">
              <a:lnSpc>
                <a:spcPts val="3843"/>
              </a:lnSpc>
              <a:spcBef>
                <a:spcPct val="0"/>
              </a:spcBef>
            </a:pPr>
            <a:r>
              <a:rPr lang="en-US" sz="3558" spc="604">
                <a:solidFill>
                  <a:srgbClr val="BFBFBF"/>
                </a:solidFill>
                <a:latin typeface="Montaser Arabic"/>
                <a:ea typeface="Montaser Arabic"/>
                <a:cs typeface="Montaser Arabic"/>
                <a:sym typeface="Montaser Arabic"/>
              </a:rPr>
              <a:t>1</a:t>
            </a:r>
          </a:p>
        </p:txBody>
      </p:sp>
      <p:sp>
        <p:nvSpPr>
          <p:cNvPr id="14" name="TextBox 14"/>
          <p:cNvSpPr txBox="1"/>
          <p:nvPr/>
        </p:nvSpPr>
        <p:spPr>
          <a:xfrm>
            <a:off x="12346377" y="5840612"/>
            <a:ext cx="637992" cy="499432"/>
          </a:xfrm>
          <a:prstGeom prst="rect">
            <a:avLst/>
          </a:prstGeom>
        </p:spPr>
        <p:txBody>
          <a:bodyPr lIns="0" tIns="0" rIns="0" bIns="0" rtlCol="0" anchor="t">
            <a:spAutoFit/>
          </a:bodyPr>
          <a:lstStyle/>
          <a:p>
            <a:pPr marL="0" lvl="0" indent="0" algn="ctr">
              <a:lnSpc>
                <a:spcPts val="3843"/>
              </a:lnSpc>
              <a:spcBef>
                <a:spcPct val="0"/>
              </a:spcBef>
            </a:pPr>
            <a:r>
              <a:rPr lang="en-US" sz="3558" spc="604">
                <a:solidFill>
                  <a:srgbClr val="BFBFBF"/>
                </a:solidFill>
                <a:latin typeface="Montaser Arabic"/>
                <a:ea typeface="Montaser Arabic"/>
                <a:cs typeface="Montaser Arabic"/>
                <a:sym typeface="Montaser Arabic"/>
              </a:rPr>
              <a:t>2</a:t>
            </a:r>
          </a:p>
        </p:txBody>
      </p:sp>
      <p:sp>
        <p:nvSpPr>
          <p:cNvPr id="15" name="TextBox 15"/>
          <p:cNvSpPr txBox="1"/>
          <p:nvPr/>
        </p:nvSpPr>
        <p:spPr>
          <a:xfrm>
            <a:off x="12346377" y="7346098"/>
            <a:ext cx="637992" cy="499432"/>
          </a:xfrm>
          <a:prstGeom prst="rect">
            <a:avLst/>
          </a:prstGeom>
        </p:spPr>
        <p:txBody>
          <a:bodyPr lIns="0" tIns="0" rIns="0" bIns="0" rtlCol="0" anchor="t">
            <a:spAutoFit/>
          </a:bodyPr>
          <a:lstStyle/>
          <a:p>
            <a:pPr marL="0" lvl="0" indent="0" algn="ctr">
              <a:lnSpc>
                <a:spcPts val="3843"/>
              </a:lnSpc>
              <a:spcBef>
                <a:spcPct val="0"/>
              </a:spcBef>
            </a:pPr>
            <a:r>
              <a:rPr lang="en-US" sz="3558" spc="604">
                <a:solidFill>
                  <a:srgbClr val="BFBFBF"/>
                </a:solidFill>
                <a:latin typeface="Montaser Arabic"/>
                <a:ea typeface="Montaser Arabic"/>
                <a:cs typeface="Montaser Arabic"/>
                <a:sym typeface="Montaser Arabic"/>
              </a:rPr>
              <a:t>3</a:t>
            </a:r>
          </a:p>
        </p:txBody>
      </p:sp>
      <p:sp>
        <p:nvSpPr>
          <p:cNvPr id="16" name="TextBox 16"/>
          <p:cNvSpPr txBox="1"/>
          <p:nvPr/>
        </p:nvSpPr>
        <p:spPr>
          <a:xfrm>
            <a:off x="13501889" y="4462779"/>
            <a:ext cx="1624246" cy="438503"/>
          </a:xfrm>
          <a:prstGeom prst="rect">
            <a:avLst/>
          </a:prstGeom>
        </p:spPr>
        <p:txBody>
          <a:bodyPr lIns="0" tIns="0" rIns="0" bIns="0" rtlCol="0" anchor="t">
            <a:spAutoFit/>
          </a:bodyPr>
          <a:lstStyle/>
          <a:p>
            <a:pPr algn="just">
              <a:lnSpc>
                <a:spcPts val="3655"/>
              </a:lnSpc>
            </a:pPr>
            <a:r>
              <a:rPr lang="en-US" sz="2611" b="1">
                <a:solidFill>
                  <a:srgbClr val="5D5D5D"/>
                </a:solidFill>
                <a:latin typeface="Montaser Arabic"/>
                <a:ea typeface="Montaser Arabic"/>
                <a:cs typeface="Montaser Arabic"/>
                <a:sym typeface="Montaser Arabic"/>
              </a:rPr>
              <a:t>COLETA</a:t>
            </a:r>
          </a:p>
        </p:txBody>
      </p:sp>
      <p:sp>
        <p:nvSpPr>
          <p:cNvPr id="17" name="TextBox 17"/>
          <p:cNvSpPr txBox="1"/>
          <p:nvPr/>
        </p:nvSpPr>
        <p:spPr>
          <a:xfrm>
            <a:off x="13501889" y="7407027"/>
            <a:ext cx="1624246" cy="438503"/>
          </a:xfrm>
          <a:prstGeom prst="rect">
            <a:avLst/>
          </a:prstGeom>
        </p:spPr>
        <p:txBody>
          <a:bodyPr lIns="0" tIns="0" rIns="0" bIns="0" rtlCol="0" anchor="t">
            <a:spAutoFit/>
          </a:bodyPr>
          <a:lstStyle/>
          <a:p>
            <a:pPr algn="just">
              <a:lnSpc>
                <a:spcPts val="3655"/>
              </a:lnSpc>
            </a:pPr>
            <a:r>
              <a:rPr lang="en-US" sz="2611" b="1">
                <a:solidFill>
                  <a:srgbClr val="5D5D5D"/>
                </a:solidFill>
                <a:latin typeface="Montaser Arabic"/>
                <a:ea typeface="Montaser Arabic"/>
                <a:cs typeface="Montaser Arabic"/>
                <a:sym typeface="Montaser Arabic"/>
              </a:rPr>
              <a:t>ANÁLISE</a:t>
            </a:r>
          </a:p>
        </p:txBody>
      </p:sp>
      <p:sp>
        <p:nvSpPr>
          <p:cNvPr id="18" name="TextBox 18"/>
          <p:cNvSpPr txBox="1"/>
          <p:nvPr/>
        </p:nvSpPr>
        <p:spPr>
          <a:xfrm>
            <a:off x="13501889" y="5828214"/>
            <a:ext cx="2877289" cy="438503"/>
          </a:xfrm>
          <a:prstGeom prst="rect">
            <a:avLst/>
          </a:prstGeom>
        </p:spPr>
        <p:txBody>
          <a:bodyPr lIns="0" tIns="0" rIns="0" bIns="0" rtlCol="0" anchor="t">
            <a:spAutoFit/>
          </a:bodyPr>
          <a:lstStyle/>
          <a:p>
            <a:pPr algn="l">
              <a:lnSpc>
                <a:spcPts val="3655"/>
              </a:lnSpc>
            </a:pPr>
            <a:r>
              <a:rPr lang="en-US" sz="2611" b="1">
                <a:solidFill>
                  <a:srgbClr val="5D5D5D"/>
                </a:solidFill>
                <a:latin typeface="Montaser Arabic"/>
                <a:ea typeface="Montaser Arabic"/>
                <a:cs typeface="Montaser Arabic"/>
                <a:sym typeface="Montaser Arabic"/>
              </a:rPr>
              <a:t>ORGANIZAÇÃO</a:t>
            </a:r>
          </a:p>
        </p:txBody>
      </p:sp>
      <p:sp>
        <p:nvSpPr>
          <p:cNvPr id="19" name="TextBox 19"/>
          <p:cNvSpPr txBox="1"/>
          <p:nvPr/>
        </p:nvSpPr>
        <p:spPr>
          <a:xfrm>
            <a:off x="1772721" y="5169302"/>
            <a:ext cx="9347373" cy="2812542"/>
          </a:xfrm>
          <a:prstGeom prst="rect">
            <a:avLst/>
          </a:prstGeom>
        </p:spPr>
        <p:txBody>
          <a:bodyPr lIns="0" tIns="0" rIns="0" bIns="0" rtlCol="0" anchor="t">
            <a:spAutoFit/>
          </a:bodyPr>
          <a:lstStyle/>
          <a:p>
            <a:pPr marL="0" lvl="0" indent="0" algn="l">
              <a:lnSpc>
                <a:spcPts val="3520"/>
              </a:lnSpc>
              <a:spcBef>
                <a:spcPct val="0"/>
              </a:spcBef>
            </a:pPr>
            <a:r>
              <a:rPr lang="en-US" sz="2200" u="none" strike="noStrike" spc="143">
                <a:solidFill>
                  <a:srgbClr val="6C6C6C"/>
                </a:solidFill>
                <a:latin typeface="Montaser Arabic Light"/>
                <a:ea typeface="Montaser Arabic Light"/>
                <a:cs typeface="Montaser Arabic Light"/>
                <a:sym typeface="Montaser Arabic Light"/>
              </a:rPr>
              <a:t>A pesquisa adota uma abordagem quantitativa e descritiva fundamentada em diretrizes científicas (Gil, 2017), com dados públicos de 2020 a 2024 dos oito municípios da Sub-região Oeste. O tratamento foi feito em Python e a organização em dashboards no Power BI.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9144000" y="1028700"/>
            <a:ext cx="8115300" cy="8229600"/>
          </a:xfrm>
          <a:custGeom>
            <a:avLst/>
            <a:gdLst/>
            <a:ahLst/>
            <a:cxnLst/>
            <a:rect l="l" t="t" r="r" b="b"/>
            <a:pathLst>
              <a:path w="8115300" h="8229600">
                <a:moveTo>
                  <a:pt x="0" y="0"/>
                </a:moveTo>
                <a:lnTo>
                  <a:pt x="8115300" y="0"/>
                </a:lnTo>
                <a:lnTo>
                  <a:pt x="8115300" y="8229600"/>
                </a:lnTo>
                <a:lnTo>
                  <a:pt x="0" y="8229600"/>
                </a:lnTo>
                <a:lnTo>
                  <a:pt x="0" y="0"/>
                </a:lnTo>
                <a:close/>
              </a:path>
            </a:pathLst>
          </a:custGeom>
          <a:blipFill>
            <a:blip r:embed="rId3"/>
            <a:stretch>
              <a:fillRect l="-22535" r="-12676"/>
            </a:stretch>
          </a:blipFill>
        </p:spPr>
        <p:txBody>
          <a:bodyPr/>
          <a:lstStyle/>
          <a:p>
            <a:endParaRPr lang="pt-BR"/>
          </a:p>
        </p:txBody>
      </p:sp>
      <p:grpSp>
        <p:nvGrpSpPr>
          <p:cNvPr id="3" name="Group 3"/>
          <p:cNvGrpSpPr/>
          <p:nvPr/>
        </p:nvGrpSpPr>
        <p:grpSpPr>
          <a:xfrm>
            <a:off x="0" y="3298200"/>
            <a:ext cx="12564775" cy="4410867"/>
            <a:chOff x="0" y="0"/>
            <a:chExt cx="3309241" cy="1161710"/>
          </a:xfrm>
        </p:grpSpPr>
        <p:sp>
          <p:nvSpPr>
            <p:cNvPr id="4" name="Freeform 4"/>
            <p:cNvSpPr/>
            <p:nvPr/>
          </p:nvSpPr>
          <p:spPr>
            <a:xfrm>
              <a:off x="0" y="0"/>
              <a:ext cx="3309241" cy="1161710"/>
            </a:xfrm>
            <a:custGeom>
              <a:avLst/>
              <a:gdLst/>
              <a:ahLst/>
              <a:cxnLst/>
              <a:rect l="l" t="t" r="r" b="b"/>
              <a:pathLst>
                <a:path w="3309241" h="1161710">
                  <a:moveTo>
                    <a:pt x="0" y="0"/>
                  </a:moveTo>
                  <a:lnTo>
                    <a:pt x="3309241" y="0"/>
                  </a:lnTo>
                  <a:lnTo>
                    <a:pt x="3309241" y="1161710"/>
                  </a:lnTo>
                  <a:lnTo>
                    <a:pt x="0" y="1161710"/>
                  </a:lnTo>
                  <a:close/>
                </a:path>
              </a:pathLst>
            </a:custGeom>
            <a:solidFill>
              <a:srgbClr val="FFFFFF"/>
            </a:solidFill>
          </p:spPr>
          <p:txBody>
            <a:bodyPr/>
            <a:lstStyle/>
            <a:p>
              <a:endParaRPr lang="pt-BR"/>
            </a:p>
          </p:txBody>
        </p:sp>
        <p:sp>
          <p:nvSpPr>
            <p:cNvPr id="5" name="TextBox 5"/>
            <p:cNvSpPr txBox="1"/>
            <p:nvPr/>
          </p:nvSpPr>
          <p:spPr>
            <a:xfrm>
              <a:off x="0" y="-47625"/>
              <a:ext cx="3309241" cy="1209335"/>
            </a:xfrm>
            <a:prstGeom prst="rect">
              <a:avLst/>
            </a:prstGeom>
          </p:spPr>
          <p:txBody>
            <a:bodyPr lIns="50800" tIns="50800" rIns="50800" bIns="50800" rtlCol="0" anchor="ctr"/>
            <a:lstStyle/>
            <a:p>
              <a:pPr algn="ctr">
                <a:lnSpc>
                  <a:spcPts val="3429"/>
                </a:lnSpc>
              </a:pPr>
              <a:endParaRPr/>
            </a:p>
          </p:txBody>
        </p:sp>
      </p:grpSp>
      <p:sp>
        <p:nvSpPr>
          <p:cNvPr id="6" name="TextBox 6"/>
          <p:cNvSpPr txBox="1"/>
          <p:nvPr/>
        </p:nvSpPr>
        <p:spPr>
          <a:xfrm>
            <a:off x="1737360" y="2605752"/>
            <a:ext cx="7406640" cy="758572"/>
          </a:xfrm>
          <a:prstGeom prst="rect">
            <a:avLst/>
          </a:prstGeom>
        </p:spPr>
        <p:txBody>
          <a:bodyPr lIns="0" tIns="0" rIns="0" bIns="0" rtlCol="0" anchor="t">
            <a:spAutoFit/>
          </a:bodyPr>
          <a:lstStyle/>
          <a:p>
            <a:pPr marL="0" lvl="0" indent="0" algn="l">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COLETA</a:t>
            </a:r>
          </a:p>
        </p:txBody>
      </p:sp>
      <p:sp>
        <p:nvSpPr>
          <p:cNvPr id="7" name="TextBox 7"/>
          <p:cNvSpPr txBox="1"/>
          <p:nvPr/>
        </p:nvSpPr>
        <p:spPr>
          <a:xfrm>
            <a:off x="1737360" y="4158332"/>
            <a:ext cx="9326880" cy="2812542"/>
          </a:xfrm>
          <a:prstGeom prst="rect">
            <a:avLst/>
          </a:prstGeom>
        </p:spPr>
        <p:txBody>
          <a:bodyPr lIns="0" tIns="0" rIns="0" bIns="0" rtlCol="0" anchor="t">
            <a:spAutoFit/>
          </a:bodyPr>
          <a:lstStyle/>
          <a:p>
            <a:pPr marL="342900" lvl="0" indent="-342900" algn="l">
              <a:lnSpc>
                <a:spcPts val="3840"/>
              </a:lnSpc>
              <a:spcBef>
                <a:spcPct val="0"/>
              </a:spcBef>
              <a:buChar char="•"/>
            </a:pPr>
            <a:r>
              <a:rPr lang="en-US" sz="2400" u="none" strike="noStrike" spc="143">
                <a:solidFill>
                  <a:srgbClr val="6C6C6C"/>
                </a:solidFill>
                <a:latin typeface="Montaser Arabic"/>
                <a:ea typeface="Montaser Arabic"/>
                <a:cs typeface="Montaser Arabic"/>
                <a:sym typeface="Montaser Arabic"/>
              </a:rPr>
              <a:t>INEP: Censo da Educação Superior</a:t>
            </a:r>
          </a:p>
          <a:p>
            <a:pPr marL="342900" lvl="0" indent="-342900" algn="l">
              <a:lnSpc>
                <a:spcPts val="3840"/>
              </a:lnSpc>
              <a:spcBef>
                <a:spcPct val="0"/>
              </a:spcBef>
              <a:buChar char="•"/>
            </a:pPr>
            <a:r>
              <a:rPr lang="en-US" sz="2400" u="none" strike="noStrike" spc="143">
                <a:solidFill>
                  <a:srgbClr val="6C6C6C"/>
                </a:solidFill>
                <a:latin typeface="Montaser Arabic"/>
                <a:ea typeface="Montaser Arabic"/>
                <a:cs typeface="Montaser Arabic"/>
                <a:sym typeface="Montaser Arabic"/>
              </a:rPr>
              <a:t>MTE: Novo Cadastro Geral de Empregados e Desempregados (Novo CAGED) e Relação Anual de Informações Sociais (RAIS)</a:t>
            </a:r>
          </a:p>
          <a:p>
            <a:pPr marL="342900" lvl="0" indent="-342900" algn="l">
              <a:lnSpc>
                <a:spcPts val="3840"/>
              </a:lnSpc>
              <a:spcBef>
                <a:spcPct val="0"/>
              </a:spcBef>
              <a:buChar char="•"/>
            </a:pPr>
            <a:r>
              <a:rPr lang="en-US" sz="2400" u="none" strike="noStrike" spc="143">
                <a:solidFill>
                  <a:srgbClr val="6C6C6C"/>
                </a:solidFill>
                <a:latin typeface="Montaser Arabic"/>
                <a:ea typeface="Montaser Arabic"/>
                <a:cs typeface="Montaser Arabic"/>
                <a:sym typeface="Montaser Arabic"/>
              </a:rPr>
              <a:t>Instituto Brasileiro de Geografia e Estatística (IBGE): Censo Demográfico 2022</a:t>
            </a:r>
          </a:p>
        </p:txBody>
      </p:sp>
      <p:sp>
        <p:nvSpPr>
          <p:cNvPr id="8" name="AutoShape 8"/>
          <p:cNvSpPr/>
          <p:nvPr/>
        </p:nvSpPr>
        <p:spPr>
          <a:xfrm>
            <a:off x="1579081" y="8763221"/>
            <a:ext cx="4190056" cy="0"/>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9" name="Group 9"/>
          <p:cNvGrpSpPr/>
          <p:nvPr/>
        </p:nvGrpSpPr>
        <p:grpSpPr>
          <a:xfrm>
            <a:off x="5888146" y="8605241"/>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12" name="Group 12"/>
          <p:cNvGrpSpPr/>
          <p:nvPr/>
        </p:nvGrpSpPr>
        <p:grpSpPr>
          <a:xfrm>
            <a:off x="6400800" y="8605241"/>
            <a:ext cx="315960" cy="315960"/>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4" name="TextBox 14"/>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92382" y="0"/>
            <a:ext cx="5234391" cy="8912791"/>
          </a:xfrm>
          <a:custGeom>
            <a:avLst/>
            <a:gdLst/>
            <a:ahLst/>
            <a:cxnLst/>
            <a:rect l="l" t="t" r="r" b="b"/>
            <a:pathLst>
              <a:path w="5234391" h="8912791">
                <a:moveTo>
                  <a:pt x="0" y="0"/>
                </a:moveTo>
                <a:lnTo>
                  <a:pt x="5234391" y="0"/>
                </a:lnTo>
                <a:lnTo>
                  <a:pt x="5234391" y="8912791"/>
                </a:lnTo>
                <a:lnTo>
                  <a:pt x="0" y="8912791"/>
                </a:lnTo>
                <a:lnTo>
                  <a:pt x="0" y="0"/>
                </a:lnTo>
                <a:close/>
              </a:path>
            </a:pathLst>
          </a:custGeom>
          <a:blipFill>
            <a:blip r:embed="rId3"/>
            <a:stretch>
              <a:fillRect l="-7904" r="-165210" b="-6931"/>
            </a:stretch>
          </a:blipFill>
        </p:spPr>
        <p:txBody>
          <a:bodyPr/>
          <a:lstStyle/>
          <a:p>
            <a:endParaRPr lang="pt-BR"/>
          </a:p>
        </p:txBody>
      </p:sp>
      <p:sp>
        <p:nvSpPr>
          <p:cNvPr id="3" name="TextBox 3"/>
          <p:cNvSpPr txBox="1"/>
          <p:nvPr/>
        </p:nvSpPr>
        <p:spPr>
          <a:xfrm>
            <a:off x="7026773" y="3701737"/>
            <a:ext cx="9366150" cy="758572"/>
          </a:xfrm>
          <a:prstGeom prst="rect">
            <a:avLst/>
          </a:prstGeom>
        </p:spPr>
        <p:txBody>
          <a:bodyPr lIns="0" tIns="0" rIns="0" bIns="0" rtlCol="0" anchor="t">
            <a:spAutoFit/>
          </a:bodyPr>
          <a:lstStyle/>
          <a:p>
            <a:pPr marL="0" lvl="0" indent="0" algn="r">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ORGANIZAÇÃO</a:t>
            </a:r>
          </a:p>
        </p:txBody>
      </p:sp>
      <p:sp>
        <p:nvSpPr>
          <p:cNvPr id="4" name="TextBox 4"/>
          <p:cNvSpPr txBox="1"/>
          <p:nvPr/>
        </p:nvSpPr>
        <p:spPr>
          <a:xfrm>
            <a:off x="7644563" y="5065452"/>
            <a:ext cx="8748360" cy="3384042"/>
          </a:xfrm>
          <a:prstGeom prst="rect">
            <a:avLst/>
          </a:prstGeom>
        </p:spPr>
        <p:txBody>
          <a:bodyPr lIns="0" tIns="0" rIns="0" bIns="0" rtlCol="0" anchor="t">
            <a:spAutoFit/>
          </a:bodyPr>
          <a:lstStyle/>
          <a:p>
            <a:pPr marL="0" lvl="0" indent="0" algn="r">
              <a:lnSpc>
                <a:spcPts val="3520"/>
              </a:lnSpc>
              <a:spcBef>
                <a:spcPct val="0"/>
              </a:spcBef>
            </a:pPr>
            <a:r>
              <a:rPr lang="en-US" sz="2200" u="none" strike="noStrike" spc="143">
                <a:solidFill>
                  <a:srgbClr val="6C6C6C"/>
                </a:solidFill>
                <a:latin typeface="Montaser Arabic Light"/>
                <a:ea typeface="Montaser Arabic Light"/>
                <a:cs typeface="Montaser Arabic Light"/>
                <a:sym typeface="Montaser Arabic Light"/>
              </a:rPr>
              <a:t>Uma tabela de-para com 79 regras liga a área de cada curso (CINE) às ocupações (CBO), cobrindo 99% das admissões de formados em cargos qualificados. Na oferta foram consideradas apenas as cinco Fatecs da região, e no Power BI os dados formam um modelo estrela ligado por município, ano e área.</a:t>
            </a:r>
          </a:p>
        </p:txBody>
      </p:sp>
      <p:sp>
        <p:nvSpPr>
          <p:cNvPr id="5" name="AutoShape 5"/>
          <p:cNvSpPr/>
          <p:nvPr/>
        </p:nvSpPr>
        <p:spPr>
          <a:xfrm>
            <a:off x="11255245" y="1186680"/>
            <a:ext cx="4190056" cy="0"/>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6" name="Group 6"/>
          <p:cNvGrpSpPr/>
          <p:nvPr/>
        </p:nvGrpSpPr>
        <p:grpSpPr>
          <a:xfrm>
            <a:off x="15564310" y="1028700"/>
            <a:ext cx="315960" cy="3159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8" name="TextBox 8"/>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9" name="Group 9"/>
          <p:cNvGrpSpPr/>
          <p:nvPr/>
        </p:nvGrpSpPr>
        <p:grpSpPr>
          <a:xfrm>
            <a:off x="16076964" y="1028700"/>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59" y="1736320"/>
            <a:ext cx="7645250" cy="6814359"/>
          </a:xfrm>
          <a:custGeom>
            <a:avLst/>
            <a:gdLst/>
            <a:ahLst/>
            <a:cxnLst/>
            <a:rect l="l" t="t" r="r" b="b"/>
            <a:pathLst>
              <a:path w="7828899" h="6814359">
                <a:moveTo>
                  <a:pt x="0" y="0"/>
                </a:moveTo>
                <a:lnTo>
                  <a:pt x="7828899" y="0"/>
                </a:lnTo>
                <a:lnTo>
                  <a:pt x="7828899" y="6814360"/>
                </a:lnTo>
                <a:lnTo>
                  <a:pt x="0" y="6814360"/>
                </a:lnTo>
                <a:lnTo>
                  <a:pt x="0" y="0"/>
                </a:lnTo>
                <a:close/>
              </a:path>
            </a:pathLst>
          </a:custGeom>
          <a:blipFill>
            <a:blip r:embed="rId3"/>
            <a:stretch>
              <a:fillRect l="-2402" t="-20768" r="-59162"/>
            </a:stretch>
          </a:blipFill>
        </p:spPr>
        <p:txBody>
          <a:bodyPr/>
          <a:lstStyle/>
          <a:p>
            <a:endParaRPr lang="pt-BR"/>
          </a:p>
        </p:txBody>
      </p:sp>
      <p:sp>
        <p:nvSpPr>
          <p:cNvPr id="3" name="Freeform 3"/>
          <p:cNvSpPr/>
          <p:nvPr/>
        </p:nvSpPr>
        <p:spPr>
          <a:xfrm>
            <a:off x="16449296" y="1736319"/>
            <a:ext cx="1838704" cy="6814359"/>
          </a:xfrm>
          <a:custGeom>
            <a:avLst/>
            <a:gdLst/>
            <a:ahLst/>
            <a:cxnLst/>
            <a:rect l="l" t="t" r="r" b="b"/>
            <a:pathLst>
              <a:path w="1838704" h="6814359">
                <a:moveTo>
                  <a:pt x="0" y="0"/>
                </a:moveTo>
                <a:lnTo>
                  <a:pt x="1838704" y="0"/>
                </a:lnTo>
                <a:lnTo>
                  <a:pt x="1838704" y="6814360"/>
                </a:lnTo>
                <a:lnTo>
                  <a:pt x="0" y="6814360"/>
                </a:lnTo>
                <a:lnTo>
                  <a:pt x="0" y="0"/>
                </a:lnTo>
                <a:close/>
              </a:path>
            </a:pathLst>
          </a:custGeom>
          <a:blipFill>
            <a:blip r:embed="rId3"/>
            <a:stretch>
              <a:fillRect t="-20768" r="-571783"/>
            </a:stretch>
          </a:blipFill>
        </p:spPr>
        <p:txBody>
          <a:bodyPr/>
          <a:lstStyle/>
          <a:p>
            <a:endParaRPr lang="pt-BR"/>
          </a:p>
        </p:txBody>
      </p:sp>
      <p:sp>
        <p:nvSpPr>
          <p:cNvPr id="4" name="TextBox 4"/>
          <p:cNvSpPr txBox="1"/>
          <p:nvPr/>
        </p:nvSpPr>
        <p:spPr>
          <a:xfrm>
            <a:off x="8637579" y="3002930"/>
            <a:ext cx="7393805" cy="758572"/>
          </a:xfrm>
          <a:prstGeom prst="rect">
            <a:avLst/>
          </a:prstGeom>
        </p:spPr>
        <p:txBody>
          <a:bodyPr lIns="0" tIns="0" rIns="0" bIns="0" rtlCol="0" anchor="t">
            <a:spAutoFit/>
          </a:bodyPr>
          <a:lstStyle/>
          <a:p>
            <a:pPr algn="l">
              <a:lnSpc>
                <a:spcPts val="5832"/>
              </a:lnSpc>
            </a:pPr>
            <a:r>
              <a:rPr lang="en-US" sz="5400" spc="918">
                <a:solidFill>
                  <a:srgbClr val="000000"/>
                </a:solidFill>
                <a:latin typeface="Montaser Arabic"/>
                <a:ea typeface="Montaser Arabic"/>
                <a:cs typeface="Montaser Arabic"/>
                <a:sym typeface="Montaser Arabic"/>
              </a:rPr>
              <a:t>ANÁLISE</a:t>
            </a:r>
          </a:p>
        </p:txBody>
      </p:sp>
      <p:sp>
        <p:nvSpPr>
          <p:cNvPr id="5" name="TextBox 5"/>
          <p:cNvSpPr txBox="1"/>
          <p:nvPr/>
        </p:nvSpPr>
        <p:spPr>
          <a:xfrm>
            <a:off x="8637579" y="4010742"/>
            <a:ext cx="7645250" cy="3955542"/>
          </a:xfrm>
          <a:prstGeom prst="rect">
            <a:avLst/>
          </a:prstGeom>
        </p:spPr>
        <p:txBody>
          <a:bodyPr lIns="0" tIns="0" rIns="0" bIns="0" rtlCol="0" anchor="t">
            <a:spAutoFit/>
          </a:bodyPr>
          <a:lstStyle/>
          <a:p>
            <a:pPr marL="342900" indent="-342900" algn="l">
              <a:lnSpc>
                <a:spcPts val="3520"/>
              </a:lnSpc>
              <a:buChar char="•"/>
            </a:pPr>
            <a:r>
              <a:rPr lang="en-US" sz="2200" spc="143">
                <a:solidFill>
                  <a:srgbClr val="6C6C6C"/>
                </a:solidFill>
                <a:latin typeface="Montaser Arabic"/>
                <a:ea typeface="Montaser Arabic"/>
                <a:cs typeface="Montaser Arabic"/>
                <a:sym typeface="Montaser Arabic"/>
              </a:rPr>
              <a:t>Descompasso: admissões de formados na área ÷ concluintes das Fatecs na área</a:t>
            </a:r>
          </a:p>
          <a:p>
            <a:pPr marL="342900" indent="-342900" algn="l">
              <a:lnSpc>
                <a:spcPts val="3520"/>
              </a:lnSpc>
              <a:buChar char="•"/>
            </a:pPr>
            <a:r>
              <a:rPr lang="en-US" sz="2200" spc="143">
                <a:solidFill>
                  <a:srgbClr val="6C6C6C"/>
                </a:solidFill>
                <a:latin typeface="Montaser Arabic"/>
                <a:ea typeface="Montaser Arabic"/>
                <a:cs typeface="Montaser Arabic"/>
                <a:sym typeface="Montaser Arabic"/>
              </a:rPr>
              <a:t>Prêmio salarial: salário mediano com nível superior ÷ com nível médio</a:t>
            </a:r>
          </a:p>
          <a:p>
            <a:pPr marL="342900" indent="-342900" algn="l">
              <a:lnSpc>
                <a:spcPts val="3520"/>
              </a:lnSpc>
              <a:buChar char="•"/>
            </a:pPr>
            <a:r>
              <a:rPr lang="en-US" sz="2200" spc="143">
                <a:solidFill>
                  <a:srgbClr val="6C6C6C"/>
                </a:solidFill>
                <a:latin typeface="Montaser Arabic"/>
                <a:ea typeface="Montaser Arabic"/>
                <a:cs typeface="Montaser Arabic"/>
                <a:sym typeface="Montaser Arabic"/>
              </a:rPr>
              <a:t>Sobrequalificação: formados admitidos em vagas de nível médio</a:t>
            </a:r>
          </a:p>
          <a:p>
            <a:pPr marL="342900" indent="-342900" algn="l">
              <a:lnSpc>
                <a:spcPts val="3520"/>
              </a:lnSpc>
              <a:buChar char="•"/>
            </a:pPr>
            <a:r>
              <a:rPr lang="en-US" sz="2200" spc="143">
                <a:solidFill>
                  <a:srgbClr val="6C6C6C"/>
                </a:solidFill>
                <a:latin typeface="Montaser Arabic"/>
                <a:ea typeface="Montaser Arabic"/>
                <a:cs typeface="Montaser Arabic"/>
                <a:sym typeface="Montaser Arabic"/>
              </a:rPr>
              <a:t>Taxa de conclusão: concluintes ÷ ingressantes de três anos antes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1E1E1"/>
        </a:solidFill>
        <a:effectLst/>
      </p:bgPr>
    </p:bg>
    <p:spTree>
      <p:nvGrpSpPr>
        <p:cNvPr id="1" name=""/>
        <p:cNvGrpSpPr/>
        <p:nvPr/>
      </p:nvGrpSpPr>
      <p:grpSpPr>
        <a:xfrm>
          <a:off x="0" y="0"/>
          <a:ext cx="0" cy="0"/>
          <a:chOff x="0" y="0"/>
          <a:chExt cx="0" cy="0"/>
        </a:xfrm>
      </p:grpSpPr>
      <p:grpSp>
        <p:nvGrpSpPr>
          <p:cNvPr id="2" name="Group 2"/>
          <p:cNvGrpSpPr/>
          <p:nvPr/>
        </p:nvGrpSpPr>
        <p:grpSpPr>
          <a:xfrm>
            <a:off x="741054" y="-876300"/>
            <a:ext cx="9422041" cy="9677400"/>
            <a:chOff x="0" y="0"/>
            <a:chExt cx="2481525" cy="2979201"/>
          </a:xfrm>
        </p:grpSpPr>
        <p:sp>
          <p:nvSpPr>
            <p:cNvPr id="3" name="Freeform 3"/>
            <p:cNvSpPr/>
            <p:nvPr/>
          </p:nvSpPr>
          <p:spPr>
            <a:xfrm>
              <a:off x="0" y="0"/>
              <a:ext cx="2481525" cy="2979201"/>
            </a:xfrm>
            <a:custGeom>
              <a:avLst/>
              <a:gdLst/>
              <a:ahLst/>
              <a:cxnLst/>
              <a:rect l="l" t="t" r="r" b="b"/>
              <a:pathLst>
                <a:path w="2481525" h="2979201">
                  <a:moveTo>
                    <a:pt x="0" y="0"/>
                  </a:moveTo>
                  <a:lnTo>
                    <a:pt x="2481525" y="0"/>
                  </a:lnTo>
                  <a:lnTo>
                    <a:pt x="2481525" y="2979201"/>
                  </a:lnTo>
                  <a:lnTo>
                    <a:pt x="0" y="2979201"/>
                  </a:lnTo>
                  <a:close/>
                </a:path>
              </a:pathLst>
            </a:custGeom>
            <a:solidFill>
              <a:srgbClr val="FFFFFF"/>
            </a:solidFill>
          </p:spPr>
          <p:txBody>
            <a:bodyPr/>
            <a:lstStyle/>
            <a:p>
              <a:endParaRPr lang="pt-BR"/>
            </a:p>
          </p:txBody>
        </p:sp>
        <p:sp>
          <p:nvSpPr>
            <p:cNvPr id="4" name="TextBox 4"/>
            <p:cNvSpPr txBox="1"/>
            <p:nvPr/>
          </p:nvSpPr>
          <p:spPr>
            <a:xfrm>
              <a:off x="0" y="-114300"/>
              <a:ext cx="2481525" cy="3093501"/>
            </a:xfrm>
            <a:prstGeom prst="rect">
              <a:avLst/>
            </a:prstGeom>
          </p:spPr>
          <p:txBody>
            <a:bodyPr lIns="50800" tIns="50800" rIns="50800" bIns="50800" rtlCol="0" anchor="ctr"/>
            <a:lstStyle/>
            <a:p>
              <a:pPr algn="ctr">
                <a:lnSpc>
                  <a:spcPts val="3435"/>
                </a:lnSpc>
              </a:pPr>
              <a:endParaRPr/>
            </a:p>
          </p:txBody>
        </p:sp>
      </p:grpSp>
      <p:sp>
        <p:nvSpPr>
          <p:cNvPr id="8" name="TextBox 8"/>
          <p:cNvSpPr txBox="1"/>
          <p:nvPr/>
        </p:nvSpPr>
        <p:spPr>
          <a:xfrm>
            <a:off x="5766945" y="3790410"/>
            <a:ext cx="3351438" cy="4140707"/>
          </a:xfrm>
          <a:prstGeom prst="rect">
            <a:avLst/>
          </a:prstGeom>
        </p:spPr>
        <p:txBody>
          <a:bodyPr lIns="0" tIns="0" rIns="0" bIns="0" rtlCol="0" anchor="t">
            <a:spAutoFit/>
          </a:bodyPr>
          <a:lstStyle/>
          <a:p>
            <a:pPr marL="0" lvl="0" indent="0" algn="l">
              <a:lnSpc>
                <a:spcPts val="3840"/>
              </a:lnSpc>
              <a:spcBef>
                <a:spcPct val="0"/>
              </a:spcBef>
            </a:pPr>
            <a:r>
              <a:rPr lang="en-US" sz="2400" u="none" strike="noStrike" spc="132">
                <a:solidFill>
                  <a:srgbClr val="6C6C6C"/>
                </a:solidFill>
                <a:latin typeface="Montaser Arabic Light"/>
                <a:ea typeface="Montaser Arabic Light"/>
                <a:cs typeface="Montaser Arabic Light"/>
                <a:sym typeface="Montaser Arabic Light"/>
              </a:rPr>
              <a:t>Do lado do mercado foram 73,2 mil admissões de pessoas com diploma, com salário mediano 2,1 vezes maior que o do nível médio.</a:t>
            </a:r>
          </a:p>
        </p:txBody>
      </p:sp>
      <p:sp>
        <p:nvSpPr>
          <p:cNvPr id="9" name="TextBox 9"/>
          <p:cNvSpPr txBox="1"/>
          <p:nvPr/>
        </p:nvSpPr>
        <p:spPr>
          <a:xfrm>
            <a:off x="1709295" y="2168438"/>
            <a:ext cx="81153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RESULTADOS</a:t>
            </a:r>
          </a:p>
        </p:txBody>
      </p:sp>
      <p:sp>
        <p:nvSpPr>
          <p:cNvPr id="10" name="TextBox 10"/>
          <p:cNvSpPr txBox="1"/>
          <p:nvPr/>
        </p:nvSpPr>
        <p:spPr>
          <a:xfrm>
            <a:off x="1709295" y="3790410"/>
            <a:ext cx="3448350" cy="4140707"/>
          </a:xfrm>
          <a:prstGeom prst="rect">
            <a:avLst/>
          </a:prstGeom>
        </p:spPr>
        <p:txBody>
          <a:bodyPr lIns="0" tIns="0" rIns="0" bIns="0" rtlCol="0" anchor="t">
            <a:spAutoFit/>
          </a:bodyPr>
          <a:lstStyle/>
          <a:p>
            <a:pPr marL="0" lvl="0" indent="0" algn="l">
              <a:lnSpc>
                <a:spcPts val="3840"/>
              </a:lnSpc>
              <a:spcBef>
                <a:spcPct val="0"/>
              </a:spcBef>
            </a:pPr>
            <a:r>
              <a:rPr lang="en-US" sz="2400" u="none" strike="noStrike" spc="132">
                <a:solidFill>
                  <a:srgbClr val="6C6C6C"/>
                </a:solidFill>
                <a:latin typeface="Montaser Arabic Light"/>
                <a:ea typeface="Montaser Arabic Light"/>
                <a:cs typeface="Montaser Arabic Light"/>
                <a:sym typeface="Montaser Arabic Light"/>
              </a:rPr>
              <a:t>Em 2024 as cinco Fatecs da região tiveram 813 concluintes, cerca de 6% dos 13,6 mil da região, com toda a oferta pública e apenas 9% a distância.</a:t>
            </a:r>
          </a:p>
        </p:txBody>
      </p:sp>
      <p:sp>
        <p:nvSpPr>
          <p:cNvPr id="11" name="TextBox 11"/>
          <p:cNvSpPr txBox="1"/>
          <p:nvPr/>
        </p:nvSpPr>
        <p:spPr>
          <a:xfrm>
            <a:off x="11393786" y="4150892"/>
            <a:ext cx="5669280" cy="417956"/>
          </a:xfrm>
          <a:prstGeom prst="rect">
            <a:avLst/>
          </a:prstGeom>
        </p:spPr>
        <p:txBody>
          <a:bodyPr lIns="0" tIns="0" rIns="0" bIns="0" rtlCol="0" anchor="t">
            <a:spAutoFit/>
          </a:bodyPr>
          <a:lstStyle/>
          <a:p>
            <a:pPr marL="0" lvl="0" indent="0" algn="l">
              <a:lnSpc>
                <a:spcPts val="3654"/>
              </a:lnSpc>
              <a:spcBef>
                <a:spcPct val="0"/>
              </a:spcBef>
            </a:pPr>
            <a:r>
              <a:rPr lang="en-US" sz="2100" spc="115">
                <a:solidFill>
                  <a:srgbClr val="6C6C6C"/>
                </a:solidFill>
                <a:latin typeface="Montaser Arabic"/>
                <a:ea typeface="Montaser Arabic"/>
                <a:cs typeface="Montaser Arabic"/>
                <a:sym typeface="Montaser Arabic"/>
              </a:rPr>
              <a:t>FATECS NA REGIÃO</a:t>
            </a:r>
          </a:p>
        </p:txBody>
      </p:sp>
      <p:sp>
        <p:nvSpPr>
          <p:cNvPr id="12" name="TextBox 12"/>
          <p:cNvSpPr txBox="1"/>
          <p:nvPr/>
        </p:nvSpPr>
        <p:spPr>
          <a:xfrm>
            <a:off x="11393786" y="6009258"/>
            <a:ext cx="5669280" cy="417956"/>
          </a:xfrm>
          <a:prstGeom prst="rect">
            <a:avLst/>
          </a:prstGeom>
        </p:spPr>
        <p:txBody>
          <a:bodyPr lIns="0" tIns="0" rIns="0" bIns="0" rtlCol="0" anchor="t">
            <a:spAutoFit/>
          </a:bodyPr>
          <a:lstStyle/>
          <a:p>
            <a:pPr marL="0" lvl="0" indent="0" algn="l">
              <a:lnSpc>
                <a:spcPts val="3654"/>
              </a:lnSpc>
              <a:spcBef>
                <a:spcPct val="0"/>
              </a:spcBef>
            </a:pPr>
            <a:r>
              <a:rPr lang="en-US" sz="2100" spc="115">
                <a:solidFill>
                  <a:srgbClr val="6C6C6C"/>
                </a:solidFill>
                <a:latin typeface="Montaser Arabic"/>
                <a:ea typeface="Montaser Arabic"/>
                <a:cs typeface="Montaser Arabic"/>
                <a:sym typeface="Montaser Arabic"/>
              </a:rPr>
              <a:t>TAXA DE CONCLUSÃO</a:t>
            </a:r>
          </a:p>
        </p:txBody>
      </p:sp>
      <p:sp>
        <p:nvSpPr>
          <p:cNvPr id="13" name="TextBox 13"/>
          <p:cNvSpPr txBox="1"/>
          <p:nvPr/>
        </p:nvSpPr>
        <p:spPr>
          <a:xfrm>
            <a:off x="11393786" y="7968940"/>
            <a:ext cx="5669280" cy="417956"/>
          </a:xfrm>
          <a:prstGeom prst="rect">
            <a:avLst/>
          </a:prstGeom>
        </p:spPr>
        <p:txBody>
          <a:bodyPr lIns="0" tIns="0" rIns="0" bIns="0" rtlCol="0" anchor="t">
            <a:spAutoFit/>
          </a:bodyPr>
          <a:lstStyle/>
          <a:p>
            <a:pPr marL="0" lvl="0" indent="0" algn="l">
              <a:lnSpc>
                <a:spcPts val="3654"/>
              </a:lnSpc>
              <a:spcBef>
                <a:spcPct val="0"/>
              </a:spcBef>
            </a:pPr>
            <a:r>
              <a:rPr lang="en-US" sz="2100" spc="115">
                <a:solidFill>
                  <a:srgbClr val="6C6C6C"/>
                </a:solidFill>
                <a:latin typeface="Montaser Arabic"/>
                <a:ea typeface="Montaser Arabic"/>
                <a:cs typeface="Montaser Arabic"/>
                <a:sym typeface="Montaser Arabic"/>
              </a:rPr>
              <a:t>SOBREQUALIFICAÇÃO</a:t>
            </a:r>
          </a:p>
        </p:txBody>
      </p:sp>
      <p:sp>
        <p:nvSpPr>
          <p:cNvPr id="14" name="TextBox 14"/>
          <p:cNvSpPr txBox="1"/>
          <p:nvPr/>
        </p:nvSpPr>
        <p:spPr>
          <a:xfrm>
            <a:off x="15478349" y="3382256"/>
            <a:ext cx="1780951" cy="680673"/>
          </a:xfrm>
          <a:prstGeom prst="rect">
            <a:avLst/>
          </a:prstGeom>
        </p:spPr>
        <p:txBody>
          <a:bodyPr lIns="0" tIns="0" rIns="0" bIns="0" rtlCol="0" anchor="t">
            <a:spAutoFit/>
          </a:bodyPr>
          <a:lstStyle/>
          <a:p>
            <a:pPr marL="0" lvl="0" indent="0" algn="l">
              <a:lnSpc>
                <a:spcPts val="4361"/>
              </a:lnSpc>
              <a:spcBef>
                <a:spcPct val="0"/>
              </a:spcBef>
            </a:pPr>
            <a:r>
              <a:rPr lang="en-US" sz="4038" b="1" dirty="0">
                <a:solidFill>
                  <a:srgbClr val="5D5D5D"/>
                </a:solidFill>
                <a:latin typeface="Montaser Arabic"/>
                <a:ea typeface="Montaser Arabic"/>
                <a:cs typeface="Montaser Arabic"/>
                <a:sym typeface="Montaser Arabic"/>
              </a:rPr>
              <a:t>6%</a:t>
            </a:r>
          </a:p>
        </p:txBody>
      </p:sp>
      <p:sp>
        <p:nvSpPr>
          <p:cNvPr id="15" name="TextBox 15"/>
          <p:cNvSpPr txBox="1"/>
          <p:nvPr/>
        </p:nvSpPr>
        <p:spPr>
          <a:xfrm>
            <a:off x="15478349" y="5283666"/>
            <a:ext cx="1780951" cy="680673"/>
          </a:xfrm>
          <a:prstGeom prst="rect">
            <a:avLst/>
          </a:prstGeom>
        </p:spPr>
        <p:txBody>
          <a:bodyPr lIns="0" tIns="0" rIns="0" bIns="0" rtlCol="0" anchor="t">
            <a:spAutoFit/>
          </a:bodyPr>
          <a:lstStyle/>
          <a:p>
            <a:pPr marL="0" lvl="0" indent="0" algn="l">
              <a:lnSpc>
                <a:spcPts val="4361"/>
              </a:lnSpc>
              <a:spcBef>
                <a:spcPct val="0"/>
              </a:spcBef>
            </a:pPr>
            <a:r>
              <a:rPr lang="en-US" sz="4038" b="1">
                <a:solidFill>
                  <a:srgbClr val="5D5D5D"/>
                </a:solidFill>
                <a:latin typeface="Montaser Arabic"/>
                <a:ea typeface="Montaser Arabic"/>
                <a:cs typeface="Montaser Arabic"/>
                <a:sym typeface="Montaser Arabic"/>
              </a:rPr>
              <a:t>36%</a:t>
            </a:r>
          </a:p>
        </p:txBody>
      </p:sp>
      <p:sp>
        <p:nvSpPr>
          <p:cNvPr id="16" name="TextBox 16"/>
          <p:cNvSpPr txBox="1"/>
          <p:nvPr/>
        </p:nvSpPr>
        <p:spPr>
          <a:xfrm>
            <a:off x="15478349" y="7198739"/>
            <a:ext cx="1780951" cy="680673"/>
          </a:xfrm>
          <a:prstGeom prst="rect">
            <a:avLst/>
          </a:prstGeom>
        </p:spPr>
        <p:txBody>
          <a:bodyPr lIns="0" tIns="0" rIns="0" bIns="0" rtlCol="0" anchor="t">
            <a:spAutoFit/>
          </a:bodyPr>
          <a:lstStyle/>
          <a:p>
            <a:pPr marL="0" lvl="0" indent="0" algn="l">
              <a:lnSpc>
                <a:spcPts val="4361"/>
              </a:lnSpc>
              <a:spcBef>
                <a:spcPct val="0"/>
              </a:spcBef>
            </a:pPr>
            <a:r>
              <a:rPr lang="en-US" sz="4038" b="1">
                <a:solidFill>
                  <a:srgbClr val="5D5D5D"/>
                </a:solidFill>
                <a:latin typeface="Montaser Arabic"/>
                <a:ea typeface="Montaser Arabic"/>
                <a:cs typeface="Montaser Arabic"/>
                <a:sym typeface="Montaser Arabic"/>
              </a:rPr>
              <a:t>34%</a:t>
            </a:r>
          </a:p>
        </p:txBody>
      </p:sp>
      <p:sp>
        <p:nvSpPr>
          <p:cNvPr id="17" name="Rounded Rectangle 16"/>
          <p:cNvSpPr/>
          <p:nvPr/>
        </p:nvSpPr>
        <p:spPr>
          <a:xfrm>
            <a:off x="11219688" y="3505235"/>
            <a:ext cx="388620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11219688" y="3505235"/>
            <a:ext cx="233172" cy="502920"/>
          </a:xfrm>
          <a:prstGeom prst="roundRect">
            <a:avLst>
              <a:gd name="adj" fmla="val 50000"/>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11219688" y="5406646"/>
            <a:ext cx="388620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11219688" y="5406646"/>
            <a:ext cx="1399032" cy="502920"/>
          </a:xfrm>
          <a:prstGeom prst="roundRect">
            <a:avLst>
              <a:gd name="adj" fmla="val 50000"/>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1219688" y="7321719"/>
            <a:ext cx="3886200" cy="502920"/>
          </a:xfrm>
          <a:prstGeom prst="roundRect">
            <a:avLst>
              <a:gd name="adj" fmla="val 5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11219688" y="7321719"/>
            <a:ext cx="1321308" cy="502920"/>
          </a:xfrm>
          <a:prstGeom prst="roundRect">
            <a:avLst>
              <a:gd name="adj" fmla="val 50000"/>
            </a:avLst>
          </a:prstGeom>
          <a:solidFill>
            <a:srgbClr val="5E5E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CONCLUINTES POR ÁREA</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Censo da Educação Superior 2020-2024 - INEP/Ministério da Educação (MEC)</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algn="l">
              <a:lnSpc>
                <a:spcPts val="2720"/>
              </a:lnSpc>
            </a:pPr>
            <a:r>
              <a:rPr lang="en-US" sz="1700" u="none" strike="noStrike" spc="132" dirty="0" err="1">
                <a:solidFill>
                  <a:srgbClr val="6C6C6C"/>
                </a:solidFill>
                <a:latin typeface="Montaser Arabic"/>
                <a:ea typeface="Montaser Arabic"/>
                <a:cs typeface="Montaser Arabic"/>
                <a:sym typeface="Montaser Arabic"/>
              </a:rPr>
              <a:t>Evolução</a:t>
            </a:r>
            <a:r>
              <a:rPr lang="en-US" sz="1700" u="none" strike="noStrike" spc="132" dirty="0">
                <a:solidFill>
                  <a:srgbClr val="6C6C6C"/>
                </a:solidFill>
                <a:latin typeface="Montaser Arabic"/>
                <a:ea typeface="Montaser Arabic"/>
                <a:cs typeface="Montaser Arabic"/>
                <a:sym typeface="Montaser Arabic"/>
              </a:rPr>
              <a:t> do </a:t>
            </a:r>
            <a:r>
              <a:rPr lang="en-US" sz="1700" u="none" strike="noStrike" spc="132" dirty="0" err="1">
                <a:solidFill>
                  <a:srgbClr val="6C6C6C"/>
                </a:solidFill>
                <a:latin typeface="Montaser Arabic"/>
                <a:ea typeface="Montaser Arabic"/>
                <a:cs typeface="Montaser Arabic"/>
                <a:sym typeface="Montaser Arabic"/>
              </a:rPr>
              <a:t>número</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 da Sub-</a:t>
            </a:r>
            <a:r>
              <a:rPr lang="en-US" sz="1700" u="none" strike="noStrike" spc="132" dirty="0" err="1">
                <a:solidFill>
                  <a:srgbClr val="6C6C6C"/>
                </a:solidFill>
                <a:latin typeface="Montaser Arabic"/>
                <a:ea typeface="Montaser Arabic"/>
                <a:cs typeface="Montaser Arabic"/>
                <a:sym typeface="Montaser Arabic"/>
              </a:rPr>
              <a:t>região</a:t>
            </a:r>
            <a:r>
              <a:rPr lang="en-US" sz="1700" u="none" strike="noStrike" spc="132" dirty="0">
                <a:solidFill>
                  <a:srgbClr val="6C6C6C"/>
                </a:solidFill>
                <a:latin typeface="Montaser Arabic"/>
                <a:ea typeface="Montaser Arabic"/>
                <a:cs typeface="Montaser Arabic"/>
                <a:sym typeface="Montaser Arabic"/>
              </a:rPr>
              <a:t> Oeste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área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geral</a:t>
            </a:r>
            <a:r>
              <a:rPr lang="en-US" sz="1700" u="none" strike="noStrike" spc="132" dirty="0">
                <a:solidFill>
                  <a:srgbClr val="6C6C6C"/>
                </a:solidFill>
                <a:latin typeface="Montaser Arabic"/>
                <a:ea typeface="Montaser Arabic"/>
                <a:cs typeface="Montaser Arabic"/>
                <a:sym typeface="Montaser Arabic"/>
              </a:rPr>
              <a:t> da CINE (2020–2024).</a:t>
            </a:r>
          </a:p>
          <a:p>
            <a:pPr marL="0" lvl="1" algn="l">
              <a:lnSpc>
                <a:spcPts val="2720"/>
              </a:lnSpc>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Pode-se </a:t>
            </a:r>
            <a:r>
              <a:rPr lang="en-US" sz="1700" u="none" strike="noStrike" spc="132" dirty="0" err="1">
                <a:solidFill>
                  <a:srgbClr val="6C6C6C"/>
                </a:solidFill>
                <a:latin typeface="Montaser Arabic"/>
                <a:ea typeface="Montaser Arabic"/>
                <a:cs typeface="Montaser Arabic"/>
                <a:sym typeface="Montaser Arabic"/>
              </a:rPr>
              <a:t>notar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 </a:t>
            </a:r>
            <a:r>
              <a:rPr lang="en-US" sz="1700" u="none" strike="noStrike" spc="132" dirty="0" err="1">
                <a:solidFill>
                  <a:srgbClr val="6C6C6C"/>
                </a:solidFill>
                <a:latin typeface="Montaser Arabic"/>
                <a:ea typeface="Montaser Arabic"/>
                <a:cs typeface="Montaser Arabic"/>
                <a:sym typeface="Montaser Arabic"/>
              </a:rPr>
              <a:t>formação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está</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concentrada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Negócios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estável</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torno</a:t>
            </a:r>
            <a:r>
              <a:rPr lang="en-US" sz="1700" u="none" strike="noStrike" spc="132" dirty="0">
                <a:solidFill>
                  <a:srgbClr val="6C6C6C"/>
                </a:solidFill>
                <a:latin typeface="Montaser Arabic"/>
                <a:ea typeface="Montaser Arabic"/>
                <a:cs typeface="Montaser Arabic"/>
                <a:sym typeface="Montaser Arabic"/>
              </a:rPr>
              <a:t> de 360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Computação</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Tecnologias</a:t>
            </a:r>
            <a:r>
              <a:rPr lang="en-US" sz="1700" u="none" strike="noStrike" spc="132" dirty="0">
                <a:solidFill>
                  <a:srgbClr val="6C6C6C"/>
                </a:solidFill>
                <a:latin typeface="Montaser Arabic"/>
                <a:ea typeface="Montaser Arabic"/>
                <a:cs typeface="Montaser Arabic"/>
                <a:sym typeface="Montaser Arabic"/>
              </a:rPr>
              <a:t> da </a:t>
            </a:r>
            <a:r>
              <a:rPr lang="en-US" sz="1700" u="none" strike="noStrike" spc="132" dirty="0" err="1">
                <a:solidFill>
                  <a:srgbClr val="6C6C6C"/>
                </a:solidFill>
                <a:latin typeface="Montaser Arabic"/>
                <a:ea typeface="Montaser Arabic"/>
                <a:cs typeface="Montaser Arabic"/>
                <a:sym typeface="Montaser Arabic"/>
              </a:rPr>
              <a:t>Informação</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Comunicação</a:t>
            </a:r>
            <a:r>
              <a:rPr lang="en-US" sz="1700" u="none" strike="noStrike" spc="132" dirty="0">
                <a:solidFill>
                  <a:srgbClr val="6C6C6C"/>
                </a:solidFill>
                <a:latin typeface="Montaser Arabic"/>
                <a:ea typeface="Montaser Arabic"/>
                <a:cs typeface="Montaser Arabic"/>
                <a:sym typeface="Montaser Arabic"/>
              </a:rPr>
              <a:t> (TIC),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cresceu</a:t>
            </a:r>
            <a:r>
              <a:rPr lang="en-US" sz="1700" u="none" strike="noStrike" spc="132" dirty="0">
                <a:solidFill>
                  <a:srgbClr val="6C6C6C"/>
                </a:solidFill>
                <a:latin typeface="Montaser Arabic"/>
                <a:ea typeface="Montaser Arabic"/>
                <a:cs typeface="Montaser Arabic"/>
                <a:sym typeface="Montaser Arabic"/>
              </a:rPr>
              <a:t> 51% </a:t>
            </a:r>
            <a:r>
              <a:rPr lang="en-US" sz="1700" u="none" strike="noStrike" spc="132" dirty="0" err="1">
                <a:solidFill>
                  <a:srgbClr val="6C6C6C"/>
                </a:solidFill>
                <a:latin typeface="Montaser Arabic"/>
                <a:ea typeface="Montaser Arabic"/>
                <a:cs typeface="Montaser Arabic"/>
                <a:sym typeface="Montaser Arabic"/>
              </a:rPr>
              <a:t>desde</a:t>
            </a:r>
            <a:r>
              <a:rPr lang="en-US" sz="1700" u="none" strike="noStrike" spc="132" dirty="0">
                <a:solidFill>
                  <a:srgbClr val="6C6C6C"/>
                </a:solidFill>
                <a:latin typeface="Montaser Arabic"/>
                <a:ea typeface="Montaser Arabic"/>
                <a:cs typeface="Montaser Arabic"/>
                <a:sym typeface="Montaser Arabic"/>
              </a:rPr>
              <a:t> 2021.</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A taxa de </a:t>
            </a:r>
            <a:r>
              <a:rPr lang="en-US" sz="1700" u="none" strike="noStrike" spc="132" dirty="0" err="1">
                <a:solidFill>
                  <a:srgbClr val="6C6C6C"/>
                </a:solidFill>
                <a:latin typeface="Montaser Arabic"/>
                <a:ea typeface="Montaser Arabic"/>
                <a:cs typeface="Montaser Arabic"/>
                <a:sym typeface="Montaser Arabic"/>
              </a:rPr>
              <a:t>conclusão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foi</a:t>
            </a:r>
            <a:r>
              <a:rPr lang="en-US" sz="1700" u="none" strike="noStrike" spc="132" dirty="0">
                <a:solidFill>
                  <a:srgbClr val="6C6C6C"/>
                </a:solidFill>
                <a:latin typeface="Montaser Arabic"/>
                <a:ea typeface="Montaser Arabic"/>
                <a:cs typeface="Montaser Arabic"/>
                <a:sym typeface="Montaser Arabic"/>
              </a:rPr>
              <a:t> de 36%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2024, o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mostra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problema</a:t>
            </a:r>
            <a:r>
              <a:rPr lang="en-US" sz="1700" u="none" strike="noStrike" spc="132" dirty="0">
                <a:solidFill>
                  <a:srgbClr val="6C6C6C"/>
                </a:solidFill>
                <a:latin typeface="Montaser Arabic"/>
                <a:ea typeface="Montaser Arabic"/>
                <a:cs typeface="Montaser Arabic"/>
                <a:sym typeface="Montaser Arabic"/>
              </a:rPr>
              <a:t> da </a:t>
            </a:r>
            <a:r>
              <a:rPr lang="en-US" sz="1700" u="none" strike="noStrike" spc="132" dirty="0" err="1">
                <a:solidFill>
                  <a:srgbClr val="6C6C6C"/>
                </a:solidFill>
                <a:latin typeface="Montaser Arabic"/>
                <a:ea typeface="Montaser Arabic"/>
                <a:cs typeface="Montaser Arabic"/>
                <a:sym typeface="Montaser Arabic"/>
              </a:rPr>
              <a:t>permanência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também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está</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presente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região</a:t>
            </a:r>
            <a:r>
              <a:rPr lang="en-US" sz="1700" u="none" strike="noStrike" spc="132" dirty="0">
                <a:solidFill>
                  <a:srgbClr val="6C6C6C"/>
                </a:solidFill>
                <a:latin typeface="Montaser Arabic"/>
                <a:ea typeface="Montaser Arabic"/>
                <a:cs typeface="Montaser Arabic"/>
                <a:sym typeface="Montaser Arabic"/>
              </a:rPr>
              <a:t>.</a:t>
            </a:r>
          </a:p>
        </p:txBody>
      </p:sp>
      <p:pic>
        <p:nvPicPr>
          <p:cNvPr id="6" name="Picture 5" descr="figura_1.png"/>
          <p:cNvPicPr>
            <a:picLocks noChangeAspect="1"/>
          </p:cNvPicPr>
          <p:nvPr/>
        </p:nvPicPr>
        <p:blipFill>
          <a:blip r:embed="rId3"/>
          <a:stretch>
            <a:fillRect/>
          </a:stretch>
        </p:blipFill>
        <p:spPr>
          <a:xfrm>
            <a:off x="914400" y="3350971"/>
            <a:ext cx="9692640" cy="491093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OCUPAÇÕES</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Novo CAGED 2024 -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Ocupações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nível</a:t>
            </a:r>
            <a:r>
              <a:rPr lang="en-US" sz="1700" u="none" strike="noStrike" spc="132" dirty="0">
                <a:solidFill>
                  <a:srgbClr val="6C6C6C"/>
                </a:solidFill>
                <a:latin typeface="Montaser Arabic"/>
                <a:ea typeface="Montaser Arabic"/>
                <a:cs typeface="Montaser Arabic"/>
                <a:sym typeface="Montaser Arabic"/>
              </a:rPr>
              <a:t> superior, </a:t>
            </a:r>
            <a:r>
              <a:rPr lang="en-US" sz="1700" u="none" strike="noStrike" spc="132" dirty="0" err="1">
                <a:solidFill>
                  <a:srgbClr val="6C6C6C"/>
                </a:solidFill>
                <a:latin typeface="Montaser Arabic"/>
                <a:ea typeface="Montaser Arabic"/>
                <a:cs typeface="Montaser Arabic"/>
                <a:sym typeface="Montaser Arabic"/>
              </a:rPr>
              <a:t>técnico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dirigente</a:t>
            </a:r>
            <a:r>
              <a:rPr lang="en-US" sz="1700" u="none" strike="noStrike" spc="132" dirty="0">
                <a:solidFill>
                  <a:srgbClr val="6C6C6C"/>
                </a:solidFill>
                <a:latin typeface="Montaser Arabic"/>
                <a:ea typeface="Montaser Arabic"/>
                <a:cs typeface="Montaser Arabic"/>
                <a:sym typeface="Montaser Arabic"/>
              </a:rPr>
              <a:t> com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pessoas</a:t>
            </a:r>
            <a:r>
              <a:rPr lang="en-US" sz="1700" u="none" strike="noStrike" spc="132" dirty="0">
                <a:solidFill>
                  <a:srgbClr val="6C6C6C"/>
                </a:solidFill>
                <a:latin typeface="Montaser Arabic"/>
                <a:ea typeface="Montaser Arabic"/>
                <a:cs typeface="Montaser Arabic"/>
                <a:sym typeface="Montaser Arabic"/>
              </a:rPr>
              <a:t> com Ensino Superior </a:t>
            </a:r>
            <a:r>
              <a:rPr lang="en-US" sz="1700" u="none" strike="noStrike" spc="132" dirty="0" err="1">
                <a:solidFill>
                  <a:srgbClr val="6C6C6C"/>
                </a:solidFill>
                <a:latin typeface="Montaser Arabic"/>
                <a:ea typeface="Montaser Arabic"/>
                <a:cs typeface="Montaser Arabic"/>
                <a:sym typeface="Montaser Arabic"/>
              </a:rPr>
              <a:t>completo</a:t>
            </a:r>
            <a:r>
              <a:rPr lang="en-US" sz="1700" u="none" strike="noStrike" spc="132" dirty="0">
                <a:solidFill>
                  <a:srgbClr val="6C6C6C"/>
                </a:solidFill>
                <a:latin typeface="Montaser Arabic"/>
                <a:ea typeface="Montaser Arabic"/>
                <a:cs typeface="Montaser Arabic"/>
                <a:sym typeface="Montaser Arabic"/>
              </a:rPr>
              <a:t> (2024).</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err="1">
                <a:solidFill>
                  <a:srgbClr val="6C6C6C"/>
                </a:solidFill>
                <a:latin typeface="Montaser Arabic"/>
                <a:ea typeface="Montaser Arabic"/>
                <a:cs typeface="Montaser Arabic"/>
                <a:sym typeface="Montaser Arabic"/>
              </a:rPr>
              <a:t>Analista</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Desenvolvimento</a:t>
            </a:r>
            <a:r>
              <a:rPr lang="en-US" sz="1700" u="none" strike="noStrike" spc="132" dirty="0">
                <a:solidFill>
                  <a:srgbClr val="6C6C6C"/>
                </a:solidFill>
                <a:latin typeface="Montaser Arabic"/>
                <a:ea typeface="Montaser Arabic"/>
                <a:cs typeface="Montaser Arabic"/>
                <a:sym typeface="Montaser Arabic"/>
              </a:rPr>
              <a:t> de Sistemas </a:t>
            </a:r>
            <a:r>
              <a:rPr lang="en-US" sz="1700" u="none" strike="noStrike" spc="132" dirty="0" err="1">
                <a:solidFill>
                  <a:srgbClr val="6C6C6C"/>
                </a:solidFill>
                <a:latin typeface="Montaser Arabic"/>
                <a:ea typeface="Montaser Arabic"/>
                <a:cs typeface="Montaser Arabic"/>
                <a:sym typeface="Montaser Arabic"/>
              </a:rPr>
              <a:t>foi</a:t>
            </a:r>
            <a:r>
              <a:rPr lang="en-US" sz="1700" u="none" strike="noStrike" spc="132" dirty="0">
                <a:solidFill>
                  <a:srgbClr val="6C6C6C"/>
                </a:solidFill>
                <a:latin typeface="Montaser Arabic"/>
                <a:ea typeface="Montaser Arabic"/>
                <a:cs typeface="Montaser Arabic"/>
                <a:sym typeface="Montaser Arabic"/>
              </a:rPr>
              <a:t> a </a:t>
            </a:r>
            <a:r>
              <a:rPr lang="en-US" sz="1700" u="none" strike="noStrike" spc="132" dirty="0" err="1">
                <a:solidFill>
                  <a:srgbClr val="6C6C6C"/>
                </a:solidFill>
                <a:latin typeface="Montaser Arabic"/>
                <a:ea typeface="Montaser Arabic"/>
                <a:cs typeface="Montaser Arabic"/>
                <a:sym typeface="Montaser Arabic"/>
              </a:rPr>
              <a:t>ocupação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contratou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com 5.528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o dobro da </a:t>
            </a:r>
            <a:r>
              <a:rPr lang="en-US" sz="1700" u="none" strike="noStrike" spc="132" dirty="0" err="1">
                <a:solidFill>
                  <a:srgbClr val="6C6C6C"/>
                </a:solidFill>
                <a:latin typeface="Montaser Arabic"/>
                <a:ea typeface="Montaser Arabic"/>
                <a:cs typeface="Montaser Arabic"/>
                <a:sym typeface="Montaser Arabic"/>
              </a:rPr>
              <a:t>segunda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colocada</a:t>
            </a:r>
            <a:r>
              <a:rPr lang="en-US" sz="1700" u="none" strike="noStrike" spc="132" dirty="0">
                <a:solidFill>
                  <a:srgbClr val="6C6C6C"/>
                </a:solidFill>
                <a:latin typeface="Montaser Arabic"/>
                <a:ea typeface="Montaser Arabic"/>
                <a:cs typeface="Montaser Arabic"/>
                <a:sym typeface="Montaser Arabic"/>
              </a:rPr>
              <a:t>.</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Em </a:t>
            </a:r>
            <a:r>
              <a:rPr lang="en-US" sz="1700" u="none" strike="noStrike" spc="132" dirty="0" err="1">
                <a:solidFill>
                  <a:srgbClr val="6C6C6C"/>
                </a:solidFill>
                <a:latin typeface="Montaser Arabic"/>
                <a:ea typeface="Montaser Arabic"/>
                <a:cs typeface="Montaser Arabic"/>
                <a:sym typeface="Montaser Arabic"/>
              </a:rPr>
              <a:t>seguida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aparecem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ocupações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gestão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como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analista</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negócios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recursos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humanos</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tecnólogo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logística</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conversa com </a:t>
            </a:r>
            <a:r>
              <a:rPr lang="en-US" sz="1700" u="none" strike="noStrike" spc="132" dirty="0" err="1">
                <a:solidFill>
                  <a:srgbClr val="6C6C6C"/>
                </a:solidFill>
                <a:latin typeface="Montaser Arabic"/>
                <a:ea typeface="Montaser Arabic"/>
                <a:cs typeface="Montaser Arabic"/>
                <a:sym typeface="Montaser Arabic"/>
              </a:rPr>
              <a:t>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cursos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a:t>
            </a:r>
          </a:p>
        </p:txBody>
      </p:sp>
      <p:pic>
        <p:nvPicPr>
          <p:cNvPr id="6" name="Picture 5" descr="figura_2.png"/>
          <p:cNvPicPr>
            <a:picLocks noChangeAspect="1"/>
          </p:cNvPicPr>
          <p:nvPr/>
        </p:nvPicPr>
        <p:blipFill>
          <a:blip r:embed="rId3"/>
          <a:stretch>
            <a:fillRect/>
          </a:stretch>
        </p:blipFill>
        <p:spPr>
          <a:xfrm>
            <a:off x="914400" y="3092500"/>
            <a:ext cx="9692640" cy="542787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DESCOMPASSO POR ÁREA</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Censo da Educação Superior - INEP/MEC e do Novo CAGED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ocupações</a:t>
            </a:r>
            <a:r>
              <a:rPr lang="en-US" sz="1700" u="none" strike="noStrike" spc="132" dirty="0">
                <a:solidFill>
                  <a:srgbClr val="6C6C6C"/>
                </a:solidFill>
                <a:latin typeface="Montaser Arabic"/>
                <a:ea typeface="Montaser Arabic"/>
                <a:cs typeface="Montaser Arabic"/>
                <a:sym typeface="Montaser Arabic"/>
              </a:rPr>
              <a:t> da </a:t>
            </a:r>
            <a:r>
              <a:rPr lang="en-US" sz="1700" u="none" strike="noStrike" spc="132" dirty="0" err="1">
                <a:solidFill>
                  <a:srgbClr val="6C6C6C"/>
                </a:solidFill>
                <a:latin typeface="Montaser Arabic"/>
                <a:ea typeface="Montaser Arabic"/>
                <a:cs typeface="Montaser Arabic"/>
                <a:sym typeface="Montaser Arabic"/>
              </a:rPr>
              <a:t>área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concluinte</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área</a:t>
            </a:r>
            <a:r>
              <a:rPr lang="en-US" sz="1700" u="none" strike="noStrike" spc="132" dirty="0">
                <a:solidFill>
                  <a:srgbClr val="6C6C6C"/>
                </a:solidFill>
                <a:latin typeface="Montaser Arabic"/>
                <a:ea typeface="Montaser Arabic"/>
                <a:cs typeface="Montaser Arabic"/>
                <a:sym typeface="Montaser Arabic"/>
              </a:rPr>
              <a:t> (2024).</a:t>
            </a:r>
          </a:p>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Negócios</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direito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tem</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maior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índice</a:t>
            </a:r>
            <a:r>
              <a:rPr lang="en-US" sz="1700" u="none" strike="noStrike" spc="132" dirty="0">
                <a:solidFill>
                  <a:srgbClr val="6C6C6C"/>
                </a:solidFill>
                <a:latin typeface="Montaser Arabic"/>
                <a:ea typeface="Montaser Arabic"/>
                <a:cs typeface="Montaser Arabic"/>
                <a:sym typeface="Montaser Arabic"/>
              </a:rPr>
              <a:t> (43,3), </a:t>
            </a:r>
            <a:r>
              <a:rPr lang="en-US" sz="1700" u="none" strike="noStrike" spc="132" dirty="0" err="1">
                <a:solidFill>
                  <a:srgbClr val="6C6C6C"/>
                </a:solidFill>
                <a:latin typeface="Montaser Arabic"/>
                <a:ea typeface="Montaser Arabic"/>
                <a:cs typeface="Montaser Arabic"/>
                <a:sym typeface="Montaser Arabic"/>
              </a:rPr>
              <a:t>seguida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Computação</a:t>
            </a:r>
            <a:r>
              <a:rPr lang="en-US" sz="1700" u="none" strike="noStrike" spc="132" dirty="0">
                <a:solidFill>
                  <a:srgbClr val="6C6C6C"/>
                </a:solidFill>
                <a:latin typeface="Montaser Arabic"/>
                <a:ea typeface="Montaser Arabic"/>
                <a:cs typeface="Montaser Arabic"/>
                <a:sym typeface="Montaser Arabic"/>
              </a:rPr>
              <a:t> e TIC (29,9) e </a:t>
            </a:r>
            <a:r>
              <a:rPr lang="en-US" sz="1700" u="none" strike="noStrike" spc="132" dirty="0" err="1">
                <a:solidFill>
                  <a:srgbClr val="6C6C6C"/>
                </a:solidFill>
                <a:latin typeface="Montaser Arabic"/>
                <a:ea typeface="Montaser Arabic"/>
                <a:cs typeface="Montaser Arabic"/>
                <a:sym typeface="Montaser Arabic"/>
              </a:rPr>
              <a:t>Engenharia</a:t>
            </a:r>
            <a:r>
              <a:rPr lang="en-US" sz="1700" u="none" strike="noStrike" spc="132" dirty="0">
                <a:solidFill>
                  <a:srgbClr val="6C6C6C"/>
                </a:solidFill>
                <a:latin typeface="Montaser Arabic"/>
                <a:ea typeface="Montaser Arabic"/>
                <a:cs typeface="Montaser Arabic"/>
                <a:sym typeface="Montaser Arabic"/>
              </a:rPr>
              <a:t> (21,9).</a:t>
            </a:r>
          </a:p>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valores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são</a:t>
            </a:r>
            <a:r>
              <a:rPr lang="en-US" sz="1700" u="none" strike="noStrike" spc="132" dirty="0">
                <a:solidFill>
                  <a:srgbClr val="6C6C6C"/>
                </a:solidFill>
                <a:latin typeface="Montaser Arabic"/>
                <a:ea typeface="Montaser Arabic"/>
                <a:cs typeface="Montaser Arabic"/>
                <a:sym typeface="Montaser Arabic"/>
              </a:rPr>
              <a:t> altos </a:t>
            </a:r>
            <a:r>
              <a:rPr lang="en-US" sz="1700" u="none" strike="noStrike" spc="132" dirty="0" err="1">
                <a:solidFill>
                  <a:srgbClr val="6C6C6C"/>
                </a:solidFill>
                <a:latin typeface="Montaser Arabic"/>
                <a:ea typeface="Montaser Arabic"/>
                <a:cs typeface="Montaser Arabic"/>
                <a:sym typeface="Montaser Arabic"/>
              </a:rPr>
              <a:t>porque</a:t>
            </a:r>
            <a:r>
              <a:rPr lang="en-US" sz="1700" u="none" strike="noStrike" spc="132" dirty="0">
                <a:solidFill>
                  <a:srgbClr val="6C6C6C"/>
                </a:solidFill>
                <a:latin typeface="Montaser Arabic"/>
                <a:ea typeface="Montaser Arabic"/>
                <a:cs typeface="Montaser Arabic"/>
                <a:sym typeface="Montaser Arabic"/>
              </a:rPr>
              <a:t> as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incluem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rotatividade</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outras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faculdades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isso</a:t>
            </a:r>
            <a:r>
              <a:rPr lang="en-US" sz="1700" u="none" strike="noStrike" spc="132" dirty="0">
                <a:solidFill>
                  <a:srgbClr val="6C6C6C"/>
                </a:solidFill>
                <a:latin typeface="Montaser Arabic"/>
                <a:ea typeface="Montaser Arabic"/>
                <a:cs typeface="Montaser Arabic"/>
                <a:sym typeface="Montaser Arabic"/>
              </a:rPr>
              <a:t> a </a:t>
            </a:r>
            <a:r>
              <a:rPr lang="en-US" sz="1700" u="none" strike="noStrike" spc="132" dirty="0" err="1">
                <a:solidFill>
                  <a:srgbClr val="6C6C6C"/>
                </a:solidFill>
                <a:latin typeface="Montaser Arabic"/>
                <a:ea typeface="Montaser Arabic"/>
                <a:cs typeface="Montaser Arabic"/>
                <a:sym typeface="Montaser Arabic"/>
              </a:rPr>
              <a:t>leitura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deve</a:t>
            </a:r>
            <a:r>
              <a:rPr lang="en-US" sz="1700" u="none" strike="noStrike" spc="132" dirty="0">
                <a:solidFill>
                  <a:srgbClr val="6C6C6C"/>
                </a:solidFill>
                <a:latin typeface="Montaser Arabic"/>
                <a:ea typeface="Montaser Arabic"/>
                <a:cs typeface="Montaser Arabic"/>
                <a:sym typeface="Montaser Arabic"/>
              </a:rPr>
              <a:t> ser </a:t>
            </a:r>
            <a:r>
              <a:rPr lang="en-US" sz="1700" u="none" strike="noStrike" spc="132" dirty="0" err="1">
                <a:solidFill>
                  <a:srgbClr val="6C6C6C"/>
                </a:solidFill>
                <a:latin typeface="Montaser Arabic"/>
                <a:ea typeface="Montaser Arabic"/>
                <a:cs typeface="Montaser Arabic"/>
                <a:sym typeface="Montaser Arabic"/>
              </a:rPr>
              <a:t>comparativa</a:t>
            </a:r>
            <a:r>
              <a:rPr lang="en-US" sz="1700" u="none" strike="noStrike" spc="132" dirty="0">
                <a:solidFill>
                  <a:srgbClr val="6C6C6C"/>
                </a:solidFill>
                <a:latin typeface="Montaser Arabic"/>
                <a:ea typeface="Montaser Arabic"/>
                <a:cs typeface="Montaser Arabic"/>
                <a:sym typeface="Montaser Arabic"/>
              </a:rPr>
              <a:t> entre as </a:t>
            </a:r>
            <a:r>
              <a:rPr lang="en-US" sz="1700" u="none" strike="noStrike" spc="132" dirty="0" err="1">
                <a:solidFill>
                  <a:srgbClr val="6C6C6C"/>
                </a:solidFill>
                <a:latin typeface="Montaser Arabic"/>
                <a:ea typeface="Montaser Arabic"/>
                <a:cs typeface="Montaser Arabic"/>
                <a:sym typeface="Montaser Arabic"/>
              </a:rPr>
              <a:t>áreas</a:t>
            </a:r>
            <a:r>
              <a:rPr lang="en-US" sz="1700" u="none" strike="noStrike" spc="132" dirty="0">
                <a:solidFill>
                  <a:srgbClr val="6C6C6C"/>
                </a:solidFill>
                <a:latin typeface="Montaser Arabic"/>
                <a:ea typeface="Montaser Arabic"/>
                <a:cs typeface="Montaser Arabic"/>
                <a:sym typeface="Montaser Arabic"/>
              </a:rPr>
              <a:t>.</a:t>
            </a:r>
          </a:p>
        </p:txBody>
      </p:sp>
      <p:pic>
        <p:nvPicPr>
          <p:cNvPr id="6" name="Picture 5" descr="figura_3.png"/>
          <p:cNvPicPr>
            <a:picLocks noChangeAspect="1"/>
          </p:cNvPicPr>
          <p:nvPr/>
        </p:nvPicPr>
        <p:blipFill>
          <a:blip r:embed="rId3"/>
          <a:stretch>
            <a:fillRect/>
          </a:stretch>
        </p:blipFill>
        <p:spPr>
          <a:xfrm>
            <a:off x="914400" y="3997147"/>
            <a:ext cx="9692640" cy="36185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EVOLUÇÃO 2020–2024</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Censo da Educação Superior - INEP/MEC e do Novo CAGED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Evolução</a:t>
            </a:r>
            <a:r>
              <a:rPr lang="en-US" sz="1700" u="none" strike="noStrike" spc="132" dirty="0">
                <a:solidFill>
                  <a:srgbClr val="6C6C6C"/>
                </a:solidFill>
                <a:latin typeface="Montaser Arabic"/>
                <a:ea typeface="Montaser Arabic"/>
                <a:cs typeface="Montaser Arabic"/>
                <a:sym typeface="Montaser Arabic"/>
              </a:rPr>
              <a:t> do </a:t>
            </a:r>
            <a:r>
              <a:rPr lang="en-US" sz="1700" u="none" strike="noStrike" spc="132" dirty="0" err="1">
                <a:solidFill>
                  <a:srgbClr val="6C6C6C"/>
                </a:solidFill>
                <a:latin typeface="Montaser Arabic"/>
                <a:ea typeface="Montaser Arabic"/>
                <a:cs typeface="Montaser Arabic"/>
                <a:sym typeface="Montaser Arabic"/>
              </a:rPr>
              <a:t>índice</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descompasso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áreas</a:t>
            </a:r>
            <a:r>
              <a:rPr lang="en-US" sz="1700" u="none" strike="noStrike" spc="132" dirty="0">
                <a:solidFill>
                  <a:srgbClr val="6C6C6C"/>
                </a:solidFill>
                <a:latin typeface="Montaser Arabic"/>
                <a:ea typeface="Montaser Arabic"/>
                <a:cs typeface="Montaser Arabic"/>
                <a:sym typeface="Montaser Arabic"/>
              </a:rPr>
              <a:t> com </a:t>
            </a:r>
            <a:r>
              <a:rPr lang="en-US" sz="1700" u="none" strike="noStrike" spc="132" dirty="0" err="1">
                <a:solidFill>
                  <a:srgbClr val="6C6C6C"/>
                </a:solidFill>
                <a:latin typeface="Montaser Arabic"/>
                <a:ea typeface="Montaser Arabic"/>
                <a:cs typeface="Montaser Arabic"/>
                <a:sym typeface="Montaser Arabic"/>
              </a:rPr>
              <a:t>cursos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 (2020–2024).</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Em </a:t>
            </a:r>
            <a:r>
              <a:rPr lang="en-US" sz="1700" u="none" strike="noStrike" spc="132" dirty="0" err="1">
                <a:solidFill>
                  <a:srgbClr val="6C6C6C"/>
                </a:solidFill>
                <a:latin typeface="Montaser Arabic"/>
                <a:ea typeface="Montaser Arabic"/>
                <a:cs typeface="Montaser Arabic"/>
                <a:sym typeface="Montaser Arabic"/>
              </a:rPr>
              <a:t>Computação</a:t>
            </a:r>
            <a:r>
              <a:rPr lang="en-US" sz="1700" u="none" strike="noStrike" spc="132" dirty="0">
                <a:solidFill>
                  <a:srgbClr val="6C6C6C"/>
                </a:solidFill>
                <a:latin typeface="Montaser Arabic"/>
                <a:ea typeface="Montaser Arabic"/>
                <a:cs typeface="Montaser Arabic"/>
                <a:sym typeface="Montaser Arabic"/>
              </a:rPr>
              <a:t> e TIC o </a:t>
            </a:r>
            <a:r>
              <a:rPr lang="en-US" sz="1700" u="none" strike="noStrike" spc="132" dirty="0" err="1">
                <a:solidFill>
                  <a:srgbClr val="6C6C6C"/>
                </a:solidFill>
                <a:latin typeface="Montaser Arabic"/>
                <a:ea typeface="Montaser Arabic"/>
                <a:cs typeface="Montaser Arabic"/>
                <a:sym typeface="Montaser Arabic"/>
              </a:rPr>
              <a:t>índice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caiu</a:t>
            </a:r>
            <a:r>
              <a:rPr lang="en-US" sz="1700" u="none" strike="noStrike" spc="132" dirty="0">
                <a:solidFill>
                  <a:srgbClr val="6C6C6C"/>
                </a:solidFill>
                <a:latin typeface="Montaser Arabic"/>
                <a:ea typeface="Montaser Arabic"/>
                <a:cs typeface="Montaser Arabic"/>
                <a:sym typeface="Montaser Arabic"/>
              </a:rPr>
              <a:t> de 51,1 para 29,9 </a:t>
            </a:r>
            <a:r>
              <a:rPr lang="en-US" sz="1700" u="none" strike="noStrike" spc="132" dirty="0" err="1">
                <a:solidFill>
                  <a:srgbClr val="6C6C6C"/>
                </a:solidFill>
                <a:latin typeface="Montaser Arabic"/>
                <a:ea typeface="Montaser Arabic"/>
                <a:cs typeface="Montaser Arabic"/>
                <a:sym typeface="Montaser Arabic"/>
              </a:rPr>
              <a:t>desde</a:t>
            </a:r>
            <a:r>
              <a:rPr lang="en-US" sz="1700" u="none" strike="noStrike" spc="132" dirty="0">
                <a:solidFill>
                  <a:srgbClr val="6C6C6C"/>
                </a:solidFill>
                <a:latin typeface="Montaser Arabic"/>
                <a:ea typeface="Montaser Arabic"/>
                <a:cs typeface="Montaser Arabic"/>
                <a:sym typeface="Montaser Arabic"/>
              </a:rPr>
              <a:t> 2021, pois </a:t>
            </a:r>
            <a:r>
              <a:rPr lang="en-US" sz="1700" u="none" strike="noStrike" spc="132" dirty="0" err="1">
                <a:solidFill>
                  <a:srgbClr val="6C6C6C"/>
                </a:solidFill>
                <a:latin typeface="Montaser Arabic"/>
                <a:ea typeface="Montaser Arabic"/>
                <a:cs typeface="Montaser Arabic"/>
                <a:sym typeface="Montaser Arabic"/>
              </a:rPr>
              <a:t>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cresceram</a:t>
            </a:r>
            <a:r>
              <a:rPr lang="en-US" sz="1700" u="none" strike="noStrike" spc="132" dirty="0">
                <a:solidFill>
                  <a:srgbClr val="6C6C6C"/>
                </a:solidFill>
                <a:latin typeface="Montaser Arabic"/>
                <a:ea typeface="Montaser Arabic"/>
                <a:cs typeface="Montaser Arabic"/>
                <a:sym typeface="Montaser Arabic"/>
              </a:rPr>
              <a:t> e as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da </a:t>
            </a:r>
            <a:r>
              <a:rPr lang="en-US" sz="1700" u="none" strike="noStrike" spc="132" dirty="0" err="1">
                <a:solidFill>
                  <a:srgbClr val="6C6C6C"/>
                </a:solidFill>
                <a:latin typeface="Montaser Arabic"/>
                <a:ea typeface="Montaser Arabic"/>
                <a:cs typeface="Montaser Arabic"/>
                <a:sym typeface="Montaser Arabic"/>
              </a:rPr>
              <a:t>área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caíram</a:t>
            </a:r>
            <a:r>
              <a:rPr lang="en-US" sz="1700" u="none" strike="noStrike" spc="132" dirty="0">
                <a:solidFill>
                  <a:srgbClr val="6C6C6C"/>
                </a:solidFill>
                <a:latin typeface="Montaser Arabic"/>
                <a:ea typeface="Montaser Arabic"/>
                <a:cs typeface="Montaser Arabic"/>
                <a:sym typeface="Montaser Arabic"/>
              </a:rPr>
              <a:t> de 12,3 mil para 10,8 mil.</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Em </a:t>
            </a:r>
            <a:r>
              <a:rPr lang="en-US" sz="1700" u="none" strike="noStrike" spc="132" dirty="0" err="1">
                <a:solidFill>
                  <a:srgbClr val="6C6C6C"/>
                </a:solidFill>
                <a:latin typeface="Montaser Arabic"/>
                <a:ea typeface="Montaser Arabic"/>
                <a:cs typeface="Montaser Arabic"/>
                <a:sym typeface="Montaser Arabic"/>
              </a:rPr>
              <a:t>Negócios</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direito</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índice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dobrou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já</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as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passaram</a:t>
            </a:r>
            <a:r>
              <a:rPr lang="en-US" sz="1700" u="none" strike="noStrike" spc="132" dirty="0">
                <a:solidFill>
                  <a:srgbClr val="6C6C6C"/>
                </a:solidFill>
                <a:latin typeface="Montaser Arabic"/>
                <a:ea typeface="Montaser Arabic"/>
                <a:cs typeface="Montaser Arabic"/>
                <a:sym typeface="Montaser Arabic"/>
              </a:rPr>
              <a:t> de 7,5 mil para 15,5 mil.</a:t>
            </a:r>
          </a:p>
        </p:txBody>
      </p:sp>
      <p:pic>
        <p:nvPicPr>
          <p:cNvPr id="6" name="Picture 5" descr="figura_4.png"/>
          <p:cNvPicPr>
            <a:picLocks noChangeAspect="1"/>
          </p:cNvPicPr>
          <p:nvPr/>
        </p:nvPicPr>
        <p:blipFill>
          <a:blip r:embed="rId3"/>
          <a:stretch>
            <a:fillRect/>
          </a:stretch>
        </p:blipFill>
        <p:spPr>
          <a:xfrm>
            <a:off x="914400" y="3350971"/>
            <a:ext cx="9692640" cy="491093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PRÊMIO SALARIAL</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Novo CAGED 2020-2024 -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Salário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mediano</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admissão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escolaridade</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prêmio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salarial</a:t>
            </a:r>
            <a:r>
              <a:rPr lang="en-US" sz="1700" u="none" strike="noStrike" spc="132" dirty="0">
                <a:solidFill>
                  <a:srgbClr val="6C6C6C"/>
                </a:solidFill>
                <a:latin typeface="Montaser Arabic"/>
                <a:ea typeface="Montaser Arabic"/>
                <a:cs typeface="Montaser Arabic"/>
                <a:sym typeface="Montaser Arabic"/>
              </a:rPr>
              <a:t> do diploma (2020–2024).</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Em 2024 quem </a:t>
            </a:r>
            <a:r>
              <a:rPr lang="en-US" sz="1700" u="none" strike="noStrike" spc="132" dirty="0" err="1">
                <a:solidFill>
                  <a:srgbClr val="6C6C6C"/>
                </a:solidFill>
                <a:latin typeface="Montaser Arabic"/>
                <a:ea typeface="Montaser Arabic"/>
                <a:cs typeface="Montaser Arabic"/>
                <a:sym typeface="Montaser Arabic"/>
              </a:rPr>
              <a:t>foi</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contratado</a:t>
            </a:r>
            <a:r>
              <a:rPr lang="en-US" sz="1700" u="none" strike="noStrike" spc="132" dirty="0">
                <a:solidFill>
                  <a:srgbClr val="6C6C6C"/>
                </a:solidFill>
                <a:latin typeface="Montaser Arabic"/>
                <a:ea typeface="Montaser Arabic"/>
                <a:cs typeface="Montaser Arabic"/>
                <a:sym typeface="Montaser Arabic"/>
              </a:rPr>
              <a:t> com </a:t>
            </a:r>
            <a:r>
              <a:rPr lang="en-US" sz="1700" u="none" strike="noStrike" spc="132" dirty="0" err="1">
                <a:solidFill>
                  <a:srgbClr val="6C6C6C"/>
                </a:solidFill>
                <a:latin typeface="Montaser Arabic"/>
                <a:ea typeface="Montaser Arabic"/>
                <a:cs typeface="Montaser Arabic"/>
                <a:sym typeface="Montaser Arabic"/>
              </a:rPr>
              <a:t>nível</a:t>
            </a:r>
            <a:r>
              <a:rPr lang="en-US" sz="1700" u="none" strike="noStrike" spc="132" dirty="0">
                <a:solidFill>
                  <a:srgbClr val="6C6C6C"/>
                </a:solidFill>
                <a:latin typeface="Montaser Arabic"/>
                <a:ea typeface="Montaser Arabic"/>
                <a:cs typeface="Montaser Arabic"/>
                <a:sym typeface="Montaser Arabic"/>
              </a:rPr>
              <a:t> superior </a:t>
            </a:r>
            <a:r>
              <a:rPr lang="en-US" sz="1700" u="none" strike="noStrike" spc="132" dirty="0" err="1">
                <a:solidFill>
                  <a:srgbClr val="6C6C6C"/>
                </a:solidFill>
                <a:latin typeface="Montaser Arabic"/>
                <a:ea typeface="Montaser Arabic"/>
                <a:cs typeface="Montaser Arabic"/>
                <a:sym typeface="Montaser Arabic"/>
              </a:rPr>
              <a:t>recebeu</a:t>
            </a:r>
            <a:r>
              <a:rPr lang="en-US" sz="1700" u="none" strike="noStrike" spc="132" dirty="0">
                <a:solidFill>
                  <a:srgbClr val="6C6C6C"/>
                </a:solidFill>
                <a:latin typeface="Montaser Arabic"/>
                <a:ea typeface="Montaser Arabic"/>
                <a:cs typeface="Montaser Arabic"/>
                <a:sym typeface="Montaser Arabic"/>
              </a:rPr>
              <a:t> R$ 3.841, contra R$ 1.850 do </a:t>
            </a:r>
            <a:r>
              <a:rPr lang="en-US" sz="1700" u="none" strike="noStrike" spc="132" dirty="0" err="1">
                <a:solidFill>
                  <a:srgbClr val="6C6C6C"/>
                </a:solidFill>
                <a:latin typeface="Montaser Arabic"/>
                <a:ea typeface="Montaser Arabic"/>
                <a:cs typeface="Montaser Arabic"/>
                <a:sym typeface="Montaser Arabic"/>
              </a:rPr>
              <a:t>nível</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médio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seja</a:t>
            </a:r>
            <a:r>
              <a:rPr lang="en-US" sz="1700" u="none" strike="noStrike" spc="132" dirty="0">
                <a:solidFill>
                  <a:srgbClr val="6C6C6C"/>
                </a:solidFill>
                <a:latin typeface="Montaser Arabic"/>
                <a:ea typeface="Montaser Arabic"/>
                <a:cs typeface="Montaser Arabic"/>
                <a:sym typeface="Montaser Arabic"/>
              </a:rPr>
              <a:t>, 2,1 </a:t>
            </a:r>
            <a:r>
              <a:rPr lang="en-US" sz="1700" u="none" strike="noStrike" spc="132" dirty="0" err="1">
                <a:solidFill>
                  <a:srgbClr val="6C6C6C"/>
                </a:solidFill>
                <a:latin typeface="Montaser Arabic"/>
                <a:ea typeface="Montaser Arabic"/>
                <a:cs typeface="Montaser Arabic"/>
                <a:sym typeface="Montaser Arabic"/>
              </a:rPr>
              <a:t>vezes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err="1">
                <a:solidFill>
                  <a:srgbClr val="6C6C6C"/>
                </a:solidFill>
                <a:latin typeface="Montaser Arabic"/>
                <a:ea typeface="Montaser Arabic"/>
                <a:cs typeface="Montaser Arabic"/>
                <a:sym typeface="Montaser Arabic"/>
              </a:rPr>
              <a:t>Contudo</a:t>
            </a:r>
            <a:r>
              <a:rPr lang="en-US" sz="1700" u="none" strike="noStrike" spc="132" dirty="0">
                <a:solidFill>
                  <a:srgbClr val="6C6C6C"/>
                </a:solidFill>
                <a:latin typeface="Montaser Arabic"/>
                <a:ea typeface="Montaser Arabic"/>
                <a:cs typeface="Montaser Arabic"/>
                <a:sym typeface="Montaser Arabic"/>
              </a:rPr>
              <a:t>, esse </a:t>
            </a:r>
            <a:r>
              <a:rPr lang="en-US" sz="1700" u="none" strike="noStrike" spc="132" dirty="0" err="1">
                <a:solidFill>
                  <a:srgbClr val="6C6C6C"/>
                </a:solidFill>
                <a:latin typeface="Montaser Arabic"/>
                <a:ea typeface="Montaser Arabic"/>
                <a:cs typeface="Montaser Arabic"/>
                <a:sym typeface="Montaser Arabic"/>
              </a:rPr>
              <a:t>prêmio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caiu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desde</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pico</a:t>
            </a:r>
            <a:r>
              <a:rPr lang="en-US" sz="1700" u="none" strike="noStrike" spc="132" dirty="0">
                <a:solidFill>
                  <a:srgbClr val="6C6C6C"/>
                </a:solidFill>
                <a:latin typeface="Montaser Arabic"/>
                <a:ea typeface="Montaser Arabic"/>
                <a:cs typeface="Montaser Arabic"/>
                <a:sym typeface="Montaser Arabic"/>
              </a:rPr>
              <a:t> de 2,7 </a:t>
            </a:r>
            <a:r>
              <a:rPr lang="en-US" sz="1700" u="none" strike="noStrike" spc="132" dirty="0" err="1">
                <a:solidFill>
                  <a:srgbClr val="6C6C6C"/>
                </a:solidFill>
                <a:latin typeface="Montaser Arabic"/>
                <a:ea typeface="Montaser Arabic"/>
                <a:cs typeface="Montaser Arabic"/>
                <a:sym typeface="Montaser Arabic"/>
              </a:rPr>
              <a:t>vezes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2021, de </a:t>
            </a:r>
            <a:r>
              <a:rPr lang="en-US" sz="1700" u="none" strike="noStrike" spc="132" dirty="0" err="1">
                <a:solidFill>
                  <a:srgbClr val="6C6C6C"/>
                </a:solidFill>
                <a:latin typeface="Montaser Arabic"/>
                <a:ea typeface="Montaser Arabic"/>
                <a:cs typeface="Montaser Arabic"/>
                <a:sym typeface="Montaser Arabic"/>
              </a:rPr>
              <a:t>acordo</a:t>
            </a:r>
            <a:r>
              <a:rPr lang="en-US" sz="1700" u="none" strike="noStrike" spc="132" dirty="0">
                <a:solidFill>
                  <a:srgbClr val="6C6C6C"/>
                </a:solidFill>
                <a:latin typeface="Montaser Arabic"/>
                <a:ea typeface="Montaser Arabic"/>
                <a:cs typeface="Montaser Arabic"/>
                <a:sym typeface="Montaser Arabic"/>
              </a:rPr>
              <a:t> com a </a:t>
            </a:r>
            <a:r>
              <a:rPr lang="en-US" sz="1700" u="none" strike="noStrike" spc="132" dirty="0" err="1">
                <a:solidFill>
                  <a:srgbClr val="6C6C6C"/>
                </a:solidFill>
                <a:latin typeface="Montaser Arabic"/>
                <a:ea typeface="Montaser Arabic"/>
                <a:cs typeface="Montaser Arabic"/>
                <a:sym typeface="Montaser Arabic"/>
              </a:rPr>
              <a:t>redução</a:t>
            </a:r>
            <a:r>
              <a:rPr lang="en-US" sz="1700" u="none" strike="noStrike" spc="132" dirty="0">
                <a:solidFill>
                  <a:srgbClr val="6C6C6C"/>
                </a:solidFill>
                <a:latin typeface="Montaser Arabic"/>
                <a:ea typeface="Montaser Arabic"/>
                <a:cs typeface="Montaser Arabic"/>
                <a:sym typeface="Montaser Arabic"/>
              </a:rPr>
              <a:t> dos </a:t>
            </a:r>
            <a:r>
              <a:rPr lang="en-US" sz="1700" u="none" strike="noStrike" spc="132" dirty="0" err="1">
                <a:solidFill>
                  <a:srgbClr val="6C6C6C"/>
                </a:solidFill>
                <a:latin typeface="Montaser Arabic"/>
                <a:ea typeface="Montaser Arabic"/>
                <a:cs typeface="Montaser Arabic"/>
                <a:sym typeface="Montaser Arabic"/>
              </a:rPr>
              <a:t>retornos</a:t>
            </a:r>
            <a:r>
              <a:rPr lang="en-US" sz="1700" u="none" strike="noStrike" spc="132" dirty="0">
                <a:solidFill>
                  <a:srgbClr val="6C6C6C"/>
                </a:solidFill>
                <a:latin typeface="Montaser Arabic"/>
                <a:ea typeface="Montaser Arabic"/>
                <a:cs typeface="Montaser Arabic"/>
                <a:sym typeface="Montaser Arabic"/>
              </a:rPr>
              <a:t> à </a:t>
            </a:r>
            <a:r>
              <a:rPr lang="en-US" sz="1700" u="none" strike="noStrike" spc="132" dirty="0" err="1">
                <a:solidFill>
                  <a:srgbClr val="6C6C6C"/>
                </a:solidFill>
                <a:latin typeface="Montaser Arabic"/>
                <a:ea typeface="Montaser Arabic"/>
                <a:cs typeface="Montaser Arabic"/>
                <a:sym typeface="Montaser Arabic"/>
              </a:rPr>
              <a:t>educação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descrita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Carvalho e Reis (2024).</a:t>
            </a:r>
          </a:p>
        </p:txBody>
      </p:sp>
      <p:pic>
        <p:nvPicPr>
          <p:cNvPr id="6" name="Picture 5" descr="figura_5.png"/>
          <p:cNvPicPr>
            <a:picLocks noChangeAspect="1"/>
          </p:cNvPicPr>
          <p:nvPr/>
        </p:nvPicPr>
        <p:blipFill>
          <a:blip r:embed="rId3"/>
          <a:stretch>
            <a:fillRect/>
          </a:stretch>
        </p:blipFill>
        <p:spPr>
          <a:xfrm>
            <a:off x="914400" y="3480206"/>
            <a:ext cx="9692640" cy="465246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SOBREQUALIFICAÇÃO</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Novo CAGED e da RAIS 2020-2024 -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a:solidFill>
                  <a:srgbClr val="6C6C6C"/>
                </a:solidFill>
                <a:latin typeface="Montaser Arabic"/>
                <a:ea typeface="Montaser Arabic"/>
                <a:cs typeface="Montaser Arabic"/>
                <a:sym typeface="Montaser Arabic"/>
              </a:rPr>
              <a:t>Percentual de </a:t>
            </a:r>
            <a:r>
              <a:rPr lang="en-US" sz="1700" u="none" strike="noStrike" spc="132" dirty="0" err="1">
                <a:solidFill>
                  <a:srgbClr val="6C6C6C"/>
                </a:solidFill>
                <a:latin typeface="Montaser Arabic"/>
                <a:ea typeface="Montaser Arabic"/>
                <a:cs typeface="Montaser Arabic"/>
                <a:sym typeface="Montaser Arabic"/>
              </a:rPr>
              <a:t>pessoas</a:t>
            </a:r>
            <a:r>
              <a:rPr lang="en-US" sz="1700" u="none" strike="noStrike" spc="132" dirty="0">
                <a:solidFill>
                  <a:srgbClr val="6C6C6C"/>
                </a:solidFill>
                <a:latin typeface="Montaser Arabic"/>
                <a:ea typeface="Montaser Arabic"/>
                <a:cs typeface="Montaser Arabic"/>
                <a:sym typeface="Montaser Arabic"/>
              </a:rPr>
              <a:t> com Ensino Superior </a:t>
            </a:r>
            <a:r>
              <a:rPr lang="en-US" sz="1700" u="none" strike="noStrike" spc="132" dirty="0" err="1">
                <a:solidFill>
                  <a:srgbClr val="6C6C6C"/>
                </a:solidFill>
                <a:latin typeface="Montaser Arabic"/>
                <a:ea typeface="Montaser Arabic"/>
                <a:cs typeface="Montaser Arabic"/>
                <a:sym typeface="Montaser Arabic"/>
              </a:rPr>
              <a:t>admitidas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empregadas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ocupações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nível</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médio</a:t>
            </a:r>
            <a:r>
              <a:rPr lang="en-US" sz="1700" u="none" strike="noStrike" spc="132" dirty="0">
                <a:solidFill>
                  <a:srgbClr val="6C6C6C"/>
                </a:solidFill>
                <a:latin typeface="Montaser Arabic"/>
                <a:ea typeface="Montaser Arabic"/>
                <a:cs typeface="Montaser Arabic"/>
                <a:sym typeface="Montaser Arabic"/>
              </a:rPr>
              <a:t> (2020–2024).</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Em 2024, 34% dos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contratados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entraram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vagas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exigem</a:t>
            </a:r>
            <a:r>
              <a:rPr lang="en-US" sz="1700" u="none" strike="noStrike" spc="132" dirty="0">
                <a:solidFill>
                  <a:srgbClr val="6C6C6C"/>
                </a:solidFill>
                <a:latin typeface="Montaser Arabic"/>
                <a:ea typeface="Montaser Arabic"/>
                <a:cs typeface="Montaser Arabic"/>
                <a:sym typeface="Montaser Arabic"/>
              </a:rPr>
              <a:t> diploma, </a:t>
            </a:r>
            <a:r>
              <a:rPr lang="en-US" sz="1700" u="none" strike="noStrike" spc="132" dirty="0" err="1">
                <a:solidFill>
                  <a:srgbClr val="6C6C6C"/>
                </a:solidFill>
                <a:latin typeface="Montaser Arabic"/>
                <a:ea typeface="Montaser Arabic"/>
                <a:cs typeface="Montaser Arabic"/>
                <a:sym typeface="Montaser Arabic"/>
              </a:rPr>
              <a:t>como</a:t>
            </a:r>
            <a:r>
              <a:rPr lang="en-US" sz="1700" u="none" strike="noStrike" spc="132" dirty="0">
                <a:solidFill>
                  <a:srgbClr val="6C6C6C"/>
                </a:solidFill>
                <a:latin typeface="Montaser Arabic"/>
                <a:ea typeface="Montaser Arabic"/>
                <a:cs typeface="Montaser Arabic"/>
                <a:sym typeface="Montaser Arabic"/>
              </a:rPr>
              <a:t> auxiliar de </a:t>
            </a:r>
            <a:r>
              <a:rPr lang="en-US" sz="1700" u="none" strike="noStrike" spc="132" dirty="0" err="1">
                <a:solidFill>
                  <a:srgbClr val="6C6C6C"/>
                </a:solidFill>
                <a:latin typeface="Montaser Arabic"/>
                <a:ea typeface="Montaser Arabic"/>
                <a:cs typeface="Montaser Arabic"/>
                <a:sym typeface="Montaser Arabic"/>
              </a:rPr>
              <a:t>logística</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assistente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administrativo</a:t>
            </a:r>
            <a:r>
              <a:rPr lang="en-US" sz="1700" u="none" strike="noStrike" spc="132" dirty="0">
                <a:solidFill>
                  <a:srgbClr val="6C6C6C"/>
                </a:solidFill>
                <a:latin typeface="Montaser Arabic"/>
                <a:ea typeface="Montaser Arabic"/>
                <a:cs typeface="Montaser Arabic"/>
                <a:sym typeface="Montaser Arabic"/>
              </a:rPr>
              <a:t>.</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Entre </a:t>
            </a:r>
            <a:r>
              <a:rPr lang="en-US" sz="1700" u="none" strike="noStrike" spc="132" dirty="0" err="1">
                <a:solidFill>
                  <a:srgbClr val="6C6C6C"/>
                </a:solidFill>
                <a:latin typeface="Montaser Arabic"/>
                <a:ea typeface="Montaser Arabic"/>
                <a:cs typeface="Montaser Arabic"/>
                <a:sym typeface="Montaser Arabic"/>
              </a:rPr>
              <a:t>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vínculos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ativos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essa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parcela</a:t>
            </a:r>
            <a:r>
              <a:rPr lang="en-US" sz="1700" u="none" strike="noStrike" spc="132" dirty="0">
                <a:solidFill>
                  <a:srgbClr val="6C6C6C"/>
                </a:solidFill>
                <a:latin typeface="Montaser Arabic"/>
                <a:ea typeface="Montaser Arabic"/>
                <a:cs typeface="Montaser Arabic"/>
                <a:sym typeface="Montaser Arabic"/>
              </a:rPr>
              <a:t> é de 16%, o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indica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descompasso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pesa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na</a:t>
            </a:r>
            <a:r>
              <a:rPr lang="en-US" sz="1700" u="none" strike="noStrike" spc="132" dirty="0">
                <a:solidFill>
                  <a:srgbClr val="6C6C6C"/>
                </a:solidFill>
                <a:latin typeface="Montaser Arabic"/>
                <a:ea typeface="Montaser Arabic"/>
                <a:cs typeface="Montaser Arabic"/>
                <a:sym typeface="Montaser Arabic"/>
              </a:rPr>
              <a:t> entrada no mercado.</a:t>
            </a:r>
          </a:p>
        </p:txBody>
      </p:sp>
      <p:pic>
        <p:nvPicPr>
          <p:cNvPr id="6" name="Picture 5" descr="figura_6.png"/>
          <p:cNvPicPr>
            <a:picLocks noChangeAspect="1"/>
          </p:cNvPicPr>
          <p:nvPr/>
        </p:nvPicPr>
        <p:blipFill>
          <a:blip r:embed="rId3"/>
          <a:stretch>
            <a:fillRect/>
          </a:stretch>
        </p:blipFill>
        <p:spPr>
          <a:xfrm>
            <a:off x="914400" y="3480206"/>
            <a:ext cx="9692640" cy="465246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MUNICÍPIOS</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Microdados do Censo da Educação Superior - INEP/MEC e do Novo CAGED - MTE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err="1">
                <a:solidFill>
                  <a:srgbClr val="6C6C6C"/>
                </a:solidFill>
                <a:latin typeface="Montaser Arabic"/>
                <a:ea typeface="Montaser Arabic"/>
                <a:cs typeface="Montaser Arabic"/>
                <a:sym typeface="Montaser Arabic"/>
              </a:rPr>
              <a:t>Participação</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cada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município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nos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nas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pessoas</a:t>
            </a:r>
            <a:r>
              <a:rPr lang="en-US" sz="1700" u="none" strike="noStrike" spc="132" dirty="0">
                <a:solidFill>
                  <a:srgbClr val="6C6C6C"/>
                </a:solidFill>
                <a:latin typeface="Montaser Arabic"/>
                <a:ea typeface="Montaser Arabic"/>
                <a:cs typeface="Montaser Arabic"/>
                <a:sym typeface="Montaser Arabic"/>
              </a:rPr>
              <a:t> com Ensino Superior (2024).</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err="1">
                <a:solidFill>
                  <a:srgbClr val="6C6C6C"/>
                </a:solidFill>
                <a:latin typeface="Montaser Arabic"/>
                <a:ea typeface="Montaser Arabic"/>
                <a:cs typeface="Montaser Arabic"/>
                <a:sym typeface="Montaser Arabic"/>
              </a:rPr>
              <a:t>Barueri</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concentra</a:t>
            </a:r>
            <a:r>
              <a:rPr lang="en-US" sz="1700" u="none" strike="noStrike" spc="132" dirty="0">
                <a:solidFill>
                  <a:srgbClr val="6C6C6C"/>
                </a:solidFill>
                <a:latin typeface="Montaser Arabic"/>
                <a:ea typeface="Montaser Arabic"/>
                <a:cs typeface="Montaser Arabic"/>
                <a:sym typeface="Montaser Arabic"/>
              </a:rPr>
              <a:t> 64% das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e 37% dos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Carapicuíba forma 31% dos </a:t>
            </a:r>
            <a:r>
              <a:rPr lang="en-US" sz="1700" u="none" strike="noStrike" spc="132" dirty="0" err="1">
                <a:solidFill>
                  <a:srgbClr val="6C6C6C"/>
                </a:solidFill>
                <a:latin typeface="Montaser Arabic"/>
                <a:ea typeface="Montaser Arabic"/>
                <a:cs typeface="Montaser Arabic"/>
                <a:sym typeface="Montaser Arabic"/>
              </a:rPr>
              <a:t>concluintes</a:t>
            </a:r>
            <a:r>
              <a:rPr lang="en-US" sz="1700" u="none" strike="noStrike" spc="132" dirty="0">
                <a:solidFill>
                  <a:srgbClr val="6C6C6C"/>
                </a:solidFill>
                <a:latin typeface="Montaser Arabic"/>
                <a:ea typeface="Montaser Arabic"/>
                <a:cs typeface="Montaser Arabic"/>
                <a:sym typeface="Montaser Arabic"/>
              </a:rPr>
              <a:t> das </a:t>
            </a:r>
            <a:r>
              <a:rPr lang="en-US" sz="1700" u="none" strike="noStrike" spc="132" dirty="0" err="1">
                <a:solidFill>
                  <a:srgbClr val="6C6C6C"/>
                </a:solidFill>
                <a:latin typeface="Montaser Arabic"/>
                <a:ea typeface="Montaser Arabic"/>
                <a:cs typeface="Montaser Arabic"/>
                <a:sym typeface="Montaser Arabic"/>
              </a:rPr>
              <a:t>Fatecs</a:t>
            </a:r>
            <a:r>
              <a:rPr lang="en-US" sz="1700" u="none" strike="noStrike" spc="132" dirty="0">
                <a:solidFill>
                  <a:srgbClr val="6C6C6C"/>
                </a:solidFill>
                <a:latin typeface="Montaser Arabic"/>
                <a:ea typeface="Montaser Arabic"/>
                <a:cs typeface="Montaser Arabic"/>
                <a:sym typeface="Montaser Arabic"/>
              </a:rPr>
              <a:t>, mas </a:t>
            </a:r>
            <a:r>
              <a:rPr lang="en-US" sz="1700" u="none" strike="noStrike" spc="132" dirty="0" err="1">
                <a:solidFill>
                  <a:srgbClr val="6C6C6C"/>
                </a:solidFill>
                <a:latin typeface="Montaser Arabic"/>
                <a:ea typeface="Montaser Arabic"/>
                <a:cs typeface="Montaser Arabic"/>
                <a:sym typeface="Montaser Arabic"/>
              </a:rPr>
              <a:t>responde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apenas</a:t>
            </a:r>
            <a:r>
              <a:rPr lang="en-US" sz="1700" u="none" strike="noStrike" spc="132" dirty="0">
                <a:solidFill>
                  <a:srgbClr val="6C6C6C"/>
                </a:solidFill>
                <a:latin typeface="Montaser Arabic"/>
                <a:ea typeface="Montaser Arabic"/>
                <a:cs typeface="Montaser Arabic"/>
                <a:sym typeface="Montaser Arabic"/>
              </a:rPr>
              <a:t> 2% das </a:t>
            </a:r>
            <a:r>
              <a:rPr lang="en-US" sz="1700" u="none" strike="noStrike" spc="132" dirty="0" err="1">
                <a:solidFill>
                  <a:srgbClr val="6C6C6C"/>
                </a:solidFill>
                <a:latin typeface="Montaser Arabic"/>
                <a:ea typeface="Montaser Arabic"/>
                <a:cs typeface="Montaser Arabic"/>
                <a:sym typeface="Montaser Arabic"/>
              </a:rPr>
              <a:t>admissões</a:t>
            </a:r>
            <a:r>
              <a:rPr lang="en-US" sz="1700" u="none" strike="noStrike" spc="132" dirty="0">
                <a:solidFill>
                  <a:srgbClr val="6C6C6C"/>
                </a:solidFill>
                <a:latin typeface="Montaser Arabic"/>
                <a:ea typeface="Montaser Arabic"/>
                <a:cs typeface="Montaser Arabic"/>
                <a:sym typeface="Montaser Arabic"/>
              </a:rPr>
              <a:t>, o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mostra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o mercado de </a:t>
            </a:r>
            <a:r>
              <a:rPr lang="en-US" sz="1700" u="none" strike="noStrike" spc="132" dirty="0" err="1">
                <a:solidFill>
                  <a:srgbClr val="6C6C6C"/>
                </a:solidFill>
                <a:latin typeface="Montaser Arabic"/>
                <a:ea typeface="Montaser Arabic"/>
                <a:cs typeface="Montaser Arabic"/>
                <a:sym typeface="Montaser Arabic"/>
              </a:rPr>
              <a:t>trabalho</a:t>
            </a:r>
            <a:r>
              <a:rPr lang="en-US" sz="1700" u="none" strike="noStrike" spc="132" dirty="0">
                <a:solidFill>
                  <a:srgbClr val="6C6C6C"/>
                </a:solidFill>
                <a:latin typeface="Montaser Arabic"/>
                <a:ea typeface="Montaser Arabic"/>
                <a:cs typeface="Montaser Arabic"/>
                <a:sym typeface="Montaser Arabic"/>
              </a:rPr>
              <a:t> é regional.</a:t>
            </a:r>
          </a:p>
        </p:txBody>
      </p:sp>
      <p:pic>
        <p:nvPicPr>
          <p:cNvPr id="6" name="Picture 5" descr="figura_7.png"/>
          <p:cNvPicPr>
            <a:picLocks noChangeAspect="1"/>
          </p:cNvPicPr>
          <p:nvPr/>
        </p:nvPicPr>
        <p:blipFill>
          <a:blip r:embed="rId3"/>
          <a:stretch>
            <a:fillRect/>
          </a:stretch>
        </p:blipFill>
        <p:spPr>
          <a:xfrm>
            <a:off x="914400" y="3092500"/>
            <a:ext cx="9692640" cy="5427878"/>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MORADORES</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3200"/>
              </a:lnSpc>
              <a:buNone/>
            </a:pPr>
            <a:r>
              <a:rPr lang="en-US" sz="2000" u="none" strike="noStrike" spc="132">
                <a:solidFill>
                  <a:srgbClr val="6C6C6C"/>
                </a:solidFill>
                <a:latin typeface="Montaser Arabic Light"/>
                <a:ea typeface="Montaser Arabic Light"/>
                <a:cs typeface="Montaser Arabic Light"/>
                <a:sym typeface="Montaser Arabic Light"/>
              </a:rPr>
              <a:t>Fonte: Censo Demográfico 2022 - IBGE</a:t>
            </a:r>
          </a:p>
        </p:txBody>
      </p:sp>
      <p:sp>
        <p:nvSpPr>
          <p:cNvPr id="2" name="TextBox 5"/>
          <p:cNvSpPr txBox="1"/>
          <p:nvPr/>
        </p:nvSpPr>
        <p:spPr>
          <a:xfrm>
            <a:off x="11155680" y="3108960"/>
            <a:ext cx="6035040" cy="5486400"/>
          </a:xfrm>
          <a:prstGeom prst="rect">
            <a:avLst/>
          </a:prstGeom>
        </p:spPr>
        <p:txBody>
          <a:bodyPr lIns="0" tIns="0" rIns="0" bIns="0" rtlCol="0" anchor="t">
            <a:noAutofit/>
          </a:bodyPr>
          <a:lstStyle/>
          <a:p>
            <a:pPr marL="0" lvl="1" indent="0" algn="l">
              <a:lnSpc>
                <a:spcPts val="2720"/>
              </a:lnSpc>
              <a:buNone/>
            </a:pPr>
            <a:r>
              <a:rPr lang="en-US" sz="1700" u="none" strike="noStrike" spc="132" dirty="0">
                <a:solidFill>
                  <a:srgbClr val="6C6C6C"/>
                </a:solidFill>
                <a:latin typeface="Montaser Arabic"/>
                <a:ea typeface="Montaser Arabic"/>
                <a:cs typeface="Montaser Arabic"/>
                <a:sym typeface="Montaser Arabic"/>
              </a:rPr>
              <a:t>Percentual de </a:t>
            </a:r>
            <a:r>
              <a:rPr lang="en-US" sz="1700" u="none" strike="noStrike" spc="132" dirty="0" err="1">
                <a:solidFill>
                  <a:srgbClr val="6C6C6C"/>
                </a:solidFill>
                <a:latin typeface="Montaser Arabic"/>
                <a:ea typeface="Montaser Arabic"/>
                <a:cs typeface="Montaser Arabic"/>
                <a:sym typeface="Montaser Arabic"/>
              </a:rPr>
              <a:t>moradores</a:t>
            </a:r>
            <a:r>
              <a:rPr lang="en-US" sz="1700" u="none" strike="noStrike" spc="132" dirty="0">
                <a:solidFill>
                  <a:srgbClr val="6C6C6C"/>
                </a:solidFill>
                <a:latin typeface="Montaser Arabic"/>
                <a:ea typeface="Montaser Arabic"/>
                <a:cs typeface="Montaser Arabic"/>
                <a:sym typeface="Montaser Arabic"/>
              </a:rPr>
              <a:t> de 25 </a:t>
            </a:r>
            <a:r>
              <a:rPr lang="en-US" sz="1700" u="none" strike="noStrike" spc="132" dirty="0" err="1">
                <a:solidFill>
                  <a:srgbClr val="6C6C6C"/>
                </a:solidFill>
                <a:latin typeface="Montaser Arabic"/>
                <a:ea typeface="Montaser Arabic"/>
                <a:cs typeface="Montaser Arabic"/>
                <a:sym typeface="Montaser Arabic"/>
              </a:rPr>
              <a:t>anos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mais</a:t>
            </a:r>
            <a:r>
              <a:rPr lang="en-US" sz="1700" u="none" strike="noStrike" spc="132" dirty="0">
                <a:solidFill>
                  <a:srgbClr val="6C6C6C"/>
                </a:solidFill>
                <a:latin typeface="Montaser Arabic"/>
                <a:ea typeface="Montaser Arabic"/>
                <a:cs typeface="Montaser Arabic"/>
                <a:sym typeface="Montaser Arabic"/>
              </a:rPr>
              <a:t> com Ensino Superior </a:t>
            </a:r>
            <a:r>
              <a:rPr lang="en-US" sz="1700" u="none" strike="noStrike" spc="132" dirty="0" err="1">
                <a:solidFill>
                  <a:srgbClr val="6C6C6C"/>
                </a:solidFill>
                <a:latin typeface="Montaser Arabic"/>
                <a:ea typeface="Montaser Arabic"/>
                <a:cs typeface="Montaser Arabic"/>
                <a:sym typeface="Montaser Arabic"/>
              </a:rPr>
              <a:t>completo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por</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município</a:t>
            </a:r>
            <a:r>
              <a:rPr lang="en-US" sz="1700" u="none" strike="noStrike" spc="132" dirty="0">
                <a:solidFill>
                  <a:srgbClr val="6C6C6C"/>
                </a:solidFill>
                <a:latin typeface="Montaser Arabic"/>
                <a:ea typeface="Montaser Arabic"/>
                <a:cs typeface="Montaser Arabic"/>
                <a:sym typeface="Montaser Arabic"/>
              </a:rPr>
              <a:t> (2022).</a:t>
            </a:r>
          </a:p>
          <a:p>
            <a:pPr marL="0" lvl="1" indent="0" algn="l">
              <a:lnSpc>
                <a:spcPts val="2720"/>
              </a:lnSpc>
              <a:buNone/>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a:solidFill>
                  <a:srgbClr val="6C6C6C"/>
                </a:solidFill>
                <a:latin typeface="Montaser Arabic"/>
                <a:ea typeface="Montaser Arabic"/>
                <a:cs typeface="Montaser Arabic"/>
                <a:sym typeface="Montaser Arabic"/>
              </a:rPr>
              <a:t>Na </a:t>
            </a:r>
            <a:r>
              <a:rPr lang="en-US" sz="1700" u="none" strike="noStrike" spc="132" dirty="0" err="1">
                <a:solidFill>
                  <a:srgbClr val="6C6C6C"/>
                </a:solidFill>
                <a:latin typeface="Montaser Arabic"/>
                <a:ea typeface="Montaser Arabic"/>
                <a:cs typeface="Montaser Arabic"/>
                <a:sym typeface="Montaser Arabic"/>
              </a:rPr>
              <a:t>região</a:t>
            </a:r>
            <a:r>
              <a:rPr lang="en-US" sz="1700" u="none" strike="noStrike" spc="132" dirty="0">
                <a:solidFill>
                  <a:srgbClr val="6C6C6C"/>
                </a:solidFill>
                <a:latin typeface="Montaser Arabic"/>
                <a:ea typeface="Montaser Arabic"/>
                <a:cs typeface="Montaser Arabic"/>
                <a:sym typeface="Montaser Arabic"/>
              </a:rPr>
              <a:t>, 21% </a:t>
            </a:r>
            <a:r>
              <a:rPr lang="en-US" sz="1700" u="none" strike="noStrike" spc="132" dirty="0" err="1">
                <a:solidFill>
                  <a:srgbClr val="6C6C6C"/>
                </a:solidFill>
                <a:latin typeface="Montaser Arabic"/>
                <a:ea typeface="Montaser Arabic"/>
                <a:cs typeface="Montaser Arabic"/>
                <a:sym typeface="Montaser Arabic"/>
              </a:rPr>
              <a:t>têm</a:t>
            </a:r>
            <a:r>
              <a:rPr lang="en-US" sz="1700" u="none" strike="noStrike" spc="132" dirty="0">
                <a:solidFill>
                  <a:srgbClr val="6C6C6C"/>
                </a:solidFill>
                <a:latin typeface="Montaser Arabic"/>
                <a:ea typeface="Montaser Arabic"/>
                <a:cs typeface="Montaser Arabic"/>
                <a:sym typeface="Montaser Arabic"/>
              </a:rPr>
              <a:t> diploma, de 33%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Santana de </a:t>
            </a:r>
            <a:r>
              <a:rPr lang="en-US" sz="1700" u="none" strike="noStrike" spc="132" dirty="0" err="1">
                <a:solidFill>
                  <a:srgbClr val="6C6C6C"/>
                </a:solidFill>
                <a:latin typeface="Montaser Arabic"/>
                <a:ea typeface="Montaser Arabic"/>
                <a:cs typeface="Montaser Arabic"/>
                <a:sym typeface="Montaser Arabic"/>
              </a:rPr>
              <a:t>Parnaíba</a:t>
            </a:r>
            <a:r>
              <a:rPr lang="en-US" sz="1700" u="none" strike="noStrike" spc="132" dirty="0">
                <a:solidFill>
                  <a:srgbClr val="6C6C6C"/>
                </a:solidFill>
                <a:latin typeface="Montaser Arabic"/>
                <a:ea typeface="Montaser Arabic"/>
                <a:cs typeface="Montaser Arabic"/>
                <a:sym typeface="Montaser Arabic"/>
              </a:rPr>
              <a:t> a 10% </a:t>
            </a:r>
            <a:r>
              <a:rPr lang="en-US" sz="1700" u="none" strike="noStrike" spc="132" dirty="0" err="1">
                <a:solidFill>
                  <a:srgbClr val="6C6C6C"/>
                </a:solidFill>
                <a:latin typeface="Montaser Arabic"/>
                <a:ea typeface="Montaser Arabic"/>
                <a:cs typeface="Montaser Arabic"/>
                <a:sym typeface="Montaser Arabic"/>
              </a:rPr>
              <a:t>em</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Itapevi</a:t>
            </a:r>
            <a:r>
              <a:rPr lang="en-US" sz="1700" u="none" strike="noStrike" spc="132" dirty="0">
                <a:solidFill>
                  <a:srgbClr val="6C6C6C"/>
                </a:solidFill>
                <a:latin typeface="Montaser Arabic"/>
                <a:ea typeface="Montaser Arabic"/>
                <a:cs typeface="Montaser Arabic"/>
                <a:sym typeface="Montaser Arabic"/>
              </a:rPr>
              <a:t>, e </a:t>
            </a:r>
            <a:r>
              <a:rPr lang="en-US" sz="1700" u="none" strike="noStrike" spc="132" dirty="0" err="1">
                <a:solidFill>
                  <a:srgbClr val="6C6C6C"/>
                </a:solidFill>
                <a:latin typeface="Montaser Arabic"/>
                <a:ea typeface="Montaser Arabic"/>
                <a:cs typeface="Montaser Arabic"/>
                <a:sym typeface="Montaser Arabic"/>
              </a:rPr>
              <a:t>apenas</a:t>
            </a:r>
            <a:r>
              <a:rPr lang="en-US" sz="1700" u="none" strike="noStrike" spc="132" dirty="0">
                <a:solidFill>
                  <a:srgbClr val="6C6C6C"/>
                </a:solidFill>
                <a:latin typeface="Montaser Arabic"/>
                <a:ea typeface="Montaser Arabic"/>
                <a:cs typeface="Montaser Arabic"/>
                <a:sym typeface="Montaser Arabic"/>
              </a:rPr>
              <a:t> 15% dos </a:t>
            </a:r>
            <a:r>
              <a:rPr lang="en-US" sz="1700" u="none" strike="noStrike" spc="132" dirty="0" err="1">
                <a:solidFill>
                  <a:srgbClr val="6C6C6C"/>
                </a:solidFill>
                <a:latin typeface="Montaser Arabic"/>
                <a:ea typeface="Montaser Arabic"/>
                <a:cs typeface="Montaser Arabic"/>
                <a:sym typeface="Montaser Arabic"/>
              </a:rPr>
              <a:t>jovens</a:t>
            </a:r>
            <a:r>
              <a:rPr lang="en-US" sz="1700" u="none" strike="noStrike" spc="132" dirty="0">
                <a:solidFill>
                  <a:srgbClr val="6C6C6C"/>
                </a:solidFill>
                <a:latin typeface="Montaser Arabic"/>
                <a:ea typeface="Montaser Arabic"/>
                <a:cs typeface="Montaser Arabic"/>
                <a:sym typeface="Montaser Arabic"/>
              </a:rPr>
              <a:t> de 18 a 24 </a:t>
            </a:r>
            <a:r>
              <a:rPr lang="en-US" sz="1700" u="none" strike="noStrike" spc="132" dirty="0" err="1">
                <a:solidFill>
                  <a:srgbClr val="6C6C6C"/>
                </a:solidFill>
                <a:latin typeface="Montaser Arabic"/>
                <a:ea typeface="Montaser Arabic"/>
                <a:cs typeface="Montaser Arabic"/>
                <a:sym typeface="Montaser Arabic"/>
              </a:rPr>
              <a:t>anos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frequentam</a:t>
            </a:r>
            <a:r>
              <a:rPr lang="en-US" sz="1700" u="none" strike="noStrike" spc="132" dirty="0">
                <a:solidFill>
                  <a:srgbClr val="6C6C6C"/>
                </a:solidFill>
                <a:latin typeface="Montaser Arabic"/>
                <a:ea typeface="Montaser Arabic"/>
                <a:cs typeface="Montaser Arabic"/>
                <a:sym typeface="Montaser Arabic"/>
              </a:rPr>
              <a:t> a </a:t>
            </a:r>
            <a:r>
              <a:rPr lang="en-US" sz="1700" u="none" strike="noStrike" spc="132" dirty="0" err="1">
                <a:solidFill>
                  <a:srgbClr val="6C6C6C"/>
                </a:solidFill>
                <a:latin typeface="Montaser Arabic"/>
                <a:ea typeface="Montaser Arabic"/>
                <a:cs typeface="Montaser Arabic"/>
                <a:sym typeface="Montaser Arabic"/>
              </a:rPr>
              <a:t>graduação</a:t>
            </a:r>
            <a:r>
              <a:rPr lang="en-US" sz="1700" u="none" strike="noStrike" spc="132" dirty="0">
                <a:solidFill>
                  <a:srgbClr val="6C6C6C"/>
                </a:solidFill>
                <a:latin typeface="Montaser Arabic"/>
                <a:ea typeface="Montaser Arabic"/>
                <a:cs typeface="Montaser Arabic"/>
                <a:sym typeface="Montaser Arabic"/>
              </a:rPr>
              <a:t>.</a:t>
            </a:r>
          </a:p>
          <a:p>
            <a:pPr marL="285750" lvl="1" indent="-285750" algn="l">
              <a:lnSpc>
                <a:spcPts val="2720"/>
              </a:lnSpc>
              <a:buFont typeface="Arial" panose="020B0604020202020204" pitchFamily="34" charset="0"/>
              <a:buChar char="•"/>
            </a:pPr>
            <a:endParaRPr lang="en-US" sz="1700" u="none" strike="noStrike" spc="132" dirty="0">
              <a:solidFill>
                <a:srgbClr val="6C6C6C"/>
              </a:solidFill>
              <a:latin typeface="Montaser Arabic"/>
              <a:ea typeface="Montaser Arabic"/>
              <a:cs typeface="Montaser Arabic"/>
              <a:sym typeface="Montaser Arabic"/>
            </a:endParaRPr>
          </a:p>
          <a:p>
            <a:pPr marL="285750" lvl="1" indent="-285750" algn="l">
              <a:lnSpc>
                <a:spcPts val="2720"/>
              </a:lnSpc>
              <a:buFont typeface="Arial" panose="020B0604020202020204" pitchFamily="34" charset="0"/>
              <a:buChar char="•"/>
            </a:pPr>
            <a:r>
              <a:rPr lang="en-US" sz="1700" u="none" strike="noStrike" spc="132" dirty="0" err="1">
                <a:solidFill>
                  <a:srgbClr val="6C6C6C"/>
                </a:solidFill>
                <a:latin typeface="Montaser Arabic"/>
                <a:ea typeface="Montaser Arabic"/>
                <a:cs typeface="Montaser Arabic"/>
                <a:sym typeface="Montaser Arabic"/>
              </a:rPr>
              <a:t>Computação</a:t>
            </a:r>
            <a:r>
              <a:rPr lang="en-US" sz="1700" u="none" strike="noStrike" spc="132" dirty="0">
                <a:solidFill>
                  <a:srgbClr val="6C6C6C"/>
                </a:solidFill>
                <a:latin typeface="Montaser Arabic"/>
                <a:ea typeface="Montaser Arabic"/>
                <a:cs typeface="Montaser Arabic"/>
                <a:sym typeface="Montaser Arabic"/>
              </a:rPr>
              <a:t> e TIC é a </a:t>
            </a:r>
            <a:r>
              <a:rPr lang="en-US" sz="1700" u="none" strike="noStrike" spc="132" dirty="0" err="1">
                <a:solidFill>
                  <a:srgbClr val="6C6C6C"/>
                </a:solidFill>
                <a:latin typeface="Montaser Arabic"/>
                <a:ea typeface="Montaser Arabic"/>
                <a:cs typeface="Montaser Arabic"/>
                <a:sym typeface="Montaser Arabic"/>
              </a:rPr>
              <a:t>única</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área</a:t>
            </a:r>
            <a:r>
              <a:rPr lang="en-US" sz="1700" u="none" strike="noStrike" spc="132" dirty="0">
                <a:solidFill>
                  <a:srgbClr val="6C6C6C"/>
                </a:solidFill>
                <a:latin typeface="Montaser Arabic"/>
                <a:ea typeface="Montaser Arabic"/>
                <a:cs typeface="Montaser Arabic"/>
                <a:sym typeface="Montaser Arabic"/>
              </a:rPr>
              <a:t> com </a:t>
            </a:r>
            <a:r>
              <a:rPr lang="en-US" sz="1700" u="none" strike="noStrike" spc="132" dirty="0" err="1">
                <a:solidFill>
                  <a:srgbClr val="6C6C6C"/>
                </a:solidFill>
                <a:latin typeface="Montaser Arabic"/>
                <a:ea typeface="Montaser Arabic"/>
                <a:cs typeface="Montaser Arabic"/>
                <a:sym typeface="Montaser Arabic"/>
              </a:rPr>
              <a:t>menos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moradores</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(21,7 mil) do </a:t>
            </a:r>
            <a:r>
              <a:rPr lang="en-US" sz="1700" u="none" strike="noStrike" spc="132" dirty="0" err="1">
                <a:solidFill>
                  <a:srgbClr val="6C6C6C"/>
                </a:solidFill>
                <a:latin typeface="Montaser Arabic"/>
                <a:ea typeface="Montaser Arabic"/>
                <a:cs typeface="Montaser Arabic"/>
                <a:sym typeface="Montaser Arabic"/>
              </a:rPr>
              <a:t>que</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vínculos</a:t>
            </a:r>
            <a:r>
              <a:rPr lang="en-US" sz="1700" u="none" strike="noStrike" spc="132" dirty="0">
                <a:solidFill>
                  <a:srgbClr val="6C6C6C"/>
                </a:solidFill>
                <a:latin typeface="Montaser Arabic"/>
                <a:ea typeface="Montaser Arabic"/>
                <a:cs typeface="Montaser Arabic"/>
                <a:sym typeface="Montaser Arabic"/>
              </a:rPr>
              <a:t> de </a:t>
            </a:r>
            <a:r>
              <a:rPr lang="en-US" sz="1700" u="none" strike="noStrike" spc="132" dirty="0" err="1">
                <a:solidFill>
                  <a:srgbClr val="6C6C6C"/>
                </a:solidFill>
                <a:latin typeface="Montaser Arabic"/>
                <a:ea typeface="Montaser Arabic"/>
                <a:cs typeface="Montaser Arabic"/>
                <a:sym typeface="Montaser Arabic"/>
              </a:rPr>
              <a:t>formados</a:t>
            </a:r>
            <a:r>
              <a:rPr lang="en-US" sz="1700" u="none" strike="noStrike" spc="132" dirty="0">
                <a:solidFill>
                  <a:srgbClr val="6C6C6C"/>
                </a:solidFill>
                <a:latin typeface="Montaser Arabic"/>
                <a:ea typeface="Montaser Arabic"/>
                <a:cs typeface="Montaser Arabic"/>
                <a:sym typeface="Montaser Arabic"/>
              </a:rPr>
              <a:t> (30,3 mil), </a:t>
            </a:r>
            <a:r>
              <a:rPr lang="en-US" sz="1700" u="none" strike="noStrike" spc="132" dirty="0" err="1">
                <a:solidFill>
                  <a:srgbClr val="6C6C6C"/>
                </a:solidFill>
                <a:latin typeface="Montaser Arabic"/>
                <a:ea typeface="Montaser Arabic"/>
                <a:cs typeface="Montaser Arabic"/>
                <a:sym typeface="Montaser Arabic"/>
              </a:rPr>
              <a:t>ou</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seja</a:t>
            </a:r>
            <a:r>
              <a:rPr lang="en-US" sz="1700" u="none" strike="noStrike" spc="132" dirty="0">
                <a:solidFill>
                  <a:srgbClr val="6C6C6C"/>
                </a:solidFill>
                <a:latin typeface="Montaser Arabic"/>
                <a:ea typeface="Montaser Arabic"/>
                <a:cs typeface="Montaser Arabic"/>
                <a:sym typeface="Montaser Arabic"/>
              </a:rPr>
              <a:t>, a </a:t>
            </a:r>
            <a:r>
              <a:rPr lang="en-US" sz="1700" u="none" strike="noStrike" spc="132" dirty="0" err="1">
                <a:solidFill>
                  <a:srgbClr val="6C6C6C"/>
                </a:solidFill>
                <a:latin typeface="Montaser Arabic"/>
                <a:ea typeface="Montaser Arabic"/>
                <a:cs typeface="Montaser Arabic"/>
                <a:sym typeface="Montaser Arabic"/>
              </a:rPr>
              <a:t>região</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atrai</a:t>
            </a:r>
            <a:r>
              <a:rPr lang="en-US" sz="1700" u="none" strike="noStrike" spc="132" dirty="0">
                <a:solidFill>
                  <a:srgbClr val="6C6C6C"/>
                </a:solidFill>
                <a:latin typeface="Montaser Arabic"/>
                <a:ea typeface="Montaser Arabic"/>
                <a:cs typeface="Montaser Arabic"/>
                <a:sym typeface="Montaser Arabic"/>
              </a:rPr>
              <a:t> </a:t>
            </a:r>
            <a:r>
              <a:rPr lang="en-US" sz="1700" u="none" strike="noStrike" spc="132" dirty="0" err="1">
                <a:solidFill>
                  <a:srgbClr val="6C6C6C"/>
                </a:solidFill>
                <a:latin typeface="Montaser Arabic"/>
                <a:ea typeface="Montaser Arabic"/>
                <a:cs typeface="Montaser Arabic"/>
                <a:sym typeface="Montaser Arabic"/>
              </a:rPr>
              <a:t>profissionais</a:t>
            </a:r>
            <a:r>
              <a:rPr lang="en-US" sz="1700" u="none" strike="noStrike" spc="132" dirty="0">
                <a:solidFill>
                  <a:srgbClr val="6C6C6C"/>
                </a:solidFill>
                <a:latin typeface="Montaser Arabic"/>
                <a:ea typeface="Montaser Arabic"/>
                <a:cs typeface="Montaser Arabic"/>
                <a:sym typeface="Montaser Arabic"/>
              </a:rPr>
              <a:t> de fora.</a:t>
            </a:r>
          </a:p>
        </p:txBody>
      </p:sp>
      <p:pic>
        <p:nvPicPr>
          <p:cNvPr id="6" name="Picture 5" descr="figura_8.png"/>
          <p:cNvPicPr>
            <a:picLocks noChangeAspect="1"/>
          </p:cNvPicPr>
          <p:nvPr/>
        </p:nvPicPr>
        <p:blipFill>
          <a:blip r:embed="rId3"/>
          <a:stretch>
            <a:fillRect/>
          </a:stretch>
        </p:blipFill>
        <p:spPr>
          <a:xfrm>
            <a:off x="914400" y="3350971"/>
            <a:ext cx="9692640" cy="491093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160020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CURSOS DA FATEC</a:t>
            </a:r>
          </a:p>
        </p:txBody>
      </p:sp>
      <p:sp>
        <p:nvSpPr>
          <p:cNvPr id="5" name="TextBox 5"/>
          <p:cNvSpPr txBox="1"/>
          <p:nvPr/>
        </p:nvSpPr>
        <p:spPr>
          <a:xfrm>
            <a:off x="990600" y="2444393"/>
            <a:ext cx="16002000" cy="2045207"/>
          </a:xfrm>
          <a:prstGeom prst="rect">
            <a:avLst/>
          </a:prstGeom>
        </p:spPr>
        <p:txBody>
          <a:bodyPr lIns="0" tIns="0" rIns="0" bIns="0" rtlCol="0" anchor="t">
            <a:spAutoFit/>
          </a:bodyPr>
          <a:lstStyle/>
          <a:p>
            <a:pPr marL="0" lvl="1" indent="0" algn="l">
              <a:lnSpc>
                <a:spcPts val="2880"/>
              </a:lnSpc>
              <a:buNone/>
            </a:pPr>
            <a:r>
              <a:rPr lang="en-US" sz="1800" u="none" strike="noStrike" spc="132">
                <a:solidFill>
                  <a:srgbClr val="6C6C6C"/>
                </a:solidFill>
                <a:latin typeface="Montaser Arabic Light"/>
                <a:ea typeface="Montaser Arabic Light"/>
                <a:cs typeface="Montaser Arabic Light"/>
                <a:sym typeface="Montaser Arabic Light"/>
              </a:rPr>
              <a:t>Cursos da Fatec Santana de Parnaíba e ocupações ligadas a eles (2024). Fonte: INEP/MEC e Novo CAGED - MTE</a:t>
            </a:r>
          </a:p>
        </p:txBody>
      </p:sp>
      <p:sp>
        <p:nvSpPr>
          <p:cNvPr id="2" name="TextBox 5"/>
          <p:cNvSpPr txBox="1"/>
          <p:nvPr/>
        </p:nvSpPr>
        <p:spPr>
          <a:xfrm>
            <a:off x="987552" y="6217920"/>
            <a:ext cx="16002000" cy="2045207"/>
          </a:xfrm>
          <a:prstGeom prst="rect">
            <a:avLst/>
          </a:prstGeom>
        </p:spPr>
        <p:txBody>
          <a:bodyPr lIns="0" tIns="0" rIns="0" bIns="0" rtlCol="0" anchor="t">
            <a:spAutoFit/>
          </a:bodyPr>
          <a:lstStyle/>
          <a:p>
            <a:pPr marL="0" lvl="1" indent="0" algn="l">
              <a:lnSpc>
                <a:spcPts val="2880"/>
              </a:lnSpc>
              <a:buNone/>
            </a:pPr>
            <a:r>
              <a:rPr lang="en-US" sz="1800" u="none" strike="noStrike" spc="132">
                <a:solidFill>
                  <a:srgbClr val="6C6C6C"/>
                </a:solidFill>
                <a:latin typeface="Montaser Arabic Light"/>
                <a:ea typeface="Montaser Arabic Light"/>
                <a:cs typeface="Montaser Arabic Light"/>
                <a:sym typeface="Montaser Arabic Light"/>
              </a:rPr>
              <a:t>Os cursos de tecnologia levam a ocupações que contratam cerca de 8 mil formados por ano, com salário mediano acima de R$ 9 mil, mas essas contratações caíram entre 11% e 15% desde 2021. Também chama atenção a taxa de conclusão, que fica entre 31% e 34% nesses cursos.</a:t>
            </a:r>
          </a:p>
        </p:txBody>
      </p:sp>
      <p:graphicFrame>
        <p:nvGraphicFramePr>
          <p:cNvPr id="6" name="Table 5"/>
          <p:cNvGraphicFramePr>
            <a:graphicFrameLocks noGrp="1"/>
          </p:cNvGraphicFramePr>
          <p:nvPr/>
        </p:nvGraphicFramePr>
        <p:xfrm>
          <a:off x="987552" y="2926080"/>
          <a:ext cx="15544800" cy="2846832"/>
        </p:xfrm>
        <a:graphic>
          <a:graphicData uri="http://schemas.openxmlformats.org/drawingml/2006/table">
            <a:tbl>
              <a:tblPr firstRow="1" bandRow="1">
                <a:tableStyleId>{5C22544A-7EE6-4342-B048-85BDC9FD1C3A}</a:tableStyleId>
              </a:tblPr>
              <a:tblGrid>
                <a:gridCol w="51206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1463040">
                  <a:extLst>
                    <a:ext uri="{9D8B030D-6E8A-4147-A177-3AD203B41FA5}">
                      <a16:colId xmlns:a16="http://schemas.microsoft.com/office/drawing/2014/main" val="20005"/>
                    </a:ext>
                  </a:extLst>
                </a:gridCol>
                <a:gridCol w="2103120">
                  <a:extLst>
                    <a:ext uri="{9D8B030D-6E8A-4147-A177-3AD203B41FA5}">
                      <a16:colId xmlns:a16="http://schemas.microsoft.com/office/drawing/2014/main" val="20006"/>
                    </a:ext>
                  </a:extLst>
                </a:gridCol>
              </a:tblGrid>
              <a:tr h="566928">
                <a:tc>
                  <a:txBody>
                    <a:bodyPr/>
                    <a:lstStyle/>
                    <a:p>
                      <a:pPr algn="l"/>
                      <a:r>
                        <a:rPr sz="1600">
                          <a:solidFill>
                            <a:srgbClr val="FFFFFF"/>
                          </a:solidFill>
                          <a:latin typeface="Montaser Arabic"/>
                        </a:rPr>
                        <a:t>Curso</a:t>
                      </a:r>
                    </a:p>
                  </a:txBody>
                  <a:tcPr>
                    <a:solidFill>
                      <a:srgbClr val="404040"/>
                    </a:solidFill>
                  </a:tcPr>
                </a:tc>
                <a:tc>
                  <a:txBody>
                    <a:bodyPr/>
                    <a:lstStyle/>
                    <a:p>
                      <a:pPr algn="r"/>
                      <a:r>
                        <a:rPr sz="1600">
                          <a:solidFill>
                            <a:srgbClr val="FFFFFF"/>
                          </a:solidFill>
                          <a:latin typeface="Montaser Arabic"/>
                        </a:rPr>
                        <a:t>Ingressantes</a:t>
                      </a:r>
                    </a:p>
                  </a:txBody>
                  <a:tcPr>
                    <a:solidFill>
                      <a:srgbClr val="404040"/>
                    </a:solidFill>
                  </a:tcPr>
                </a:tc>
                <a:tc>
                  <a:txBody>
                    <a:bodyPr/>
                    <a:lstStyle/>
                    <a:p>
                      <a:pPr algn="r"/>
                      <a:r>
                        <a:rPr sz="1600">
                          <a:solidFill>
                            <a:srgbClr val="FFFFFF"/>
                          </a:solidFill>
                          <a:latin typeface="Montaser Arabic"/>
                        </a:rPr>
                        <a:t>Concluintes</a:t>
                      </a:r>
                    </a:p>
                  </a:txBody>
                  <a:tcPr>
                    <a:solidFill>
                      <a:srgbClr val="404040"/>
                    </a:solidFill>
                  </a:tcPr>
                </a:tc>
                <a:tc>
                  <a:txBody>
                    <a:bodyPr/>
                    <a:lstStyle/>
                    <a:p>
                      <a:pPr algn="r"/>
                      <a:r>
                        <a:rPr sz="1600">
                          <a:solidFill>
                            <a:srgbClr val="FFFFFF"/>
                          </a:solidFill>
                          <a:latin typeface="Montaser Arabic"/>
                        </a:rPr>
                        <a:t>Conclusão</a:t>
                      </a:r>
                    </a:p>
                  </a:txBody>
                  <a:tcPr>
                    <a:solidFill>
                      <a:srgbClr val="404040"/>
                    </a:solidFill>
                  </a:tcPr>
                </a:tc>
                <a:tc>
                  <a:txBody>
                    <a:bodyPr/>
                    <a:lstStyle/>
                    <a:p>
                      <a:pPr algn="r"/>
                      <a:r>
                        <a:rPr sz="1600">
                          <a:solidFill>
                            <a:srgbClr val="FFFFFF"/>
                          </a:solidFill>
                          <a:latin typeface="Montaser Arabic"/>
                        </a:rPr>
                        <a:t>Admissões de formados</a:t>
                      </a:r>
                    </a:p>
                  </a:txBody>
                  <a:tcPr>
                    <a:solidFill>
                      <a:srgbClr val="404040"/>
                    </a:solidFill>
                  </a:tcPr>
                </a:tc>
                <a:tc>
                  <a:txBody>
                    <a:bodyPr/>
                    <a:lstStyle/>
                    <a:p>
                      <a:pPr algn="r"/>
                      <a:r>
                        <a:rPr sz="1600">
                          <a:solidFill>
                            <a:srgbClr val="FFFFFF"/>
                          </a:solidFill>
                          <a:latin typeface="Montaser Arabic"/>
                        </a:rPr>
                        <a:t>Desde 2021</a:t>
                      </a:r>
                    </a:p>
                  </a:txBody>
                  <a:tcPr>
                    <a:solidFill>
                      <a:srgbClr val="404040"/>
                    </a:solidFill>
                  </a:tcPr>
                </a:tc>
                <a:tc>
                  <a:txBody>
                    <a:bodyPr/>
                    <a:lstStyle/>
                    <a:p>
                      <a:pPr algn="r"/>
                      <a:r>
                        <a:rPr sz="1600">
                          <a:solidFill>
                            <a:srgbClr val="FFFFFF"/>
                          </a:solidFill>
                          <a:latin typeface="Montaser Arabic"/>
                        </a:rPr>
                        <a:t>Salário mediano</a:t>
                      </a:r>
                    </a:p>
                  </a:txBody>
                  <a:tcPr>
                    <a:solidFill>
                      <a:srgbClr val="404040"/>
                    </a:solidFill>
                  </a:tcPr>
                </a:tc>
                <a:extLst>
                  <a:ext uri="{0D108BD9-81ED-4DB2-BD59-A6C34878D82A}">
                    <a16:rowId xmlns:a16="http://schemas.microsoft.com/office/drawing/2014/main" val="10000"/>
                  </a:ext>
                </a:extLst>
              </a:tr>
              <a:tr h="566928">
                <a:tc>
                  <a:txBody>
                    <a:bodyPr/>
                    <a:lstStyle/>
                    <a:p>
                      <a:pPr algn="l"/>
                      <a:r>
                        <a:rPr sz="1600">
                          <a:solidFill>
                            <a:srgbClr val="5E5E5E"/>
                          </a:solidFill>
                          <a:latin typeface="Montaser Arabic Light"/>
                        </a:rPr>
                        <a:t>Análise e Desenvolvimento de Sistemas</a:t>
                      </a:r>
                    </a:p>
                  </a:txBody>
                  <a:tcPr>
                    <a:solidFill>
                      <a:srgbClr val="FFFFFF"/>
                    </a:solidFill>
                  </a:tcPr>
                </a:tc>
                <a:tc>
                  <a:txBody>
                    <a:bodyPr/>
                    <a:lstStyle/>
                    <a:p>
                      <a:pPr algn="r"/>
                      <a:r>
                        <a:rPr sz="1600">
                          <a:solidFill>
                            <a:srgbClr val="5E5E5E"/>
                          </a:solidFill>
                          <a:latin typeface="Montaser Arabic Light"/>
                        </a:rPr>
                        <a:t>86</a:t>
                      </a:r>
                    </a:p>
                  </a:txBody>
                  <a:tcPr>
                    <a:solidFill>
                      <a:srgbClr val="FFFFFF"/>
                    </a:solidFill>
                  </a:tcPr>
                </a:tc>
                <a:tc>
                  <a:txBody>
                    <a:bodyPr/>
                    <a:lstStyle/>
                    <a:p>
                      <a:pPr algn="r"/>
                      <a:r>
                        <a:rPr sz="1600">
                          <a:solidFill>
                            <a:srgbClr val="5E5E5E"/>
                          </a:solidFill>
                          <a:latin typeface="Montaser Arabic Light"/>
                        </a:rPr>
                        <a:t>35</a:t>
                      </a:r>
                    </a:p>
                  </a:txBody>
                  <a:tcPr>
                    <a:solidFill>
                      <a:srgbClr val="FFFFFF"/>
                    </a:solidFill>
                  </a:tcPr>
                </a:tc>
                <a:tc>
                  <a:txBody>
                    <a:bodyPr/>
                    <a:lstStyle/>
                    <a:p>
                      <a:pPr algn="r"/>
                      <a:r>
                        <a:rPr sz="1600">
                          <a:solidFill>
                            <a:srgbClr val="5E5E5E"/>
                          </a:solidFill>
                          <a:latin typeface="Montaser Arabic Light"/>
                        </a:rPr>
                        <a:t>31%</a:t>
                      </a:r>
                    </a:p>
                  </a:txBody>
                  <a:tcPr>
                    <a:solidFill>
                      <a:srgbClr val="FFFFFF"/>
                    </a:solidFill>
                  </a:tcPr>
                </a:tc>
                <a:tc>
                  <a:txBody>
                    <a:bodyPr/>
                    <a:lstStyle/>
                    <a:p>
                      <a:pPr algn="r"/>
                      <a:r>
                        <a:rPr sz="1600">
                          <a:solidFill>
                            <a:srgbClr val="5E5E5E"/>
                          </a:solidFill>
                          <a:latin typeface="Montaser Arabic Light"/>
                        </a:rPr>
                        <a:t>8.582</a:t>
                      </a:r>
                    </a:p>
                  </a:txBody>
                  <a:tcPr>
                    <a:solidFill>
                      <a:srgbClr val="FFFFFF"/>
                    </a:solidFill>
                  </a:tcPr>
                </a:tc>
                <a:tc>
                  <a:txBody>
                    <a:bodyPr/>
                    <a:lstStyle/>
                    <a:p>
                      <a:pPr algn="r"/>
                      <a:r>
                        <a:rPr sz="1600">
                          <a:solidFill>
                            <a:srgbClr val="5E5E5E"/>
                          </a:solidFill>
                          <a:latin typeface="Montaser Arabic Light"/>
                        </a:rPr>
                        <a:t>-15%</a:t>
                      </a:r>
                    </a:p>
                  </a:txBody>
                  <a:tcPr>
                    <a:solidFill>
                      <a:srgbClr val="FFFFFF"/>
                    </a:solidFill>
                  </a:tcPr>
                </a:tc>
                <a:tc>
                  <a:txBody>
                    <a:bodyPr/>
                    <a:lstStyle/>
                    <a:p>
                      <a:pPr algn="r"/>
                      <a:r>
                        <a:rPr sz="1600">
                          <a:solidFill>
                            <a:srgbClr val="5E5E5E"/>
                          </a:solidFill>
                          <a:latin typeface="Montaser Arabic Light"/>
                        </a:rPr>
                        <a:t>R$ 9.000</a:t>
                      </a:r>
                    </a:p>
                  </a:txBody>
                  <a:tcPr>
                    <a:solidFill>
                      <a:srgbClr val="FFFFFF"/>
                    </a:solidFill>
                  </a:tcPr>
                </a:tc>
                <a:extLst>
                  <a:ext uri="{0D108BD9-81ED-4DB2-BD59-A6C34878D82A}">
                    <a16:rowId xmlns:a16="http://schemas.microsoft.com/office/drawing/2014/main" val="10001"/>
                  </a:ext>
                </a:extLst>
              </a:tr>
              <a:tr h="566928">
                <a:tc>
                  <a:txBody>
                    <a:bodyPr/>
                    <a:lstStyle/>
                    <a:p>
                      <a:pPr algn="l"/>
                      <a:r>
                        <a:rPr sz="1600">
                          <a:solidFill>
                            <a:srgbClr val="5E5E5E"/>
                          </a:solidFill>
                          <a:latin typeface="Montaser Arabic Light"/>
                        </a:rPr>
                        <a:t>Ciência de Dados</a:t>
                      </a:r>
                    </a:p>
                  </a:txBody>
                  <a:tcPr>
                    <a:solidFill>
                      <a:srgbClr val="F2F2F2"/>
                    </a:solidFill>
                  </a:tcPr>
                </a:tc>
                <a:tc>
                  <a:txBody>
                    <a:bodyPr/>
                    <a:lstStyle/>
                    <a:p>
                      <a:pPr algn="r"/>
                      <a:r>
                        <a:rPr sz="1600">
                          <a:solidFill>
                            <a:srgbClr val="5E5E5E"/>
                          </a:solidFill>
                          <a:latin typeface="Montaser Arabic Light"/>
                        </a:rPr>
                        <a:t>90</a:t>
                      </a:r>
                    </a:p>
                  </a:txBody>
                  <a:tcPr>
                    <a:solidFill>
                      <a:srgbClr val="F2F2F2"/>
                    </a:solidFill>
                  </a:tcPr>
                </a:tc>
                <a:tc>
                  <a:txBody>
                    <a:bodyPr/>
                    <a:lstStyle/>
                    <a:p>
                      <a:pPr algn="r"/>
                      <a:r>
                        <a:rPr sz="1600">
                          <a:solidFill>
                            <a:srgbClr val="5E5E5E"/>
                          </a:solidFill>
                          <a:latin typeface="Montaser Arabic Light"/>
                        </a:rPr>
                        <a:t>20</a:t>
                      </a:r>
                    </a:p>
                  </a:txBody>
                  <a:tcPr>
                    <a:solidFill>
                      <a:srgbClr val="F2F2F2"/>
                    </a:solidFill>
                  </a:tcPr>
                </a:tc>
                <a:tc>
                  <a:txBody>
                    <a:bodyPr/>
                    <a:lstStyle/>
                    <a:p>
                      <a:pPr algn="r"/>
                      <a:r>
                        <a:rPr sz="1600">
                          <a:solidFill>
                            <a:srgbClr val="5E5E5E"/>
                          </a:solidFill>
                          <a:latin typeface="Montaser Arabic Light"/>
                        </a:rPr>
                        <a:t>34%</a:t>
                      </a:r>
                    </a:p>
                  </a:txBody>
                  <a:tcPr>
                    <a:solidFill>
                      <a:srgbClr val="F2F2F2"/>
                    </a:solidFill>
                  </a:tcPr>
                </a:tc>
                <a:tc>
                  <a:txBody>
                    <a:bodyPr/>
                    <a:lstStyle/>
                    <a:p>
                      <a:pPr algn="r"/>
                      <a:r>
                        <a:rPr sz="1600">
                          <a:solidFill>
                            <a:srgbClr val="5E5E5E"/>
                          </a:solidFill>
                          <a:latin typeface="Montaser Arabic Light"/>
                        </a:rPr>
                        <a:t>8.156</a:t>
                      </a:r>
                    </a:p>
                  </a:txBody>
                  <a:tcPr>
                    <a:solidFill>
                      <a:srgbClr val="F2F2F2"/>
                    </a:solidFill>
                  </a:tcPr>
                </a:tc>
                <a:tc>
                  <a:txBody>
                    <a:bodyPr/>
                    <a:lstStyle/>
                    <a:p>
                      <a:pPr algn="r"/>
                      <a:r>
                        <a:rPr sz="1600">
                          <a:solidFill>
                            <a:srgbClr val="5E5E5E"/>
                          </a:solidFill>
                          <a:latin typeface="Montaser Arabic Light"/>
                        </a:rPr>
                        <a:t>-11%</a:t>
                      </a:r>
                    </a:p>
                  </a:txBody>
                  <a:tcPr>
                    <a:solidFill>
                      <a:srgbClr val="F2F2F2"/>
                    </a:solidFill>
                  </a:tcPr>
                </a:tc>
                <a:tc>
                  <a:txBody>
                    <a:bodyPr/>
                    <a:lstStyle/>
                    <a:p>
                      <a:pPr algn="r"/>
                      <a:r>
                        <a:rPr sz="1600">
                          <a:solidFill>
                            <a:srgbClr val="5E5E5E"/>
                          </a:solidFill>
                          <a:latin typeface="Montaser Arabic Light"/>
                        </a:rPr>
                        <a:t>R$ 9.500</a:t>
                      </a:r>
                    </a:p>
                  </a:txBody>
                  <a:tcPr>
                    <a:solidFill>
                      <a:srgbClr val="F2F2F2"/>
                    </a:solidFill>
                  </a:tcPr>
                </a:tc>
                <a:extLst>
                  <a:ext uri="{0D108BD9-81ED-4DB2-BD59-A6C34878D82A}">
                    <a16:rowId xmlns:a16="http://schemas.microsoft.com/office/drawing/2014/main" val="10002"/>
                  </a:ext>
                </a:extLst>
              </a:tr>
              <a:tr h="566928">
                <a:tc>
                  <a:txBody>
                    <a:bodyPr/>
                    <a:lstStyle/>
                    <a:p>
                      <a:pPr algn="l"/>
                      <a:r>
                        <a:rPr sz="1600">
                          <a:solidFill>
                            <a:srgbClr val="5E5E5E"/>
                          </a:solidFill>
                          <a:latin typeface="Montaser Arabic Light"/>
                        </a:rPr>
                        <a:t>Gestão Comercial</a:t>
                      </a:r>
                    </a:p>
                  </a:txBody>
                  <a:tcPr>
                    <a:solidFill>
                      <a:srgbClr val="FFFFFF"/>
                    </a:solidFill>
                  </a:tcPr>
                </a:tc>
                <a:tc>
                  <a:txBody>
                    <a:bodyPr/>
                    <a:lstStyle/>
                    <a:p>
                      <a:pPr algn="r"/>
                      <a:r>
                        <a:rPr sz="1600">
                          <a:solidFill>
                            <a:srgbClr val="5E5E5E"/>
                          </a:solidFill>
                          <a:latin typeface="Montaser Arabic Light"/>
                        </a:rPr>
                        <a:t>85</a:t>
                      </a:r>
                    </a:p>
                  </a:txBody>
                  <a:tcPr>
                    <a:solidFill>
                      <a:srgbClr val="FFFFFF"/>
                    </a:solidFill>
                  </a:tcPr>
                </a:tc>
                <a:tc>
                  <a:txBody>
                    <a:bodyPr/>
                    <a:lstStyle/>
                    <a:p>
                      <a:pPr algn="r"/>
                      <a:r>
                        <a:rPr sz="1600">
                          <a:solidFill>
                            <a:srgbClr val="5E5E5E"/>
                          </a:solidFill>
                          <a:latin typeface="Montaser Arabic Light"/>
                        </a:rPr>
                        <a:t>24</a:t>
                      </a:r>
                    </a:p>
                  </a:txBody>
                  <a:tcPr>
                    <a:solidFill>
                      <a:srgbClr val="FFFFFF"/>
                    </a:solidFill>
                  </a:tcPr>
                </a:tc>
                <a:tc>
                  <a:txBody>
                    <a:bodyPr/>
                    <a:lstStyle/>
                    <a:p>
                      <a:pPr algn="r"/>
                      <a:r>
                        <a:rPr sz="1600">
                          <a:solidFill>
                            <a:srgbClr val="5E5E5E"/>
                          </a:solidFill>
                          <a:latin typeface="Montaser Arabic Light"/>
                        </a:rPr>
                        <a:t>55%</a:t>
                      </a:r>
                    </a:p>
                  </a:txBody>
                  <a:tcPr>
                    <a:solidFill>
                      <a:srgbClr val="FFFFFF"/>
                    </a:solidFill>
                  </a:tcPr>
                </a:tc>
                <a:tc>
                  <a:txBody>
                    <a:bodyPr/>
                    <a:lstStyle/>
                    <a:p>
                      <a:pPr algn="r"/>
                      <a:r>
                        <a:rPr sz="1600">
                          <a:solidFill>
                            <a:srgbClr val="5E5E5E"/>
                          </a:solidFill>
                          <a:latin typeface="Montaser Arabic Light"/>
                        </a:rPr>
                        <a:t>8.492</a:t>
                      </a:r>
                    </a:p>
                  </a:txBody>
                  <a:tcPr>
                    <a:solidFill>
                      <a:srgbClr val="FFFFFF"/>
                    </a:solidFill>
                  </a:tcPr>
                </a:tc>
                <a:tc>
                  <a:txBody>
                    <a:bodyPr/>
                    <a:lstStyle/>
                    <a:p>
                      <a:pPr algn="r"/>
                      <a:r>
                        <a:rPr sz="1600">
                          <a:solidFill>
                            <a:srgbClr val="5E5E5E"/>
                          </a:solidFill>
                          <a:latin typeface="Montaser Arabic Light"/>
                        </a:rPr>
                        <a:t>+23%</a:t>
                      </a:r>
                    </a:p>
                  </a:txBody>
                  <a:tcPr>
                    <a:solidFill>
                      <a:srgbClr val="FFFFFF"/>
                    </a:solidFill>
                  </a:tcPr>
                </a:tc>
                <a:tc>
                  <a:txBody>
                    <a:bodyPr/>
                    <a:lstStyle/>
                    <a:p>
                      <a:pPr algn="r"/>
                      <a:r>
                        <a:rPr sz="1600">
                          <a:solidFill>
                            <a:srgbClr val="5E5E5E"/>
                          </a:solidFill>
                          <a:latin typeface="Montaser Arabic Light"/>
                        </a:rPr>
                        <a:t>R$ 5.500</a:t>
                      </a:r>
                    </a:p>
                  </a:txBody>
                  <a:tcPr>
                    <a:solidFill>
                      <a:srgbClr val="FFFFFF"/>
                    </a:solidFill>
                  </a:tcPr>
                </a:tc>
                <a:extLst>
                  <a:ext uri="{0D108BD9-81ED-4DB2-BD59-A6C34878D82A}">
                    <a16:rowId xmlns:a16="http://schemas.microsoft.com/office/drawing/2014/main" val="10003"/>
                  </a:ext>
                </a:extLst>
              </a:tr>
              <a:tr h="566928">
                <a:tc>
                  <a:txBody>
                    <a:bodyPr/>
                    <a:lstStyle/>
                    <a:p>
                      <a:pPr algn="l"/>
                      <a:r>
                        <a:rPr sz="1600">
                          <a:solidFill>
                            <a:srgbClr val="5E5E5E"/>
                          </a:solidFill>
                          <a:latin typeface="Montaser Arabic Light"/>
                        </a:rPr>
                        <a:t>Segurança da Informação</a:t>
                      </a:r>
                    </a:p>
                  </a:txBody>
                  <a:tcPr>
                    <a:solidFill>
                      <a:srgbClr val="F2F2F2"/>
                    </a:solidFill>
                  </a:tcPr>
                </a:tc>
                <a:tc>
                  <a:txBody>
                    <a:bodyPr/>
                    <a:lstStyle/>
                    <a:p>
                      <a:pPr algn="r"/>
                      <a:r>
                        <a:rPr sz="1600">
                          <a:solidFill>
                            <a:srgbClr val="5E5E5E"/>
                          </a:solidFill>
                          <a:latin typeface="Montaser Arabic Light"/>
                        </a:rPr>
                        <a:t>22</a:t>
                      </a:r>
                    </a:p>
                  </a:txBody>
                  <a:tcPr>
                    <a:solidFill>
                      <a:srgbClr val="F2F2F2"/>
                    </a:solidFill>
                  </a:tcPr>
                </a:tc>
                <a:tc>
                  <a:txBody>
                    <a:bodyPr/>
                    <a:lstStyle/>
                    <a:p>
                      <a:pPr algn="r"/>
                      <a:r>
                        <a:rPr sz="1600">
                          <a:solidFill>
                            <a:srgbClr val="5E5E5E"/>
                          </a:solidFill>
                          <a:latin typeface="Montaser Arabic Light"/>
                        </a:rPr>
                        <a:t>29</a:t>
                      </a:r>
                    </a:p>
                  </a:txBody>
                  <a:tcPr>
                    <a:solidFill>
                      <a:srgbClr val="F2F2F2"/>
                    </a:solidFill>
                  </a:tcPr>
                </a:tc>
                <a:tc>
                  <a:txBody>
                    <a:bodyPr/>
                    <a:lstStyle/>
                    <a:p>
                      <a:pPr algn="r"/>
                      <a:r>
                        <a:rPr sz="1600">
                          <a:solidFill>
                            <a:srgbClr val="5E5E5E"/>
                          </a:solidFill>
                          <a:latin typeface="Montaser Arabic Light"/>
                        </a:rPr>
                        <a:t>32%</a:t>
                      </a:r>
                    </a:p>
                  </a:txBody>
                  <a:tcPr>
                    <a:solidFill>
                      <a:srgbClr val="F2F2F2"/>
                    </a:solidFill>
                  </a:tcPr>
                </a:tc>
                <a:tc>
                  <a:txBody>
                    <a:bodyPr/>
                    <a:lstStyle/>
                    <a:p>
                      <a:pPr algn="r"/>
                      <a:r>
                        <a:rPr sz="1600">
                          <a:solidFill>
                            <a:srgbClr val="5E5E5E"/>
                          </a:solidFill>
                          <a:latin typeface="Montaser Arabic Light"/>
                        </a:rPr>
                        <a:t>8.347</a:t>
                      </a:r>
                    </a:p>
                  </a:txBody>
                  <a:tcPr>
                    <a:solidFill>
                      <a:srgbClr val="F2F2F2"/>
                    </a:solidFill>
                  </a:tcPr>
                </a:tc>
                <a:tc>
                  <a:txBody>
                    <a:bodyPr/>
                    <a:lstStyle/>
                    <a:p>
                      <a:pPr algn="r"/>
                      <a:r>
                        <a:rPr sz="1600">
                          <a:solidFill>
                            <a:srgbClr val="5E5E5E"/>
                          </a:solidFill>
                          <a:latin typeface="Montaser Arabic Light"/>
                        </a:rPr>
                        <a:t>-14%</a:t>
                      </a:r>
                    </a:p>
                  </a:txBody>
                  <a:tcPr>
                    <a:solidFill>
                      <a:srgbClr val="F2F2F2"/>
                    </a:solidFill>
                  </a:tcPr>
                </a:tc>
                <a:tc>
                  <a:txBody>
                    <a:bodyPr/>
                    <a:lstStyle/>
                    <a:p>
                      <a:pPr algn="r"/>
                      <a:r>
                        <a:rPr sz="1600">
                          <a:solidFill>
                            <a:srgbClr val="5E5E5E"/>
                          </a:solidFill>
                          <a:latin typeface="Montaser Arabic Light"/>
                        </a:rPr>
                        <a:t>R$ 9.407</a:t>
                      </a:r>
                    </a:p>
                  </a:txBody>
                  <a:tcPr>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F6614-0ECE-A394-DCFE-D16B68F9E477}"/>
            </a:ext>
          </a:extLst>
        </p:cNvPr>
        <p:cNvGrpSpPr/>
        <p:nvPr/>
      </p:nvGrpSpPr>
      <p:grpSpPr>
        <a:xfrm>
          <a:off x="0" y="0"/>
          <a:ext cx="0" cy="0"/>
          <a:chOff x="0" y="0"/>
          <a:chExt cx="0" cy="0"/>
        </a:xfrm>
      </p:grpSpPr>
      <p:sp>
        <p:nvSpPr>
          <p:cNvPr id="20" name="AutoShape 20">
            <a:extLst>
              <a:ext uri="{FF2B5EF4-FFF2-40B4-BE49-F238E27FC236}">
                <a16:creationId xmlns:a16="http://schemas.microsoft.com/office/drawing/2014/main" id="{FF2428AA-19FC-2844-363C-532E3A7A2224}"/>
              </a:ext>
            </a:extLst>
          </p:cNvPr>
          <p:cNvSpPr/>
          <p:nvPr/>
        </p:nvSpPr>
        <p:spPr>
          <a:xfrm>
            <a:off x="3200400" y="8197080"/>
            <a:ext cx="4190056" cy="0"/>
          </a:xfrm>
          <a:prstGeom prst="line">
            <a:avLst/>
          </a:prstGeom>
          <a:ln w="19050" cap="flat">
            <a:solidFill>
              <a:srgbClr val="000000"/>
            </a:solidFill>
            <a:prstDash val="solid"/>
            <a:headEnd type="none" w="sm" len="sm"/>
            <a:tailEnd type="none" w="sm" len="sm"/>
          </a:ln>
        </p:spPr>
        <p:txBody>
          <a:bodyPr/>
          <a:lstStyle/>
          <a:p>
            <a:endParaRPr lang="pt-BR"/>
          </a:p>
        </p:txBody>
      </p:sp>
      <p:sp>
        <p:nvSpPr>
          <p:cNvPr id="27" name="Freeform 9">
            <a:extLst>
              <a:ext uri="{FF2B5EF4-FFF2-40B4-BE49-F238E27FC236}">
                <a16:creationId xmlns:a16="http://schemas.microsoft.com/office/drawing/2014/main" id="{260C7B66-2667-43E2-8D4F-20177D086EEB}"/>
              </a:ext>
            </a:extLst>
          </p:cNvPr>
          <p:cNvSpPr/>
          <p:nvPr/>
        </p:nvSpPr>
        <p:spPr>
          <a:xfrm>
            <a:off x="10143956" y="800100"/>
            <a:ext cx="8115300" cy="8229600"/>
          </a:xfrm>
          <a:custGeom>
            <a:avLst/>
            <a:gdLst/>
            <a:ahLst/>
            <a:cxnLst/>
            <a:rect l="l" t="t" r="r" b="b"/>
            <a:pathLst>
              <a:path w="10963146" h="8229600">
                <a:moveTo>
                  <a:pt x="0" y="0"/>
                </a:moveTo>
                <a:lnTo>
                  <a:pt x="10963146" y="0"/>
                </a:lnTo>
                <a:lnTo>
                  <a:pt x="10963146" y="8229600"/>
                </a:lnTo>
                <a:lnTo>
                  <a:pt x="0" y="8229600"/>
                </a:lnTo>
                <a:lnTo>
                  <a:pt x="0" y="0"/>
                </a:lnTo>
                <a:close/>
              </a:path>
            </a:pathLst>
          </a:custGeom>
          <a:blipFill>
            <a:blip r:embed="rId3"/>
            <a:stretch>
              <a:fillRect l="-51454" r="-10799"/>
            </a:stretch>
          </a:blipFill>
        </p:spPr>
        <p:txBody>
          <a:bodyPr/>
          <a:lstStyle/>
          <a:p>
            <a:endParaRPr lang="pt-BR"/>
          </a:p>
        </p:txBody>
      </p:sp>
      <p:sp>
        <p:nvSpPr>
          <p:cNvPr id="28" name="TextBox 10">
            <a:extLst>
              <a:ext uri="{FF2B5EF4-FFF2-40B4-BE49-F238E27FC236}">
                <a16:creationId xmlns:a16="http://schemas.microsoft.com/office/drawing/2014/main" id="{CCDBCC88-FE05-7155-E022-E08F53A95932}"/>
              </a:ext>
            </a:extLst>
          </p:cNvPr>
          <p:cNvSpPr txBox="1"/>
          <p:nvPr/>
        </p:nvSpPr>
        <p:spPr>
          <a:xfrm>
            <a:off x="1772721" y="2711219"/>
            <a:ext cx="81153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latin typeface="Montaser Arabic"/>
                <a:ea typeface="Montaser Arabic"/>
                <a:cs typeface="Montaser Arabic"/>
                <a:sym typeface="Montaser Arabic"/>
              </a:rPr>
              <a:t>CONCLUSÃO</a:t>
            </a:r>
          </a:p>
        </p:txBody>
      </p:sp>
      <p:sp>
        <p:nvSpPr>
          <p:cNvPr id="29" name="TextBox 11">
            <a:extLst>
              <a:ext uri="{FF2B5EF4-FFF2-40B4-BE49-F238E27FC236}">
                <a16:creationId xmlns:a16="http://schemas.microsoft.com/office/drawing/2014/main" id="{843F7FB4-312A-333F-576D-52DF52BDF854}"/>
              </a:ext>
            </a:extLst>
          </p:cNvPr>
          <p:cNvSpPr txBox="1"/>
          <p:nvPr/>
        </p:nvSpPr>
        <p:spPr>
          <a:xfrm>
            <a:off x="1772721" y="4015597"/>
            <a:ext cx="7894697" cy="3711657"/>
          </a:xfrm>
          <a:prstGeom prst="rect">
            <a:avLst/>
          </a:prstGeom>
        </p:spPr>
        <p:txBody>
          <a:bodyPr lIns="0" tIns="0" rIns="0" bIns="0" rtlCol="0" anchor="t">
            <a:spAutoFit/>
          </a:bodyPr>
          <a:lstStyle/>
          <a:p>
            <a:pPr marL="0" lvl="0" indent="0" algn="l">
              <a:lnSpc>
                <a:spcPts val="3360"/>
              </a:lnSpc>
              <a:spcBef>
                <a:spcPct val="0"/>
              </a:spcBef>
            </a:pPr>
            <a:r>
              <a:rPr lang="en-US" sz="2100" u="none" strike="noStrike" spc="132" dirty="0">
                <a:latin typeface="Montaser Arabic Light"/>
                <a:ea typeface="Montaser Arabic Light"/>
                <a:cs typeface="Montaser Arabic Light"/>
                <a:sym typeface="Montaser Arabic Light"/>
              </a:rPr>
              <a:t>Com base nos dados analisados é possível afirmar que o diploma continua vantajoso na região, com salário de admissão cerca de duas vezes maior que o do nível médio, mas um em cada três formados contratados entra em vaga que não exige diploma. As Fatecs formam principalmente em Negócios e em Computação e TIC, e a taxa de conclusão de 36% mostra que o gargalo da permanência também atinge a região.</a:t>
            </a:r>
          </a:p>
        </p:txBody>
      </p:sp>
      <p:grpSp>
        <p:nvGrpSpPr>
          <p:cNvPr id="30" name="Group 21">
            <a:extLst>
              <a:ext uri="{FF2B5EF4-FFF2-40B4-BE49-F238E27FC236}">
                <a16:creationId xmlns:a16="http://schemas.microsoft.com/office/drawing/2014/main" id="{C5CEFF4E-DBBE-66A5-71E1-639D834D040B}"/>
              </a:ext>
            </a:extLst>
          </p:cNvPr>
          <p:cNvGrpSpPr/>
          <p:nvPr/>
        </p:nvGrpSpPr>
        <p:grpSpPr>
          <a:xfrm>
            <a:off x="2066987" y="8039100"/>
            <a:ext cx="315960" cy="315960"/>
            <a:chOff x="0" y="0"/>
            <a:chExt cx="812800" cy="812800"/>
          </a:xfrm>
        </p:grpSpPr>
        <p:sp>
          <p:nvSpPr>
            <p:cNvPr id="31" name="Freeform 22">
              <a:extLst>
                <a:ext uri="{FF2B5EF4-FFF2-40B4-BE49-F238E27FC236}">
                  <a16:creationId xmlns:a16="http://schemas.microsoft.com/office/drawing/2014/main" id="{9E1D0EF6-CEA6-BF01-B02C-D579A7611B9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32" name="TextBox 23">
              <a:extLst>
                <a:ext uri="{FF2B5EF4-FFF2-40B4-BE49-F238E27FC236}">
                  <a16:creationId xmlns:a16="http://schemas.microsoft.com/office/drawing/2014/main" id="{A923D876-7BFE-89EE-004B-850B8D0BD856}"/>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33" name="Group 24">
            <a:extLst>
              <a:ext uri="{FF2B5EF4-FFF2-40B4-BE49-F238E27FC236}">
                <a16:creationId xmlns:a16="http://schemas.microsoft.com/office/drawing/2014/main" id="{83AAE483-27F1-DCF6-0B0F-E8333CC9558E}"/>
              </a:ext>
            </a:extLst>
          </p:cNvPr>
          <p:cNvGrpSpPr/>
          <p:nvPr/>
        </p:nvGrpSpPr>
        <p:grpSpPr>
          <a:xfrm>
            <a:off x="2579640" y="8039100"/>
            <a:ext cx="315960" cy="315960"/>
            <a:chOff x="0" y="0"/>
            <a:chExt cx="812800" cy="812800"/>
          </a:xfrm>
        </p:grpSpPr>
        <p:sp>
          <p:nvSpPr>
            <p:cNvPr id="34" name="Freeform 25">
              <a:extLst>
                <a:ext uri="{FF2B5EF4-FFF2-40B4-BE49-F238E27FC236}">
                  <a16:creationId xmlns:a16="http://schemas.microsoft.com/office/drawing/2014/main" id="{7387C5EA-098D-5F60-C1BC-B87D667F0A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35" name="TextBox 26">
              <a:extLst>
                <a:ext uri="{FF2B5EF4-FFF2-40B4-BE49-F238E27FC236}">
                  <a16:creationId xmlns:a16="http://schemas.microsoft.com/office/drawing/2014/main" id="{1B74935A-CE1A-A42C-FC46-B2EFC498A148}"/>
                </a:ext>
              </a:extLst>
            </p:cNvPr>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extLst>
      <p:ext uri="{BB962C8B-B14F-4D97-AF65-F5344CB8AC3E}">
        <p14:creationId xmlns:p14="http://schemas.microsoft.com/office/powerpoint/2010/main" val="21827119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3"/>
          <p:cNvSpPr txBox="1"/>
          <p:nvPr/>
        </p:nvSpPr>
        <p:spPr>
          <a:xfrm>
            <a:off x="1721247" y="3002623"/>
            <a:ext cx="13258800" cy="2821919"/>
          </a:xfrm>
          <a:prstGeom prst="rect">
            <a:avLst/>
          </a:prstGeom>
        </p:spPr>
        <p:txBody>
          <a:bodyPr lIns="0" tIns="0" rIns="0" bIns="0" rtlCol="0" anchor="t">
            <a:spAutoFit/>
          </a:bodyPr>
          <a:lstStyle/>
          <a:p>
            <a:pPr marL="342900" lvl="0" indent="-342900" algn="l">
              <a:lnSpc>
                <a:spcPts val="3840"/>
              </a:lnSpc>
              <a:spcBef>
                <a:spcPct val="0"/>
              </a:spcBef>
              <a:buChar char="•"/>
            </a:pPr>
            <a:r>
              <a:rPr lang="en-US" sz="2400" u="none" strike="noStrike" spc="143" dirty="0">
                <a:solidFill>
                  <a:srgbClr val="6C6C6C"/>
                </a:solidFill>
                <a:latin typeface="Montaser Arabic Light"/>
                <a:ea typeface="Montaser Arabic Light"/>
                <a:cs typeface="Montaser Arabic Light"/>
                <a:sym typeface="Montaser Arabic Light"/>
              </a:rPr>
              <a:t>validar com as coordenações das Fatecs a ligação entre cursos e ocupações;</a:t>
            </a:r>
          </a:p>
          <a:p>
            <a:pPr marL="342900" lvl="0" indent="-342900" algn="l">
              <a:lnSpc>
                <a:spcPts val="3840"/>
              </a:lnSpc>
              <a:spcBef>
                <a:spcPct val="0"/>
              </a:spcBef>
              <a:buChar char="•"/>
            </a:pPr>
            <a:r>
              <a:rPr lang="en-US" sz="2400" u="none" strike="noStrike" spc="143" dirty="0">
                <a:solidFill>
                  <a:srgbClr val="6C6C6C"/>
                </a:solidFill>
                <a:latin typeface="Montaser Arabic Light"/>
                <a:ea typeface="Montaser Arabic Light"/>
                <a:cs typeface="Montaser Arabic Light"/>
                <a:sym typeface="Montaser Arabic Light"/>
              </a:rPr>
              <a:t>publicar o painel do Power BI e validar o trabalho com o professor;</a:t>
            </a:r>
          </a:p>
          <a:p>
            <a:pPr marL="342900" lvl="0" indent="-342900" algn="l">
              <a:lnSpc>
                <a:spcPts val="3840"/>
              </a:lnSpc>
              <a:spcBef>
                <a:spcPct val="0"/>
              </a:spcBef>
              <a:buChar char="•"/>
            </a:pPr>
            <a:r>
              <a:rPr lang="en-US" sz="2400" u="none" strike="noStrike" spc="143" dirty="0">
                <a:solidFill>
                  <a:srgbClr val="6C6C6C"/>
                </a:solidFill>
                <a:latin typeface="Montaser Arabic Light"/>
                <a:ea typeface="Montaser Arabic Light"/>
                <a:cs typeface="Montaser Arabic Light"/>
                <a:sym typeface="Montaser Arabic Light"/>
              </a:rPr>
              <a:t>entregar o guia “Cursos com mercado na nossa região” às escolas estaduais e à coordenação da Fatec.</a:t>
            </a:r>
          </a:p>
        </p:txBody>
      </p:sp>
      <p:sp>
        <p:nvSpPr>
          <p:cNvPr id="4" name="TextBox 4"/>
          <p:cNvSpPr txBox="1"/>
          <p:nvPr/>
        </p:nvSpPr>
        <p:spPr>
          <a:xfrm>
            <a:off x="1721247" y="1652730"/>
            <a:ext cx="13258800" cy="758572"/>
          </a:xfrm>
          <a:prstGeom prst="rect">
            <a:avLst/>
          </a:prstGeom>
        </p:spPr>
        <p:txBody>
          <a:bodyPr lIns="0" tIns="0" rIns="0" bIns="0" rtlCol="0" anchor="t">
            <a:spAutoFit/>
          </a:bodyPr>
          <a:lstStyle/>
          <a:p>
            <a:pPr marL="0" lvl="0" indent="0" algn="l">
              <a:lnSpc>
                <a:spcPts val="5832"/>
              </a:lnSpc>
              <a:spcBef>
                <a:spcPct val="0"/>
              </a:spcBef>
            </a:pPr>
            <a:r>
              <a:rPr lang="en-US" sz="5400" u="none" strike="noStrike" spc="918">
                <a:solidFill>
                  <a:srgbClr val="000000"/>
                </a:solidFill>
                <a:latin typeface="Montaser Arabic"/>
                <a:ea typeface="Montaser Arabic"/>
                <a:cs typeface="Montaser Arabic"/>
                <a:sym typeface="Montaser Arabic"/>
              </a:rPr>
              <a:t>PRÓXIMOS PASSOS</a:t>
            </a:r>
          </a:p>
        </p:txBody>
      </p:sp>
      <p:sp>
        <p:nvSpPr>
          <p:cNvPr id="5" name="AutoShape 5"/>
          <p:cNvSpPr/>
          <p:nvPr/>
        </p:nvSpPr>
        <p:spPr>
          <a:xfrm>
            <a:off x="16408773" y="38100"/>
            <a:ext cx="0" cy="4190056"/>
          </a:xfrm>
          <a:prstGeom prst="line">
            <a:avLst/>
          </a:prstGeom>
          <a:ln w="38100" cap="flat">
            <a:solidFill>
              <a:srgbClr val="000000"/>
            </a:solidFill>
            <a:prstDash val="solid"/>
            <a:headEnd type="none" w="sm" len="sm"/>
            <a:tailEnd type="none" w="sm" len="sm"/>
          </a:ln>
        </p:spPr>
        <p:txBody>
          <a:bodyPr/>
          <a:lstStyle/>
          <a:p>
            <a:endParaRPr lang="pt-BR"/>
          </a:p>
        </p:txBody>
      </p:sp>
      <p:grpSp>
        <p:nvGrpSpPr>
          <p:cNvPr id="6" name="Group 6"/>
          <p:cNvGrpSpPr/>
          <p:nvPr/>
        </p:nvGrpSpPr>
        <p:grpSpPr>
          <a:xfrm rot="5400000">
            <a:off x="16250794" y="4347165"/>
            <a:ext cx="315960" cy="315960"/>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8" name="TextBox 8"/>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grpSp>
        <p:nvGrpSpPr>
          <p:cNvPr id="9" name="Group 9"/>
          <p:cNvGrpSpPr/>
          <p:nvPr/>
        </p:nvGrpSpPr>
        <p:grpSpPr>
          <a:xfrm rot="5400000">
            <a:off x="16250794" y="4859818"/>
            <a:ext cx="315960" cy="315960"/>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txBody>
            <a:bodyPr/>
            <a:lstStyle/>
            <a:p>
              <a:endParaRPr lang="pt-BR"/>
            </a:p>
          </p:txBody>
        </p:sp>
        <p:sp>
          <p:nvSpPr>
            <p:cNvPr id="11" name="TextBox 11"/>
            <p:cNvSpPr txBox="1"/>
            <p:nvPr/>
          </p:nvSpPr>
          <p:spPr>
            <a:xfrm>
              <a:off x="76200" y="-38100"/>
              <a:ext cx="660400" cy="774700"/>
            </a:xfrm>
            <a:prstGeom prst="rect">
              <a:avLst/>
            </a:prstGeom>
          </p:spPr>
          <p:txBody>
            <a:bodyPr lIns="50800" tIns="50800" rIns="50800" bIns="50800" rtlCol="0" anchor="ctr"/>
            <a:lstStyle/>
            <a:p>
              <a:pPr algn="ctr">
                <a:lnSpc>
                  <a:spcPts val="3435"/>
                </a:lnSpc>
              </a:pP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81153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REFERÊNCIAS</a:t>
            </a:r>
          </a:p>
        </p:txBody>
      </p:sp>
      <p:sp>
        <p:nvSpPr>
          <p:cNvPr id="5" name="TextBox 5"/>
          <p:cNvSpPr txBox="1"/>
          <p:nvPr/>
        </p:nvSpPr>
        <p:spPr>
          <a:xfrm>
            <a:off x="990600" y="2444393"/>
            <a:ext cx="16276320" cy="6583680"/>
          </a:xfrm>
          <a:prstGeom prst="rect">
            <a:avLst/>
          </a:prstGeom>
        </p:spPr>
        <p:txBody>
          <a:bodyPr lIns="0" tIns="0" rIns="0" bIns="0" rtlCol="0" anchor="t">
            <a:noAutofit/>
          </a:bodyPr>
          <a:lstStyle/>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BANCO MUNDIAL. Unemployment with advanced education (% of total labor force with advanced education). Washington, D.C.: World Bank Group, 2024. Disponível em: https://data.worldbank.org/indicator/SL.UEM.ADVN.ZS. Acesso em: 07 maio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BANCO MUNDIAL. Unemployment with intermediate education (% of total labor force with intermediate education). Washington, D.C.: World Bank Group, 2024. Disponível em: https://data.worldbank.org/indicator/SL.UEM.INTM.ZS. Acesso em: 07 maio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BRASIL. Ministério da Educação. Portaria nº 1.715, de 2 de outubro de 2019. Institui a Classificação Internacional Normalizada da Educação adaptada para cursos de graduação e sequenciais de formação específica do Brasil (Cine Brasil). Brasília, DF: MEC, 2019. Disponível em: https://abmes.org.br/public/arquivos/legislacoes/Portaria-mec-1715-2019-10-02.pdf. Acesso em: 27 out.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BRASIL. Ministério do Trabalho e Emprego. Classificação Brasileira de Ocupações: CBO 2002. Brasília, DF: MTE, 2002. Disponível em: https://cbo.mte.gov.br. Acesso em: 30 set.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BRASIL. Ministério do Trabalho e Emprego. Microdados da RAIS e do Novo CAGED 2020-2024. Brasília, DF: MTE/PDET, 2025. Disponível em: https://pdet.mte.gov.br/microdados-rais-e-caged. Acesso em: 30 set.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CARVALHO, Sandro Sacchet de; REIS, Mauricio Cortez. A evolução da sobre-educação no Brasil e o papel do ciclo econômico entre 2012 e 2023. Rio de Janeiro: Ipea, 2024. (Texto para Discussão, n. 3025). DOI: 10.38116/td3025-port. Disponível em: https://repositorio.ipea.gov.br/bitstream/11058/14510/7/TD_3025_web.pdf. Acesso em: 27 out.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GIL, Antônio Carlos. Como elaborar projetos de pesquisa. 6. ed. São Paulo: Atlas, 2017.</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4"/>
          <p:cNvSpPr txBox="1"/>
          <p:nvPr/>
        </p:nvSpPr>
        <p:spPr>
          <a:xfrm>
            <a:off x="990600" y="952500"/>
            <a:ext cx="8115300" cy="758572"/>
          </a:xfrm>
          <a:prstGeom prst="rect">
            <a:avLst/>
          </a:prstGeom>
        </p:spPr>
        <p:txBody>
          <a:bodyPr lIns="0" tIns="0" rIns="0" bIns="0" rtlCol="0" anchor="t">
            <a:spAutoFit/>
          </a:bodyPr>
          <a:lstStyle/>
          <a:p>
            <a:pPr marL="0" lvl="0" indent="0" algn="just">
              <a:lnSpc>
                <a:spcPts val="5832"/>
              </a:lnSpc>
              <a:spcBef>
                <a:spcPct val="0"/>
              </a:spcBef>
            </a:pPr>
            <a:r>
              <a:rPr lang="en-US" sz="5400" u="none" strike="noStrike" spc="918" dirty="0">
                <a:solidFill>
                  <a:srgbClr val="000000"/>
                </a:solidFill>
                <a:latin typeface="Montaser Arabic"/>
                <a:ea typeface="Montaser Arabic"/>
                <a:cs typeface="Montaser Arabic"/>
                <a:sym typeface="Montaser Arabic"/>
              </a:rPr>
              <a:t>REFERÊNCIAS</a:t>
            </a:r>
          </a:p>
        </p:txBody>
      </p:sp>
      <p:sp>
        <p:nvSpPr>
          <p:cNvPr id="5" name="TextBox 5"/>
          <p:cNvSpPr txBox="1"/>
          <p:nvPr/>
        </p:nvSpPr>
        <p:spPr>
          <a:xfrm>
            <a:off x="990600" y="2444393"/>
            <a:ext cx="16276320" cy="6583680"/>
          </a:xfrm>
          <a:prstGeom prst="rect">
            <a:avLst/>
          </a:prstGeom>
        </p:spPr>
        <p:txBody>
          <a:bodyPr lIns="0" tIns="0" rIns="0" bIns="0" rtlCol="0" anchor="t">
            <a:noAutofit/>
          </a:bodyPr>
          <a:lstStyle/>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INSTITUTO BRASILEIRO DE GEOGRAFIA E ESTATÍSTICA (IBGE). Censo Demográfico 2022: tabelas 9514, 10059, 10061 e 10064. Rio de Janeiro: IBGE, 2022. Disponível em: https://sidra.ibge.gov.br. Acesso em: 30 set.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INSTITUTO NACIONAL DE ESTUDOS E PESQUISAS EDUCACIONAIS ANÍSIO TEIXEIRA (INEP). Microdados do Censo da Educação Superior 2020-2024. Brasília, DF: INEP, 2025. Disponível em: https://www.gov.br/inep/pt-br/acesso-a-informacao/dados-abertos/microdados/censo-da-educacao-superior. Acesso em: 30 set.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JEZINE, E.; VELOSO CASTELO BRANCO, U.; LIMA DIAS JÚNIOR, J. J. Retenção e evasão: os desafios para a permanência e a conclusão de cursos no Ensino Superior. Revista Cocar, n. 29, 2024. Disponível em: https://periodicos.uepa.br/index.php/cocar/article/view/9249. Acesso em: 12 maio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OLIVEIRA, Guilherme Neves Dantas de; DAWOGLIO, Luiz Rodolfo. Políticas públicas e a inclusão no Ensino Superior. Relato técnico (Projeto Integrador) - Faculdade de Tecnologia de Santana de Parnaíba, Santana de Parnaíba,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SEMESP. Mapa do Ensino Superior no Brasil: Edição 16. São Paulo: Semesp, 2026. Disponível em: https://www.semesp.org.br/mapa/edicao-16/brasil/. Acesso em: 21 maio 2026.</a:t>
            </a:r>
          </a:p>
          <a:p>
            <a:pPr marL="342900" lvl="1" indent="-342900" algn="l">
              <a:lnSpc>
                <a:spcPts val="2400"/>
              </a:lnSpc>
              <a:buFont typeface="Arial"/>
              <a:buChar char="•"/>
            </a:pPr>
            <a:r>
              <a:rPr lang="en-US" sz="1300" u="none" strike="noStrike" spc="132">
                <a:solidFill>
                  <a:srgbClr val="6C6C6C"/>
                </a:solidFill>
                <a:latin typeface="Montaser Arabic Light"/>
                <a:ea typeface="Montaser Arabic Light"/>
                <a:cs typeface="Montaser Arabic Light"/>
                <a:sym typeface="Montaser Arabic Light"/>
              </a:rPr>
              <a:t>SILVA, Filipe Alrelio Gomes da; MONTE, Paulo Aguiar do. Incompatibilidade escolaridade-ocupação no Brasil: incidência de sobre-educação de mão de obra ou escassez de empregos qualificados? Revista de Economia Contemporânea, v. 28, p. 1-29, 2024. DOI: 10.1590/19805527242806. Disponível em: https://revistas.ufrj.br/index.php/rec. Acesso em: 27 out.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144</TotalTime>
  <Words>4627</Words>
  <Application>Microsoft Office PowerPoint</Application>
  <PresentationFormat>Personalizar</PresentationFormat>
  <Paragraphs>179</Paragraphs>
  <Slides>23</Slides>
  <Notes>21</Notes>
  <HiddenSlides>1</HiddenSlides>
  <MMClips>0</MMClips>
  <ScaleCrop>false</ScaleCrop>
  <HeadingPairs>
    <vt:vector size="6" baseType="variant">
      <vt:variant>
        <vt:lpstr>Fontes usadas</vt:lpstr>
      </vt:variant>
      <vt:variant>
        <vt:i4>4</vt:i4>
      </vt:variant>
      <vt:variant>
        <vt:lpstr>Tema</vt:lpstr>
      </vt:variant>
      <vt:variant>
        <vt:i4>1</vt:i4>
      </vt:variant>
      <vt:variant>
        <vt:lpstr>Títulos de slides</vt:lpstr>
      </vt:variant>
      <vt:variant>
        <vt:i4>23</vt:i4>
      </vt:variant>
    </vt:vector>
  </HeadingPairs>
  <TitlesOfParts>
    <vt:vector size="28" baseType="lpstr">
      <vt:lpstr>Arial</vt:lpstr>
      <vt:lpstr>Calibri</vt:lpstr>
      <vt:lpstr>Montaser Arabic</vt:lpstr>
      <vt:lpstr>Montaser Arabic Light</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Trabalho Conclusão de Curso Minimalista Preto e Branco</dc:title>
  <cp:lastModifiedBy>Guilherme Neves</cp:lastModifiedBy>
  <cp:revision>5</cp:revision>
  <dcterms:created xsi:type="dcterms:W3CDTF">2006-08-16T00:00:00Z</dcterms:created>
  <dcterms:modified xsi:type="dcterms:W3CDTF">2026-10-27T17:29:27Z</dcterms:modified>
  <dc:identifier>DAHSZllWYRg</dc:identifier>
</cp:coreProperties>
</file>