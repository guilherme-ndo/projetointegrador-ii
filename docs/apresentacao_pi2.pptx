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58" r:id="rId3"/>
    <p:sldId id="259" r:id="rId4"/>
    <p:sldId id="260" r:id="rId5"/>
    <p:sldId id="261" r:id="rId6"/>
    <p:sldId id="262" r:id="rId7"/>
    <p:sldId id="268" r:id="rId21"/>
    <p:sldId id="269" r:id="rId22"/>
    <p:sldId id="270" r:id="rId23"/>
    <p:sldId id="263" r:id="rId8"/>
    <p:sldId id="271" r:id="rId24"/>
    <p:sldId id="273" r:id="rId26"/>
    <p:sldId id="274" r:id="rId27"/>
    <p:sldId id="267" r:id="rId9"/>
    <p:sldId id="272" r:id="rId25"/>
    <p:sldId id="265" r:id="rId10"/>
  </p:sldIdLst>
  <p:sldSz cx="18288000" cy="10287000"/>
  <p:notesSz cx="6858000" cy="9144000"/>
  <p:embeddedFontLst>
    <p:embeddedFont>
      <p:font typeface="Cooper Hewitt Bold" pitchFamily="2" charset="77"/>
      <p:regular r:id="rId11"/>
      <p:bold r:id="rId12"/>
    </p:embeddedFont>
    <p:embeddedFont>
      <p:font typeface="Montaser Arabic" pitchFamily="2" charset="-78"/>
      <p:regular r:id="rId13"/>
    </p:embeddedFont>
    <p:embeddedFont>
      <p:font typeface="Montaser Arabic Extra-Light"/>
      <p:regular r:id="rId14"/>
    </p:embeddedFont>
    <p:embeddedFont>
      <p:font typeface="Montaser Arabic Light"/>
      <p:regular r:id="rId15"/>
    </p:embeddedFont>
    <p:embeddedFont>
      <p:font typeface="Montaser Arabic Medium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 autoAdjust="0"/>
    <p:restoredTop sz="94640" autoAdjust="0"/>
  </p:normalViewPr>
  <p:slideViewPr>
    <p:cSldViewPr>
      <p:cViewPr varScale="1">
        <p:scale>
          <a:sx n="71" d="100"/>
          <a:sy n="71" d="100"/>
        </p:scale>
        <p:origin x="1032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4.xml"/><Relationship Id="rId10" Type="http://schemas.openxmlformats.org/officeDocument/2006/relationships/slide" Target="slides/slide16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1.xml"/><Relationship Id="rId25" Type="http://schemas.openxmlformats.org/officeDocument/2006/relationships/slide" Target="slides/slide15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Índice</c:v>
                </c:pt>
              </c:strCache>
            </c:strRef>
          </c:tx>
          <c:spPr>
            <a:solidFill>
              <a:srgbClr val="BFBFBF"/>
            </a:solidFill>
          </c:spPr>
          <c:dPt>
            <c:idx val="6"/>
            <c:spPr>
              <a:solidFill>
                <a:srgbClr val="404040"/>
              </a:solidFill>
            </c:spPr>
          </c:dPt>
          <c:cat>
            <c:strRef>
              <c:f>Sheet1!$A$2:$A$9</c:f>
              <c:strCache>
                <c:ptCount val="8"/>
                <c:pt idx="0">
                  <c:v>Ciências sociais</c:v>
                </c:pt>
                <c:pt idx="1">
                  <c:v>Educação</c:v>
                </c:pt>
                <c:pt idx="2">
                  <c:v>Artes e humanidades</c:v>
                </c:pt>
                <c:pt idx="3">
                  <c:v>Engenharia</c:v>
                </c:pt>
                <c:pt idx="4">
                  <c:v>Negócios e direito</c:v>
                </c:pt>
                <c:pt idx="5">
                  <c:v>Saúde e bem-estar</c:v>
                </c:pt>
                <c:pt idx="6">
                  <c:v>Computação e TIC</c:v>
                </c:pt>
                <c:pt idx="7">
                  <c:v>Ciências naturais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1.29</c:v>
                </c:pt>
                <c:pt idx="1">
                  <c:v>1.66</c:v>
                </c:pt>
                <c:pt idx="2">
                  <c:v>2.06</c:v>
                </c:pt>
                <c:pt idx="3">
                  <c:v>2.07</c:v>
                </c:pt>
                <c:pt idx="4">
                  <c:v>2.36</c:v>
                </c:pt>
                <c:pt idx="5">
                  <c:v>2.55</c:v>
                </c:pt>
                <c:pt idx="6">
                  <c:v>4.67</c:v>
                </c:pt>
                <c:pt idx="7">
                  <c:v>9.69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Computação e TIC</c:v>
                </c:pt>
              </c:strCache>
            </c:strRef>
          </c:tx>
          <c:spPr>
            <a:ln w="57150">
              <a:solidFill>
                <a:srgbClr val="404040"/>
              </a:solidFill>
            </a:ln>
          </c:spPr>
          <c:marker>
            <c:symbol val="circle"/>
            <c:size val="8"/>
            <c:spPr>
              <a:solidFill>
                <a:srgbClr val="404040"/>
              </a:solidFill>
              <a:ln>
                <a:noFill/>
              </a:ln>
            </c:spPr>
          </c:marker>
          <c:dLbls>
            <c:dLbl>
              <c:idx val="4"/>
              <c:spPr/>
              <c:txPr>
                <a:bodyPr/>
                <a:lstStyle/>
                <a:p>
                  <a:pPr>
                    <a:defRPr/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11.5</c:v>
                </c:pt>
                <c:pt idx="2">
                  <c:v>10.2</c:v>
                </c:pt>
                <c:pt idx="3">
                  <c:v>5.5</c:v>
                </c:pt>
                <c:pt idx="4">
                  <c:v>4.7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Saúde e bem-estar</c:v>
                </c:pt>
              </c:strCache>
            </c:strRef>
          </c:tx>
          <c:spPr>
            <a:ln w="31750">
              <a:solidFill>
                <a:srgbClr val="7F7F7F"/>
              </a:solidFill>
              <a:prstDash val="dash"/>
            </a:ln>
          </c:spPr>
          <c:marker>
            <c:symbol val="circle"/>
            <c:size val="8"/>
            <c:spPr>
              <a:solidFill>
                <a:srgbClr val="7F7F7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2.17</c:v>
                </c:pt>
                <c:pt idx="1">
                  <c:v>1.8</c:v>
                </c:pt>
                <c:pt idx="2">
                  <c:v>2.63</c:v>
                </c:pt>
                <c:pt idx="3">
                  <c:v>2.45</c:v>
                </c:pt>
                <c:pt idx="4">
                  <c:v>2.55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Negócios e direito</c:v>
                </c:pt>
              </c:strCache>
            </c:strRef>
          </c:tx>
          <c:spPr>
            <a:ln w="31750">
              <a:solidFill>
                <a:srgbClr val="7F7F7F"/>
              </a:solidFill>
            </a:ln>
          </c:spPr>
          <c:marker>
            <c:symbol val="circle"/>
            <c:size val="8"/>
            <c:spPr>
              <a:solidFill>
                <a:srgbClr val="7F7F7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1.48</c:v>
                </c:pt>
                <c:pt idx="1">
                  <c:v>2.51</c:v>
                </c:pt>
                <c:pt idx="2">
                  <c:v>2.88</c:v>
                </c:pt>
                <c:pt idx="3">
                  <c:v>1.96</c:v>
                </c:pt>
                <c:pt idx="4">
                  <c:v>2.36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Educação</c:v>
                </c:pt>
              </c:strCache>
            </c:strRef>
          </c:tx>
          <c:spPr>
            <a:ln w="31750">
              <a:solidFill>
                <a:srgbClr val="BFBFBF"/>
              </a:solidFill>
            </a:ln>
          </c:spPr>
          <c:marker>
            <c:symbol val="circle"/>
            <c:size val="8"/>
            <c:spPr>
              <a:solidFill>
                <a:srgbClr val="BFBFB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0.72</c:v>
                </c:pt>
                <c:pt idx="1">
                  <c:v>0.74</c:v>
                </c:pt>
                <c:pt idx="2">
                  <c:v>1.17</c:v>
                </c:pt>
                <c:pt idx="3">
                  <c:v>1.48</c:v>
                </c:pt>
                <c:pt idx="4">
                  <c:v>1.66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5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Projeto Integrador II, Ciência de Dados, Fatec Santana de Parnaíba, 2026. Continuação do PI1 (Políticas Públicas e a Inclusão no Ensino Superior).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PI1: Banco Mundial (desemprego por escolaridade, 2023). As considerações finais do PI1 recomendaram estratégias de transição estudo-trabalho (ODS 8); o PI2 aplica isso em escala regional.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Retorno para a sociedade, conforme orientação do MEC: guia "Cursos com mercado na nossa região" para a Diretoria de Ensino (escolas estaduais) e a coordenação da Fatec.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cinco perguntas de pesquisa viram os objetivos específicos. A terceira (descompasso) é o núcleo do projeto e depende da tabela de-para CINE x CBO.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 do PI1: SEMESP (matrículas) e Banco Mundial (desemprego e diplomados). A CINE Brasil é a classificação de cursos do INEP; a CBO 2002 é a classificação de ocupações do MTE.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recorte parte de 2020 porque o Novo CAGED começa em janeiro de 2020. Os scripts ficam no repositório GitHub do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Chaves de ligação: código do município (7 dígitos no INEP e IBGE, 6 no CAGED) e ano. Conferido no dicionário do INEP 2024: cursos EaD aparecem pelo município do polo. Já tratados: INEP 2020 a 2024 e CAGED jan/2020 a dez/2024 (60 meses de movimentações); RAIS 2020 a 2024 (vínculos ativos em 31/12).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área de cada ocupação foi decidida pelo nome do curso no INEP (ex.: Logística em 04, Educação Física bacharelado em 09). Ocupações de nível médio ficam sem área: formado nelas conta como sobrequalificação. Limitação: ocupações que recebem formados de várias áreas. Fatos: oferta de ensino (INEP), admissões (CAGED), estoque de emprego (RAIS) e população (IBGE).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índice de descompasso fica acima de 1 em todas as áreas, porque as admissões incluem quem troca de emprego e formados de fora da região; por isso a leitura é comparativa. O prêmio salarial usa só salários mensais, sem trabalho intermitente.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2024 e CAGED jan-dez/2024, 8 municípios. Salário mediano de admissão: R$ 3.841 com superior e R$ 1.850 com médio. Sobrequalificação: 34% dos formados contratados entram em vaga de nível médio (cargos mais comuns: assistente administrativo, auxiliar de logística e auxiliar de escritório).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Numerador: admissões de pessoas com superior completo ou mais em ocupações com vínculo Principal com a área no de-para (CAGED 2024). Denominador: concluintes da área nos cursos da região (INEP 2024, presencial e EaD). Fora do gráfico: Agricultura (1 concluinte) e Serviços (só vínculos secundários).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e CAGED 2020 a 2024, 8 municípios. 2020 tem admissões baixas por causa da pandemia (262 mil, contra 513 mil em 2024). Salários nominais; a razão do prêmio salarial não depende da inflação. Taxa de conclusão aproximada (concluintes ÷ ingressantes de 3 anos antes): 31% em 2023 e 32% em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RAIS 2020 a 2024, vínculos ativos em 31/12 nos 8 municípios. A sobrequalificação é bem menor no estoque (16%) do que nas admissões (34%): o descompasso pesa mais na entrada no mercado; hipótese a testar: formados começam em vaga de nível médio e depois mudam de cargo. Atenção: a RAIS 2022 parece subdeclarada (os formados empregados sobem 37% de 2022 para 2023, contra 10% a 14% nos outros anos), provavelmente na transição para o eSocial; comparar 2022 com cautela. Estoque de formados em ocupações de Computação e TIC: 21 mil (2020) para 44 mil (2024).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Conclusões parciais, com dados de 2020 a 2024. A sobrequalificação conversa com o PI1: o diploma protege do desemprego, mas nem sempre leva a uma vaga que exige diploma.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Pontos para validar com o professor: (1) a proposta só com dados públicos, sem visita de campo, atende ao retorno social? (2) relato técnico ou artigo científico? (3) o recorte de 8 municípios é adequado? (4) incluir uma entrevista online curta como contato com a comunidade?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11">
            <a:extLst>
              <a:ext uri="{FF2B5EF4-FFF2-40B4-BE49-F238E27FC236}">
                <a16:creationId xmlns:a16="http://schemas.microsoft.com/office/drawing/2014/main" id="{CA828E0E-BD47-4230-1054-2B22C2ED952A}"/>
              </a:ext>
            </a:extLst>
          </p:cNvPr>
          <p:cNvSpPr/>
          <p:nvPr userDrawn="1"/>
        </p:nvSpPr>
        <p:spPr>
          <a:xfrm>
            <a:off x="5389" y="4304"/>
            <a:ext cx="826014" cy="10282696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endParaRPr lang="pt-BR"/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FCF7147D-171C-2A4F-0E57-5B967023CF14}"/>
              </a:ext>
            </a:extLst>
          </p:cNvPr>
          <p:cNvSpPr/>
          <p:nvPr/>
        </p:nvSpPr>
        <p:spPr>
          <a:xfrm>
            <a:off x="10191139" y="4200123"/>
            <a:ext cx="8096861" cy="3534171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/>
          <a:lstStyle/>
          <a:p>
            <a:endParaRPr lang="pt-BR"/>
          </a:p>
        </p:txBody>
      </p:sp>
      <p:grpSp>
        <p:nvGrpSpPr>
          <p:cNvPr id="12" name="Group 7">
            <a:extLst>
              <a:ext uri="{FF2B5EF4-FFF2-40B4-BE49-F238E27FC236}">
                <a16:creationId xmlns:a16="http://schemas.microsoft.com/office/drawing/2014/main" id="{A4F78A55-67FA-46AD-B8A4-E3CBDB0849FE}"/>
              </a:ext>
            </a:extLst>
          </p:cNvPr>
          <p:cNvGrpSpPr/>
          <p:nvPr userDrawn="1"/>
        </p:nvGrpSpPr>
        <p:grpSpPr>
          <a:xfrm>
            <a:off x="10230461" y="3344253"/>
            <a:ext cx="8057539" cy="542213"/>
            <a:chOff x="0" y="0"/>
            <a:chExt cx="1997418" cy="142805"/>
          </a:xfrm>
        </p:grpSpPr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8D895707-9975-030F-2C4F-65A3EF0A7625}"/>
                </a:ext>
              </a:extLst>
            </p:cNvPr>
            <p:cNvSpPr/>
            <p:nvPr/>
          </p:nvSpPr>
          <p:spPr>
            <a:xfrm>
              <a:off x="0" y="0"/>
              <a:ext cx="1997418" cy="142805"/>
            </a:xfrm>
            <a:custGeom>
              <a:avLst/>
              <a:gdLst/>
              <a:ahLst/>
              <a:cxnLst/>
              <a:rect l="l" t="t" r="r" b="b"/>
              <a:pathLst>
                <a:path w="1997418" h="142805">
                  <a:moveTo>
                    <a:pt x="0" y="0"/>
                  </a:moveTo>
                  <a:lnTo>
                    <a:pt x="1997418" y="0"/>
                  </a:lnTo>
                  <a:lnTo>
                    <a:pt x="1997418" y="142805"/>
                  </a:lnTo>
                  <a:lnTo>
                    <a:pt x="0" y="142805"/>
                  </a:lnTo>
                  <a:close/>
                </a:path>
              </a:pathLst>
            </a:custGeom>
            <a:solidFill>
              <a:srgbClr val="BFBFB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9">
              <a:extLst>
                <a:ext uri="{FF2B5EF4-FFF2-40B4-BE49-F238E27FC236}">
                  <a16:creationId xmlns:a16="http://schemas.microsoft.com/office/drawing/2014/main" id="{BCC5E8BF-0150-87CA-C9CD-670043616AA6}"/>
                </a:ext>
              </a:extLst>
            </p:cNvPr>
            <p:cNvSpPr txBox="1"/>
            <p:nvPr/>
          </p:nvSpPr>
          <p:spPr>
            <a:xfrm>
              <a:off x="0" y="-47625"/>
              <a:ext cx="1997418" cy="1904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24" name="Retângulo 23">
            <a:extLst>
              <a:ext uri="{FF2B5EF4-FFF2-40B4-BE49-F238E27FC236}">
                <a16:creationId xmlns:a16="http://schemas.microsoft.com/office/drawing/2014/main" id="{22D2DCD8-832E-DBED-E6B6-A8335F358007}"/>
              </a:ext>
            </a:extLst>
          </p:cNvPr>
          <p:cNvSpPr/>
          <p:nvPr userDrawn="1"/>
        </p:nvSpPr>
        <p:spPr>
          <a:xfrm>
            <a:off x="457200" y="876300"/>
            <a:ext cx="9773261" cy="8151695"/>
          </a:xfrm>
          <a:prstGeom prst="rect">
            <a:avLst/>
          </a:prstGeom>
          <a:ln w="571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1">
                    <a:lumMod val="95000"/>
                  </a:schemeClr>
                </a:gs>
                <a:gs pos="83000">
                  <a:schemeClr val="bg1">
                    <a:lumMod val="75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9" name="Group 4">
            <a:extLst>
              <a:ext uri="{FF2B5EF4-FFF2-40B4-BE49-F238E27FC236}">
                <a16:creationId xmlns:a16="http://schemas.microsoft.com/office/drawing/2014/main" id="{16BCD1D1-522E-EEC9-4AC6-2AFE722F114F}"/>
              </a:ext>
            </a:extLst>
          </p:cNvPr>
          <p:cNvGrpSpPr/>
          <p:nvPr userDrawn="1"/>
        </p:nvGrpSpPr>
        <p:grpSpPr>
          <a:xfrm>
            <a:off x="17332088" y="1396378"/>
            <a:ext cx="574912" cy="574912"/>
            <a:chOff x="0" y="0"/>
            <a:chExt cx="812800" cy="812800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0A605380-2099-B60E-0820-3C8A319E6E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066BCD79-43F7-8265-245B-4ECD527F73C4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pic>
        <p:nvPicPr>
          <p:cNvPr id="22" name="Imagem 21">
            <a:extLst>
              <a:ext uri="{FF2B5EF4-FFF2-40B4-BE49-F238E27FC236}">
                <a16:creationId xmlns:a16="http://schemas.microsoft.com/office/drawing/2014/main" id="{C889B8FC-F1F7-2FF3-32C1-3B52057C1D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9" t="2298" b="20754"/>
          <a:stretch>
            <a:fillRect/>
          </a:stretch>
        </p:blipFill>
        <p:spPr>
          <a:xfrm>
            <a:off x="533400" y="1104900"/>
            <a:ext cx="9620861" cy="7696200"/>
          </a:xfrm>
          <a:prstGeom prst="rect">
            <a:avLst/>
          </a:prstGeom>
        </p:spPr>
      </p:pic>
      <p:sp>
        <p:nvSpPr>
          <p:cNvPr id="18" name="TextBox 13">
            <a:extLst>
              <a:ext uri="{FF2B5EF4-FFF2-40B4-BE49-F238E27FC236}">
                <a16:creationId xmlns:a16="http://schemas.microsoft.com/office/drawing/2014/main" id="{DAD8163B-932B-ADD0-4342-E58100FB35C8}"/>
              </a:ext>
            </a:extLst>
          </p:cNvPr>
          <p:cNvSpPr txBox="1"/>
          <p:nvPr userDrawn="1"/>
        </p:nvSpPr>
        <p:spPr>
          <a:xfrm>
            <a:off x="10328859" y="3445829"/>
            <a:ext cx="5977941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2"/>
              </a:lnSpc>
            </a:pPr>
            <a:r>
              <a:rPr lang="en-US" sz="3103" spc="1924" dirty="0">
                <a:solidFill>
                  <a:srgbClr val="000000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PROJETO</a:t>
            </a:r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A3CCA323-A143-337C-544E-BCF16C82E935}"/>
              </a:ext>
            </a:extLst>
          </p:cNvPr>
          <p:cNvSpPr/>
          <p:nvPr userDrawn="1"/>
        </p:nvSpPr>
        <p:spPr>
          <a:xfrm>
            <a:off x="8581200" y="1712337"/>
            <a:ext cx="8640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3C14FD09-C576-0A01-02E0-FB1D25F115F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3400" y="754571"/>
            <a:ext cx="1580129" cy="99235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53D35A9-C1DD-F70B-B15B-AF0E34FC52A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2292" y="788744"/>
            <a:ext cx="1175237" cy="796128"/>
          </a:xfrm>
          <a:prstGeom prst="rect">
            <a:avLst/>
          </a:prstGeom>
        </p:spPr>
      </p:pic>
      <p:pic>
        <p:nvPicPr>
          <p:cNvPr id="28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FDFFBAF-5EEB-BA2A-370A-CC9FA050A9E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92400" y="571500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408AB8B7-6278-E7BB-0F3A-0846AF94D821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7807DB4B-FF1C-E789-67B6-1DCFB08B681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A53B5835-15AA-1664-184D-A685A621F197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7" name="AutoShape 3">
            <a:extLst>
              <a:ext uri="{FF2B5EF4-FFF2-40B4-BE49-F238E27FC236}">
                <a16:creationId xmlns:a16="http://schemas.microsoft.com/office/drawing/2014/main" id="{62633D84-3043-7EAF-91B2-F3FB7FFEE6D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2D612930-784E-5D4F-676F-8681E752F6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D9E668AB-E4DA-3EB2-FF34-D72B13DB71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20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C4B1373-599C-BC00-37BC-4F4D80F8F3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2D442BA8-C8F4-2141-AB53-1FF0C7C1D4EB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27AF2FF4-964D-5FCD-32C8-2F456DAE0F0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994B3381-E85D-C12B-4666-EB2CC12D8B73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5F926657-A124-C747-8B1D-5A7933AE6B8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791E481-5D13-7571-079F-99B705F111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85CC9C6-F10F-DBDA-63B2-E623FC5934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21B630F4-A9DE-F53F-378A-E88EB6F094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1D86AA44-AE13-E305-6305-66174414DB66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CD157CBE-2395-C9F6-C425-A34B27C4B1C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B505C6CC-BB3C-B5F5-8920-4CD13AC171D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3249B7E8-FB83-47C2-8847-2E0861EF369F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B91E9852-0BD7-3627-849F-AA68CD49EC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54FB718-4951-7A33-5C98-02000F33B5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8AD4C55-25BF-65F6-E24D-ED69C32964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FCB2D406-1800-2622-E494-8C362DE0BE2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811E7295-147E-3C16-74EF-C58A5D8AD2B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B2167BDD-E5AC-74F7-794A-8F80AF20A05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3" name="AutoShape 3">
            <a:extLst>
              <a:ext uri="{FF2B5EF4-FFF2-40B4-BE49-F238E27FC236}">
                <a16:creationId xmlns:a16="http://schemas.microsoft.com/office/drawing/2014/main" id="{EBEFCEAC-6C9D-C1B7-73EC-13CA2E1ED17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25E2090-A4D9-BB65-7FF8-7B854A33F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B99666C9-520F-140D-6E3C-4BC5A642331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6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A78F8571-26CC-E4B2-A948-D38B4A7DA6E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6D10B1E7-0C5C-E67E-29AD-C9D4ED5022B0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DE68B82B-A3A6-4EDA-AF84-25A61E4D18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6">
              <a:extLst>
                <a:ext uri="{FF2B5EF4-FFF2-40B4-BE49-F238E27FC236}">
                  <a16:creationId xmlns:a16="http://schemas.microsoft.com/office/drawing/2014/main" id="{712B6336-74C5-6B4D-23F8-173F3AE15C8F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9" name="AutoShape 3">
            <a:extLst>
              <a:ext uri="{FF2B5EF4-FFF2-40B4-BE49-F238E27FC236}">
                <a16:creationId xmlns:a16="http://schemas.microsoft.com/office/drawing/2014/main" id="{77393E84-8FF1-44B3-45A5-B93C11873FE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113F16C-2F15-A107-725C-1D0849C413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FDC28EC4-1A9D-ED6C-10B2-36212E7BA5A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2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E3CFEC6-E6C8-731A-65A8-DB28B4B867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975A44-EBB4-87B1-1197-9C1160A8FDAF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D0D6F27-6EF5-E10C-7C71-1BE0AD24F13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4ACF77-55BA-68F5-8569-93C94983759B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AutoShape 3">
            <a:extLst>
              <a:ext uri="{FF2B5EF4-FFF2-40B4-BE49-F238E27FC236}">
                <a16:creationId xmlns:a16="http://schemas.microsoft.com/office/drawing/2014/main" id="{9649EB28-041A-E933-2F25-88F16FAF90A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259DFB0-CA66-1952-4BA9-09CEBC0DCE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BC237DE2-2307-6893-6A25-4E45226BC9D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1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1BF0946-32D9-D3BC-30CD-A83B7FD286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7A06D820-D635-4562-AA3F-94204880A6AA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2557A122-0CC4-4858-B5C3-C6C2FE89E8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2E6548A2-72F3-4B96-F26D-FFE8073EBC2E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C5374333-7DED-1FA4-8266-6DFABC6BC6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80D594B-A263-45FD-C9EA-07503C44AC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DE5A74A-F7A3-66EF-BD8B-489634FD74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8732DDA6-F9AC-5E9E-90A7-48B65C5F24E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F46BDAD5-78C1-B53F-ED01-5ECC2B09840E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103BF50A-9D8C-5D72-8CFB-127644ECE1C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F2DA23F4-25A8-7637-E1B4-7B04240F9A91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B9AC1284-470E-2958-8D92-EA6FFF24E0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EC79A9F-8575-A6A0-378A-06D5FB5B5C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B69AD7A-BA58-376C-115F-4D2CC03C6D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521E6B2-6F46-2105-BAE1-6B9706A65E2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05233067-9A44-29CB-5986-81B78E8D93A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9D69D7A9-40B8-4AF8-C876-28E05FFEEAA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15BFCFAA-62A7-AF1C-CF81-DF135929D78D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8A52438F-36AC-58F6-CE1E-C00A306014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9A1EA23-2C34-331E-0956-0D8D43581D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1EBB08D-1E04-92C2-F8C6-2B885AD20B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82E2293-C8FA-DF10-A05C-5051D0D6C0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81FF9232-AEA2-2D2E-8C8A-8C990E9EB677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BB9E533A-3BCD-94D2-E339-53694E57F7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7E6C6033-2637-5367-41AC-4E475C4F203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7DBB4A51-C496-1B86-8EEA-6BBD3536109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8A39ACE8-8372-0C42-C0BA-7DD1EF8EB1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B0D2261-78F1-016F-9FEE-1269E0240C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0CA3D5A1-9EA0-1D25-1C79-E5FA2FBDE8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e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4">
            <a:extLst>
              <a:ext uri="{FF2B5EF4-FFF2-40B4-BE49-F238E27FC236}">
                <a16:creationId xmlns:a16="http://schemas.microsoft.com/office/drawing/2014/main" id="{897C1E87-7813-9517-AAA9-42380DFA223F}"/>
              </a:ext>
            </a:extLst>
          </p:cNvPr>
          <p:cNvSpPr txBox="1"/>
          <p:nvPr/>
        </p:nvSpPr>
        <p:spPr>
          <a:xfrm>
            <a:off x="10337932" y="4389965"/>
            <a:ext cx="7498079" cy="274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3600" b="1" dirty="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Formação superior e mercado de trabalho na Sub-região Oeste da RMSP</a:t>
            </a: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C4B13D04-6E82-0548-7FD0-A67783BBB9D5}"/>
              </a:ext>
            </a:extLst>
          </p:cNvPr>
          <p:cNvSpPr txBox="1"/>
          <p:nvPr/>
        </p:nvSpPr>
        <p:spPr>
          <a:xfrm>
            <a:off x="10318598" y="8267700"/>
            <a:ext cx="7498079" cy="81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Autores: Guilherme Neves Dantas de Oliveira e Luiz Rodolfo Dawoglio</a:t>
            </a:r>
          </a:p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Orientador: Prof. Me. Antonio Manuel Marques Matias</a:t>
            </a:r>
          </a:p>
        </p:txBody>
      </p:sp>
    </p:spTree>
    <p:extLst>
      <p:ext uri="{BB962C8B-B14F-4D97-AF65-F5344CB8AC3E}">
        <p14:creationId xmlns:p14="http://schemas.microsoft.com/office/powerpoint/2010/main" val="3329900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INTRODUÇÃO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mostrou que o gargalo do ensino superior migrou do acesso para a permanência e que o diploma reduz o desemprego (3,9% no superior contra 8,8% no médio). O PI2 leva a análise para a nossa região: os cursos oferecidos aqui formam para as vagas que o mercado local abre?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JUSTIFICATIVA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Estudantes e escolas escolhem cursos sem saber o que o mercado local pede. Cruzar dados públicos de educação e emprego mostra onde sobram e onde faltam formados, apoia a transição estudo-trabalho (ODS 8) e vira um guia para os jovens da região.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Geral: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descompasso entre os cursos superiores da região e as vagas do mercado local.</a:t>
            </a: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Específicos: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21247" y="4754880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áreas com mais concluintes;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ocupações de nível superior que mais contratam;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calcular o descompasso entre formados e vagas por área;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prêmio salarial do diploma na admissão;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descrever a oferta pública e privada e a taxa de conclusão.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OBJETIVOS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REVISÃO TEÓRICA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registrou 10,2 milhões de matrículas no ensino superior em 2024, 80% no setor privado, e só 17,19% dos jovens de 25 a 34 anos com diploma. Conceitos do PI2: descompasso entre oferta e demanda, sobrequalificação (formado em vaga que não exige diploma) e as classificações CINE Brasil (cursos) e CBO 2002 (ocupações).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260292" y="4300762"/>
            <a:ext cx="810161" cy="810161"/>
            <a:chOff x="0" y="0"/>
            <a:chExt cx="323804" cy="3238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260292" y="5666198"/>
            <a:ext cx="810161" cy="810161"/>
            <a:chOff x="0" y="0"/>
            <a:chExt cx="323804" cy="3238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260292" y="7171683"/>
            <a:ext cx="810161" cy="810161"/>
            <a:chOff x="0" y="0"/>
            <a:chExt cx="323804" cy="32380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772721" y="-38100"/>
            <a:ext cx="14606457" cy="3114630"/>
          </a:xfrm>
          <a:custGeom>
            <a:avLst/>
            <a:gdLst/>
            <a:ahLst/>
            <a:cxnLst/>
            <a:rect l="l" t="t" r="r" b="b"/>
            <a:pathLst>
              <a:path w="14606457" h="3114630">
                <a:moveTo>
                  <a:pt x="0" y="0"/>
                </a:moveTo>
                <a:lnTo>
                  <a:pt x="14606457" y="0"/>
                </a:lnTo>
                <a:lnTo>
                  <a:pt x="14606457" y="3114630"/>
                </a:lnTo>
                <a:lnTo>
                  <a:pt x="0" y="3114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098" t="-195042" b="-3081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1772721" y="3463651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METODOLOGIA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6377" y="4475176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46377" y="5840612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46377" y="7346098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501889" y="4462779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501889" y="7407027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501889" y="5828214"/>
            <a:ext cx="2877289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72721" y="5169302"/>
            <a:ext cx="9347373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Dados públicos de 2020 em diante para 8 municípios: Santana de Parnaíba, Barueri, Osasco, Carapicuíba, Cajamar, Itapevi, Jandira e Pirapora do Bom Jesus. Tratamento em Python e painéis no Power BI.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INEP: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da Educação Superior (cursos, ingressantes e concluintes)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MTE: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Novo CAGED e RAIS (admissões, salário e ocupação)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IBGE: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2022 (população e escolaridade)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Uma tabela de-para liga a área do curso (CINE) à ocupação (CBO). São 79 regras, validadas com CAGED e INEP 2024, que cobrem 99% dos formados em cargos qualificados. No Power BI, os dados formam um esquema estrela ligado por município, tempo e área.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na área ÷ concluintes da área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Prêmio salarial: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salário mediano com superior ÷ com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formados admitidos em vagas de nível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Oferta: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concluintes ÷ ingressantes e peso da rede privada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73,2 mil admissões com diploma; o salário mediano é 2,1 vezes o do nível médio.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RESULTADOS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13,6 mil concluintes em 2024: 91% na rede privada e 67% em EaD.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REDE PRIVADA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ENSINO A DISTÂNCIA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91%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67%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353644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2603754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 POR ÁREA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em ocupações da área ÷ concluintes da área na região (2024)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310896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4,7 admissões por concluinte, a maior pressão entre as áreas com muitos formados.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Ciências naturais: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alto, mas com só 72 concluintes.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Leitura comparativa: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 região também contrata formados de fora e recontrata quem já trabalha.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2834640"/>
          <a:ext cx="9509760" cy="5760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EVOLUÇÃO 2020–2024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de descompasso nas áreas com mais concluintes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292608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índice caiu de 11,5 (2021) para 4,7; os concluintes da área passaram de 907 para 2.316.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Prêmio salarial: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caiu de 2,7× (2021) para 2,1×; o salário do nível médio subiu mais.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subiu de 30% (2020) para 34% dos formados contratados.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EaD: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passou de 39% para 67% dos concluintes.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3154680"/>
          <a:ext cx="9692640" cy="5577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No estoque, o salário mediano com diploma é 2,6 vezes o do médio; na admissão, 2,1 vezes.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ESTOQUE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Na RAIS, quem já está empregado: 882 mil vínculos em 2024, 297 mil com diploma.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FORMADOS NO EMPREGO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SOBREQUALIF. NA ADMISSÃO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SOBREQUALIF. NO ESTOQUE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16%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62179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6614-0ECE-A394-DCFE-D16B68F9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utoShape 20">
            <a:extLst>
              <a:ext uri="{FF2B5EF4-FFF2-40B4-BE49-F238E27FC236}">
                <a16:creationId xmlns:a16="http://schemas.microsoft.com/office/drawing/2014/main" id="{FF2428AA-19FC-2844-363C-532E3A7A2224}"/>
              </a:ext>
            </a:extLst>
          </p:cNvPr>
          <p:cNvSpPr/>
          <p:nvPr/>
        </p:nvSpPr>
        <p:spPr>
          <a:xfrm>
            <a:off x="3200400" y="8197080"/>
            <a:ext cx="4190056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260C7B66-2667-43E2-8D4F-20177D086EEB}"/>
              </a:ext>
            </a:extLst>
          </p:cNvPr>
          <p:cNvSpPr/>
          <p:nvPr/>
        </p:nvSpPr>
        <p:spPr>
          <a:xfrm>
            <a:off x="10143956" y="8001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10963146" h="8229600">
                <a:moveTo>
                  <a:pt x="0" y="0"/>
                </a:moveTo>
                <a:lnTo>
                  <a:pt x="10963146" y="0"/>
                </a:lnTo>
                <a:lnTo>
                  <a:pt x="1096314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1454" r="-107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CCDBCC88-FE05-7155-E022-E08F53A95932}"/>
              </a:ext>
            </a:extLst>
          </p:cNvPr>
          <p:cNvSpPr txBox="1"/>
          <p:nvPr/>
        </p:nvSpPr>
        <p:spPr>
          <a:xfrm>
            <a:off x="1772721" y="2711219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latin typeface="Montaser Arabic"/>
                <a:ea typeface="Montaser Arabic"/>
                <a:cs typeface="Montaser Arabic"/>
                <a:sym typeface="Montaser Arabic"/>
              </a:rPr>
              <a:t>CONCLUSÃO</a:t>
            </a: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843F7FB4-312A-333F-576D-52DF52BDF854}"/>
              </a:ext>
            </a:extLst>
          </p:cNvPr>
          <p:cNvSpPr txBox="1"/>
          <p:nvPr/>
        </p:nvSpPr>
        <p:spPr>
          <a:xfrm>
            <a:off x="1772721" y="4015597"/>
            <a:ext cx="7894697" cy="3711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60"/>
              </a:lnSpc>
              <a:spcBef>
                <a:spcPct val="0"/>
              </a:spcBef>
            </a:pPr>
            <a:r>
              <a:rPr lang="en-US" sz="2100" u="none" strike="noStrike" spc="132" dirty="0">
                <a:latin typeface="Montaser Arabic Light"/>
                <a:ea typeface="Montaser Arabic Light"/>
                <a:cs typeface="Montaser Arabic Light"/>
                <a:sym typeface="Montaser Arabic Light"/>
              </a:rPr>
              <a:t>De 2020 a 2024, a formação em Computação e TIC cresceu mais rápido que as contratações, e o descompasso da área caiu. Um em cada três formados contratados entra em vaga de nível médio, mas no estoque são 16%: o descompasso pesa mais na entrada, e o diploma rende mais com o tempo.</a:t>
            </a:r>
          </a:p>
        </p:txBody>
      </p:sp>
      <p:grpSp>
        <p:nvGrpSpPr>
          <p:cNvPr id="30" name="Group 21">
            <a:extLst>
              <a:ext uri="{FF2B5EF4-FFF2-40B4-BE49-F238E27FC236}">
                <a16:creationId xmlns:a16="http://schemas.microsoft.com/office/drawing/2014/main" id="{C5CEFF4E-DBBE-66A5-71E1-639D834D040B}"/>
              </a:ext>
            </a:extLst>
          </p:cNvPr>
          <p:cNvGrpSpPr/>
          <p:nvPr/>
        </p:nvGrpSpPr>
        <p:grpSpPr>
          <a:xfrm>
            <a:off x="2066987" y="8039100"/>
            <a:ext cx="315960" cy="315960"/>
            <a:chOff x="0" y="0"/>
            <a:chExt cx="812800" cy="812800"/>
          </a:xfrm>
        </p:grpSpPr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9E1D0EF6-CEA6-BF01-B02C-D579A7611B9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A923D876-7BFE-89EE-004B-850B8D0BD856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33" name="Group 24">
            <a:extLst>
              <a:ext uri="{FF2B5EF4-FFF2-40B4-BE49-F238E27FC236}">
                <a16:creationId xmlns:a16="http://schemas.microsoft.com/office/drawing/2014/main" id="{83AAE483-27F1-DCF6-0B0F-E8333CC9558E}"/>
              </a:ext>
            </a:extLst>
          </p:cNvPr>
          <p:cNvGrpSpPr/>
          <p:nvPr/>
        </p:nvGrpSpPr>
        <p:grpSpPr>
          <a:xfrm>
            <a:off x="2579640" y="8039100"/>
            <a:ext cx="315960" cy="315960"/>
            <a:chOff x="0" y="0"/>
            <a:chExt cx="812800" cy="812800"/>
          </a:xfrm>
        </p:grpSpPr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7387C5EA-098D-5F60-C1BC-B87D667F0A0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TextBox 26">
              <a:extLst>
                <a:ext uri="{FF2B5EF4-FFF2-40B4-BE49-F238E27FC236}">
                  <a16:creationId xmlns:a16="http://schemas.microsoft.com/office/drawing/2014/main" id="{1B74935A-CE1A-A42C-FC46-B2EFC498A148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827119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incluir o IBGE (população e escolaridade por município);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detalhar por município e por curso, incluindo os da Fatec;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montar os painéis no Power BI;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entregar o guia "Cursos com mercado na nossa região" às escolas estaduais e à Fatec.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132588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PRÓXIMOS PASSOS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REFERÊNCIAS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27632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advanced education (% of total labor force with advanced education). Washington, D.C.: World Bank Group, 2024. Disponível em: https://data.worldbank.org/indicator/SL.UEM.ADVN.ZS.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intermediate education (% of total labor force with intermediate education). Washington, D.C.: World Bank Group, 2024. Disponível em: https://data.worldbank.org/indicator/SL.UEM.INTM.ZS.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Classificação Brasileira de Ocupações: CBO 2002. Brasília, DF: MTE. Disponível em: https://cbo.mte.gov.br.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Microdados da RAIS 2020-2024. Brasília, DF: MTE/PDET. Disponível em: https://pdet.mte.gov.br/microdados-rais-e-caged.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Microdados do Novo CAGED 2020-2024. Brasília, DF: MTE/PDET. Disponível em: https://pdet.mte.gov.br/microdados-rais-e-caged.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BRASILEIRO DE GEOGRAFIA E ESTATÍSTICA (IBGE). Censo Demográfico 2022. Rio de Janeiro: IBGE. Disponível em: https://sidra.ibge.gov.br.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NACIONAL DE ESTUDOS E PESQUISAS EDUCACIONAIS ANÍSIO TEIXEIRA (INEP). Microdados do Censo da Educação Superior 2020-2024. Brasília, DF: INEP. Disponível em: https://www.gov.br/inep/pt-br/acesso-a-informacao/dados-abertos/microdados/censo-da-educacao-superior.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OLIVEIRA, Guilherme Neves Dantas de; DAWOGLIO, Luiz Rodolfo. Políticas públicas e a inclusão no ensino superior. Relato técnico (Projeto Integrador I) - Fatec Santana de Parnaíba, Santana de Parnaíba,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SEMESP. Mapa do Ensino Superior no Brasil: Edição 16. São Paulo: Semesp, 2026. Disponível em: https://www.semesp.org.br/mapa/edicao-16/brasil/. Acesso em: 21 maio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413</Words>
  <Application>Microsoft Macintosh PowerPoint</Application>
  <PresentationFormat>Personalizar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Montaser Arabic Medium</vt:lpstr>
      <vt:lpstr>Montaser Arabic Extra-Light</vt:lpstr>
      <vt:lpstr>Arial</vt:lpstr>
      <vt:lpstr>Montaser Arabic</vt:lpstr>
      <vt:lpstr>Cooper Hewitt Bold</vt:lpstr>
      <vt:lpstr>Calibri</vt:lpstr>
      <vt:lpstr>Montaser Arabic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Trabalho Conclusão de Curso Minimalista Preto e Branco</dc:title>
  <cp:lastModifiedBy>LEONARDO FORTUNATO PUGA</cp:lastModifiedBy>
  <cp:revision>2</cp:revision>
  <dcterms:created xsi:type="dcterms:W3CDTF">2006-08-16T00:00:00Z</dcterms:created>
  <dcterms:modified xsi:type="dcterms:W3CDTF">2026-08-15T23:05:01Z</dcterms:modified>
  <dc:identifier>DAHSZllWYRg</dc:identifier>
</cp:coreProperties>
</file>