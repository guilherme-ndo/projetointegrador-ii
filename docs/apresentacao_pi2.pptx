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Apresentar o tema do PI2 como continuação direta do relato técnico do PI1 (Políticas Públicas e a Inclusão no Ensino Superior).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PI1 concluiu que o gargalo migrou do acesso para a permanência e que o diploma reduz o desemprego. Nas considerações finais recomendamos estratégias de transição estudo-trabalho (ODS 8). O PI2 aplica essa recomendação em escala regional. Números do PI1: SEMESP (matrículas), Banco Mundial (desemprego e diplomados).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3 (destacada) é o núcleo do projeto e depende da tabela de-para CINE x CBO. A pergunta 4 replica localmente o achado nacional do PI1. A pergunta 5 dá continuidade ao tema de permanência.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Recorte regional em torno da Fatec Santana de Parnaíba. Validar com o professor se o recorte de 8 municípios é adequado ou se devemos ampliar para a RMSP.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Fontes: portal de dados abertos do INEP, portal PDET do Ministério do Trabalho e SIDRA do IBGE. Alternativa: Base dos Dados (basedosdados.org) com as bases já tratadas via BigQuery. Os arquivos do CAGED são grandes e serão filtrados em Python antes do Power BI.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tabela de-para é a principal contribuição metodológica. Rascunho em planilha separada (depara_cine_cbo.xlsx). Próximo passo: validar cada código CBO no site oficial da CBO (MTE) e cada área na documentação CINE Brasil do INEP. Exemplo de limitação: engenheiros de produção recebem formados em Engenharia e em Administração.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Dimensões ficam acima e abaixo; fatos ao centro. Todas as relações são um-para-muitos da dimensão para o fato. A dMunicipio guarda os códigos de 7 e 6 dígitos para resolver a diferença entre INEP/IBGE e CAGED.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de descompasso é a métrica central. A taxa de conclusão local conecta com o achado do PI1 sobre permanência. O prêmio salarial replica localmente o dado nacional de desemprego por escolaridade.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a validar com o professor: a proposta original previa visita a comerciantes com registro fotográfico. Nossa alternativa mantém o retorno social por meio do guia entregue a escolas e à Fatec. Se for exigido contato presencial ou humano, podemos acrescentar uma entrevista online curta com um coordenador de escola ou da Fatec.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atual: escopo definido, fontes identificadas e rascunho da tabela de-para pronto. Etapas 1 e 2 em andamento. Ajustar as semanas ao calendário real da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Encerrar pedindo retorno nestes quatro pontos. O primeiro é decisivo: se a visita for obrigatória, o projeto pode incorporar uma etapa híbrida.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4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0" y="-548640"/>
            <a:ext cx="2194560" cy="2194560"/>
          </a:xfrm>
          <a:prstGeom prst="ellipse">
            <a:avLst/>
          </a:prstGeom>
          <a:solidFill>
            <a:srgbClr val="6C5FC7"/>
          </a:solidFill>
          <a:ln w="12700">
            <a:solidFill>
              <a:srgbClr val="6C5FC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0" y="-548640"/>
            <a:ext cx="2194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949440" y="3566160"/>
            <a:ext cx="1188720" cy="118872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49440" y="356616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822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Integrador II · Apresentação de andamento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1887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Formação superior e mercado de trabalho na Sub-região Oeste da RMSP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C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Descompasso entre oferta de cursos e demanda local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7764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Guilherme Neves Dantas de Oliveira · Luiz Rodolfo Dawoglio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Ciência de Dados · Fatec Santana de Parnaíba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PI1 ao PI2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semestre passado mostrou e para onde o projeto avança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10,2 mi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2788920" y="1371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matrículas no ensino superior (2024), 80% no setor privado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3,9% / 8,8%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desemprego: superior vs médio no Brasil (2023)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4747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17,19%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2788920" y="34747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jovens de 25 a 34 anos com diploma, abaixo de Chile e México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303520" y="1371600"/>
            <a:ext cx="3383280" cy="2971800"/>
          </a:xfrm>
          <a:prstGeom prst="roundRect">
            <a:avLst>
              <a:gd name="adj" fmla="val 2462"/>
            </a:avLst>
          </a:prstGeom>
          <a:solidFill>
            <a:srgbClr val="2B2462"/>
          </a:solidFill>
          <a:ln w="12700">
            <a:solidFill>
              <a:srgbClr val="2B246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532120" y="1554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do PI2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532120" y="196596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o diploma protege contra o desemprego, os cursos da nossa região formam para as vagas que o mercado local realmente abre?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532120" y="3749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dado nacional ao dado regional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Perguntas de pesquisa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perguntas guiam as análises e os dashboards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457200" cy="457200"/>
          </a:xfrm>
          <a:prstGeom prst="ellipse">
            <a:avLst/>
          </a:prstGeom>
          <a:solidFill>
            <a:srgbClr val="2B2462"/>
          </a:solidFill>
          <a:ln w="12700">
            <a:solidFill>
              <a:srgbClr val="2B246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371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áreas de formação mais formam concluintes na região?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029968"/>
            <a:ext cx="457200" cy="457200"/>
          </a:xfrm>
          <a:prstGeom prst="ellipse">
            <a:avLst/>
          </a:prstGeom>
          <a:solidFill>
            <a:srgbClr val="2B2462"/>
          </a:solidFill>
          <a:ln w="12700">
            <a:solidFill>
              <a:srgbClr val="2B246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02996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ocupações de nível superior mais contratam na região?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688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688336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há descompasso entre formados e vagas?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346704"/>
            <a:ext cx="457200" cy="457200"/>
          </a:xfrm>
          <a:prstGeom prst="ellipse">
            <a:avLst/>
          </a:prstGeom>
          <a:solidFill>
            <a:srgbClr val="2B2462"/>
          </a:solidFill>
          <a:ln w="12700">
            <a:solidFill>
              <a:srgbClr val="2B246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3467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346704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o diploma aumenta o salário de admissão localmente?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005072"/>
            <a:ext cx="457200" cy="457200"/>
          </a:xfrm>
          <a:prstGeom prst="ellipse">
            <a:avLst/>
          </a:prstGeom>
          <a:solidFill>
            <a:srgbClr val="2B2462"/>
          </a:solidFill>
          <a:ln w="12700">
            <a:solidFill>
              <a:srgbClr val="2B246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00507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oferta local é pública ou privada, e quanto dela conclui?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do estudo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Onde, quando e o que será medido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EEEBF7"/>
          </a:solidFill>
          <a:ln w="12700">
            <a:solidFill>
              <a:srgbClr val="EEEB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54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65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C5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municípios da Sub-região Oeste da RMSP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Santana de Parnaíba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Barueri · Osasco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Carapicuíba · Cajamar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Itapevi · Jandira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Pirapora do Bom Jesus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37160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EEEBF7"/>
          </a:solidFill>
          <a:ln w="12700">
            <a:solidFill>
              <a:srgbClr val="EEEB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74720" y="1554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965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C5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até o último ano disponível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56032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CAGED começa em jan/2020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o piso comum entre as bases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 ES e RAIS anuais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37160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EEEBF7"/>
          </a:solidFill>
          <a:ln w="12700">
            <a:solidFill>
              <a:srgbClr val="EEEB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63640" y="1554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quê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1965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C5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de formação x demanda de trabalho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56032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Cursos, vagas, ingressos e concluintes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Admissões e salários por ocupação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 e escolaridade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bases cruzadas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Exigência do PI2: integrar três fontes de dados públicas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EEEBF7"/>
          </a:solidFill>
          <a:ln w="12700">
            <a:solidFill>
              <a:srgbClr val="EEEB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554480"/>
            <a:ext cx="685800" cy="685800"/>
          </a:xfrm>
          <a:prstGeom prst="ellipse">
            <a:avLst/>
          </a:prstGeom>
          <a:solidFill>
            <a:srgbClr val="2B2462"/>
          </a:solidFill>
          <a:ln w="12700">
            <a:solidFill>
              <a:srgbClr val="2B246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554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INEP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3317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Censo da Educação Superior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Cursos por município e área CINE: vagas, ingressantes, matrículas, concluintes, rede pública ou privada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46120" y="137160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EEEBF7"/>
          </a:solidFill>
          <a:ln w="12700">
            <a:solidFill>
              <a:srgbClr val="EEEB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554480"/>
            <a:ext cx="685800" cy="685800"/>
          </a:xfrm>
          <a:prstGeom prst="ellipse">
            <a:avLst/>
          </a:prstGeom>
          <a:solidFill>
            <a:srgbClr val="6C5FC7"/>
          </a:solidFill>
          <a:ln w="12700">
            <a:solidFill>
              <a:srgbClr val="6C5FC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554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MTE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3317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Novo CAGED e RAIS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78892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Admissões, desligamentos, salário e escolaridade por ocupação CBO e município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137160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EEEBF7"/>
          </a:solidFill>
          <a:ln w="12700">
            <a:solidFill>
              <a:srgbClr val="EEEB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63640" y="1554480"/>
            <a:ext cx="685800" cy="685800"/>
          </a:xfrm>
          <a:prstGeom prst="ellipse">
            <a:avLst/>
          </a:prstGeom>
          <a:solidFill>
            <a:srgbClr val="2B2462"/>
          </a:solidFill>
          <a:ln w="12700">
            <a:solidFill>
              <a:srgbClr val="2B246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63640" y="1554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IBGE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23317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Censo Demográfico 2022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278892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 por faixa etária e escolaridade por município (SIDRA)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886200"/>
            <a:ext cx="8183880" cy="777240"/>
          </a:xfrm>
          <a:prstGeom prst="roundRect">
            <a:avLst>
              <a:gd name="adj" fmla="val 9412"/>
            </a:avLst>
          </a:prstGeom>
          <a:solidFill>
            <a:srgbClr val="2B2462"/>
          </a:solidFill>
          <a:ln w="12700">
            <a:solidFill>
              <a:srgbClr val="2B246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388620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Chaves de ligação: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do município (7 dígitos no INEP e IBGE, 6 no CAGED) e ano. Curso e emprego ligam pela tabela de-para CINE x CBO.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Desafio metodológico: tabela de-para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e emprego usam classificações diferentes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423160" cy="1417320"/>
          </a:xfrm>
          <a:prstGeom prst="roundRect">
            <a:avLst>
              <a:gd name="adj" fmla="val 5161"/>
            </a:avLst>
          </a:prstGeom>
          <a:solidFill>
            <a:srgbClr val="EEEBF7"/>
          </a:solidFill>
          <a:ln w="12700">
            <a:solidFill>
              <a:srgbClr val="EEEB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544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5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7452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CINE Brasil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286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áreas gerais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417320"/>
            <a:ext cx="457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C5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3337560" y="1417320"/>
            <a:ext cx="2423160" cy="1417320"/>
          </a:xfrm>
          <a:prstGeom prst="roundRect">
            <a:avLst>
              <a:gd name="adj" fmla="val 5161"/>
            </a:avLst>
          </a:prstGeom>
          <a:solidFill>
            <a:srgbClr val="2B2462"/>
          </a:solidFill>
          <a:ln w="12700">
            <a:solidFill>
              <a:srgbClr val="2B246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20440" y="15544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De-para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187452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Nossa tabela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2286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C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ocupação recebe uma área principal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760720" y="1417320"/>
            <a:ext cx="457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C5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6217920" y="1417320"/>
            <a:ext cx="2423160" cy="1417320"/>
          </a:xfrm>
          <a:prstGeom prst="roundRect">
            <a:avLst>
              <a:gd name="adj" fmla="val 5161"/>
            </a:avLst>
          </a:prstGeom>
          <a:solidFill>
            <a:srgbClr val="EEEBF7"/>
          </a:solidFill>
          <a:ln w="12700">
            <a:solidFill>
              <a:srgbClr val="EEEB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0" y="15544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5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Emprego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187452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CBO 2002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2286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 de ocupação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15468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8404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ocupações mapeadas no rascunho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337560" y="315468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600" dirty="0"/>
          </a:p>
        </p:txBody>
      </p:sp>
      <p:sp>
        <p:nvSpPr>
          <p:cNvPr id="21" name="Text 19"/>
          <p:cNvSpPr txBox="1"/>
          <p:nvPr/>
        </p:nvSpPr>
        <p:spPr>
          <a:xfrm>
            <a:off x="3337560" y="38404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CINE com ocupação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15468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38404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a verificar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343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E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em cascata: 4 dígitos da CBO, depois 3, 2 e 1. Limitação: ocupações que recebem formados de várias áreas.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de dados no Power BI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estrela: quatro fatos ligados por dimensões comuns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2240280"/>
            <a:ext cx="1874520" cy="777240"/>
          </a:xfrm>
          <a:prstGeom prst="roundRect">
            <a:avLst>
              <a:gd name="adj" fmla="val 9412"/>
            </a:avLst>
          </a:prstGeom>
          <a:solidFill>
            <a:srgbClr val="2B2462"/>
          </a:solidFill>
          <a:ln w="12700">
            <a:solidFill>
              <a:srgbClr val="2B246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224028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fOfertaEnsino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C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INEP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60320" y="2240280"/>
            <a:ext cx="1874520" cy="777240"/>
          </a:xfrm>
          <a:prstGeom prst="roundRect">
            <a:avLst>
              <a:gd name="adj" fmla="val 9412"/>
            </a:avLst>
          </a:prstGeom>
          <a:solidFill>
            <a:srgbClr val="2B2462"/>
          </a:solidFill>
          <a:ln w="12700">
            <a:solidFill>
              <a:srgbClr val="2B246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60320" y="224028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fAdmissoes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C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2240280"/>
            <a:ext cx="1874520" cy="777240"/>
          </a:xfrm>
          <a:prstGeom prst="roundRect">
            <a:avLst>
              <a:gd name="adj" fmla="val 9412"/>
            </a:avLst>
          </a:prstGeom>
          <a:solidFill>
            <a:srgbClr val="2B2462"/>
          </a:solidFill>
          <a:ln w="12700">
            <a:solidFill>
              <a:srgbClr val="2B246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224028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fEstoqueEmprego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C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766560" y="2240280"/>
            <a:ext cx="1874520" cy="777240"/>
          </a:xfrm>
          <a:prstGeom prst="roundRect">
            <a:avLst>
              <a:gd name="adj" fmla="val 9412"/>
            </a:avLst>
          </a:prstGeom>
          <a:solidFill>
            <a:srgbClr val="2B2462"/>
          </a:solidFill>
          <a:ln w="12700">
            <a:solidFill>
              <a:srgbClr val="2B246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66560" y="224028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fPopulacao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C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1325880"/>
            <a:ext cx="2377440" cy="548640"/>
          </a:xfrm>
          <a:prstGeom prst="roundRect">
            <a:avLst>
              <a:gd name="adj" fmla="val 13333"/>
            </a:avLst>
          </a:prstGeom>
          <a:solidFill>
            <a:srgbClr val="EEEBF7"/>
          </a:solidFill>
          <a:ln w="12700">
            <a:solidFill>
              <a:srgbClr val="EEEB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1325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dMunicipio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360420" y="1325880"/>
            <a:ext cx="2377440" cy="548640"/>
          </a:xfrm>
          <a:prstGeom prst="roundRect">
            <a:avLst>
              <a:gd name="adj" fmla="val 13333"/>
            </a:avLst>
          </a:prstGeom>
          <a:solidFill>
            <a:srgbClr val="EEEBF7"/>
          </a:solidFill>
          <a:ln w="12700">
            <a:solidFill>
              <a:srgbClr val="EEEB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360420" y="1325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dCalendario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63640" y="1325880"/>
            <a:ext cx="2377440" cy="548640"/>
          </a:xfrm>
          <a:prstGeom prst="roundRect">
            <a:avLst>
              <a:gd name="adj" fmla="val 13333"/>
            </a:avLst>
          </a:prstGeom>
          <a:solidFill>
            <a:srgbClr val="EEEBF7"/>
          </a:solidFill>
          <a:ln w="12700">
            <a:solidFill>
              <a:srgbClr val="EEEB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63640" y="1325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dArea (CINE)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828800" y="3383280"/>
            <a:ext cx="2377440" cy="548640"/>
          </a:xfrm>
          <a:prstGeom prst="roundRect">
            <a:avLst>
              <a:gd name="adj" fmla="val 13333"/>
            </a:avLst>
          </a:prstGeom>
          <a:solidFill>
            <a:srgbClr val="EEEBF7"/>
          </a:solidFill>
          <a:ln w="12700">
            <a:solidFill>
              <a:srgbClr val="EEEB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82880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dCBO (de-para)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92040" y="3383280"/>
            <a:ext cx="2377440" cy="548640"/>
          </a:xfrm>
          <a:prstGeom prst="roundRect">
            <a:avLst>
              <a:gd name="adj" fmla="val 13333"/>
            </a:avLst>
          </a:prstGeom>
          <a:solidFill>
            <a:srgbClr val="EEEBF7"/>
          </a:solidFill>
          <a:ln w="12700">
            <a:solidFill>
              <a:srgbClr val="EEEB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920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dEscolaridade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Dimensões de município, tempo e área filtram as quatro tabelas de fatos. dCBO traduz ocupação em área; dEscolaridade agrupa em fundamental, médio e superior.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Métricas principais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Medidas DAX que respondem às perguntas de pesquisa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EEEBF7"/>
          </a:solidFill>
          <a:ln w="12700">
            <a:solidFill>
              <a:srgbClr val="EEEB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00200"/>
            <a:ext cx="411480" cy="41148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600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6002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Índice de descompasso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10312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Admissões com superior na área ÷ concluintes na área. Acima de 1: falta profissional; abaixo de 1: excesso de formados.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17720" y="137160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EEEBF7"/>
          </a:solidFill>
          <a:ln w="12700">
            <a:solidFill>
              <a:srgbClr val="EEEB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6320" y="1600200"/>
            <a:ext cx="411480" cy="411480"/>
          </a:xfrm>
          <a:prstGeom prst="ellipse">
            <a:avLst/>
          </a:prstGeom>
          <a:solidFill>
            <a:srgbClr val="2B2462"/>
          </a:solidFill>
          <a:ln w="12700">
            <a:solidFill>
              <a:srgbClr val="2B246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600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394960" y="16002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Prêmio salarial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210312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Salário médio de admissão com superior ÷ salário médio com ensino médio.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EEEBF7"/>
          </a:solidFill>
          <a:ln w="12700">
            <a:solidFill>
              <a:srgbClr val="EEEB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3246120"/>
            <a:ext cx="411480" cy="411480"/>
          </a:xfrm>
          <a:prstGeom prst="ellipse">
            <a:avLst/>
          </a:prstGeom>
          <a:solidFill>
            <a:srgbClr val="2B2462"/>
          </a:solidFill>
          <a:ln w="12700">
            <a:solidFill>
              <a:srgbClr val="2B246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246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2461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Taxa de conclusão local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374904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Concluintes ÷ ingressantes, com defasagem pela duração do curso.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17720" y="301752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EEEBF7"/>
          </a:solidFill>
          <a:ln w="12700">
            <a:solidFill>
              <a:srgbClr val="EEEBF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3246120"/>
            <a:ext cx="411480" cy="411480"/>
          </a:xfrm>
          <a:prstGeom prst="ellipse">
            <a:avLst/>
          </a:prstGeom>
          <a:solidFill>
            <a:srgbClr val="2B2462"/>
          </a:solidFill>
          <a:ln w="12700">
            <a:solidFill>
              <a:srgbClr val="2B246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46320" y="3246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394960" y="32461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Participação privada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846320" y="374904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Matrículas na rede privada ÷ total de matrículas da região.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Retorno para a sociedade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 à orientação do MEC de extensão universitária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2B2462"/>
          </a:solidFill>
          <a:ln w="12700">
            <a:solidFill>
              <a:srgbClr val="2B246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544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8745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Guia "Cursos com mercado na nossa região"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7432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C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a duas páginas, linguagem para estudantes do ensino médio, com link para o dashboard público no Power BI.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13716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Destinatários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754880" y="170992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Diretoria de Ensino da região (escolas estaduais) e coordenação da Fatec Santana de Parnaíba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754880" y="24688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Entrega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28072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Ofício ou e-mail institucional, sem necessidade de visita de campo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35661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Evidências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390448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Comprovante de envio, repositório GitHub, prints das etapas e dashboard publicado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Cronograma e status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previstas para o semestre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2011680"/>
            <a:ext cx="7680960" cy="0"/>
          </a:xfrm>
          <a:prstGeom prst="line">
            <a:avLst/>
          </a:prstGeom>
          <a:noFill/>
          <a:ln w="25400">
            <a:solidFill>
              <a:srgbClr val="C9C3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77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5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1-2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65176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Coleta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15468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Baixar e filtrar bases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148840" y="1783080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488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828800" y="2377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5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3-4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828800" y="265176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De-para e modelo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315468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tabela e montar estrela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520440" y="1783080"/>
            <a:ext cx="457200" cy="457200"/>
          </a:xfrm>
          <a:prstGeom prst="ellipse">
            <a:avLst/>
          </a:prstGeom>
          <a:solidFill>
            <a:srgbClr val="B9B3D9"/>
          </a:solidFill>
          <a:ln w="12700">
            <a:solidFill>
              <a:srgbClr val="B9B3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5204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200400" y="2377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5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5-7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265176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200400" y="315468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DAX e visuais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92040" y="1783080"/>
            <a:ext cx="457200" cy="457200"/>
          </a:xfrm>
          <a:prstGeom prst="ellipse">
            <a:avLst/>
          </a:prstGeom>
          <a:solidFill>
            <a:srgbClr val="B9B3D9"/>
          </a:solidFill>
          <a:ln w="12700">
            <a:solidFill>
              <a:srgbClr val="B9B3D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920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2377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5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8-9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0" y="265176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0" y="315468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Discussão e redação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63640" y="1783080"/>
            <a:ext cx="457200" cy="457200"/>
          </a:xfrm>
          <a:prstGeom prst="ellipse">
            <a:avLst/>
          </a:prstGeom>
          <a:solidFill>
            <a:srgbClr val="B9B3D9"/>
          </a:solidFill>
          <a:ln w="12700">
            <a:solidFill>
              <a:srgbClr val="B9B3D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636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2377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5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10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0" y="265176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Retorno social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0" y="315468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 e envio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635240" y="1783080"/>
            <a:ext cx="457200" cy="457200"/>
          </a:xfrm>
          <a:prstGeom prst="ellipse">
            <a:avLst/>
          </a:prstGeom>
          <a:solidFill>
            <a:srgbClr val="B9B3D9"/>
          </a:solidFill>
          <a:ln w="12700">
            <a:solidFill>
              <a:srgbClr val="B9B3D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635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0" y="2377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5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11+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0" y="265176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Fechamento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0" y="315468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e apresentação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4206240"/>
            <a:ext cx="201168" cy="201168"/>
          </a:xfrm>
          <a:prstGeom prst="ellipse">
            <a:avLst/>
          </a:prstGeom>
          <a:solidFill>
            <a:srgbClr val="2B2462"/>
          </a:solidFill>
          <a:ln w="12700">
            <a:solidFill>
              <a:srgbClr val="2B246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31520" y="413308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Concluído: escopo, fontes identificadas, rascunho do de-para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394960" y="4206240"/>
            <a:ext cx="201168" cy="20116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669280" y="413308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andamento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040880" y="4206240"/>
            <a:ext cx="201168" cy="201168"/>
          </a:xfrm>
          <a:prstGeom prst="ellipse">
            <a:avLst/>
          </a:prstGeom>
          <a:solidFill>
            <a:srgbClr val="B9B3D9"/>
          </a:solidFill>
          <a:ln w="12700">
            <a:solidFill>
              <a:srgbClr val="B9B3D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15200" y="413308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Próximas etapas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B24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Pontos para validar com o professor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02920" cy="50292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2344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com dados públicos, sem visita de campo, atende à exigência de retorno social?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039112"/>
            <a:ext cx="502920" cy="50292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0391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03911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 técnico ou artigo científico? (alinhar com o professor Venerson)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843784"/>
            <a:ext cx="502920" cy="50292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8437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43784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Recorte de 8 municípios é adequado ou ampliar para toda a RMSP?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648456"/>
            <a:ext cx="502920" cy="50292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6484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648456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Incluir entrevista online curta como registro de contato com a comunidade?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A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PI2 - Formação superior e mercado de trabalho</dc:title>
  <dc:subject>PptxGenJS Presentation</dc:subject>
  <dc:creator>PptxGenJS</dc:creator>
  <cp:lastModifiedBy>PptxGenJS</cp:lastModifiedBy>
  <cp:revision>1</cp:revision>
  <dcterms:created xsi:type="dcterms:W3CDTF">2026-09-30T18:23:47Z</dcterms:created>
  <dcterms:modified xsi:type="dcterms:W3CDTF">2026-09-30T18:23:47Z</dcterms:modified>
</cp:coreProperties>
</file>