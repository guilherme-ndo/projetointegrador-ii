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6"/>
  </p:notesMasterIdLst>
  <p:sldIdLst>
    <p:sldId id="263" r:id="rId5"/>
    <p:sldId id="266" r:id="rId6"/>
    <p:sldId id="267" r:id="rId7"/>
    <p:sldId id="281" r:id="rId8"/>
    <p:sldId id="280" r:id="rId9"/>
    <p:sldId id="279" r:id="rId10"/>
    <p:sldId id="278" r:id="rId11"/>
    <p:sldId id="282" r:id="rId12"/>
    <p:sldId id="269" r:id="rId13"/>
    <p:sldId id="270" r:id="rId14"/>
    <p:sldId id="272" r:id="rId15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3A41"/>
    <a:srgbClr val="08BDE6"/>
    <a:srgbClr val="6B787E"/>
    <a:srgbClr val="AD3445"/>
    <a:srgbClr val="6C787F"/>
    <a:srgbClr val="E5DBFE"/>
    <a:srgbClr val="D96059"/>
    <a:srgbClr val="FFBEC8"/>
    <a:srgbClr val="F5DBF2"/>
    <a:srgbClr val="0B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D3E8B1-0B89-40DE-9CD4-D2DCE59857B8}" v="70" dt="2026-05-22T21:06:37.349"/>
    <p1510:client id="{10C86F6A-60F9-4F18-B844-CB1611F497EE}" v="1440" dt="2026-05-22T18:57:16.327"/>
    <p1510:client id="{445B2B56-B5B6-4880-AAEE-3C353706705C}" v="78" dt="2026-05-22T10:11:35.624"/>
    <p1510:client id="{5B7F80B8-197A-4E19-8D0B-B36A96DED592}" v="100" dt="2026-05-23T02:36:35.1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200" d="100"/>
        <a:sy n="2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42855-D9EF-4455-8AE2-516E079FE39C}" type="datetimeFigureOut">
              <a:rPr lang="pt-BR" smtClean="0"/>
              <a:t>26/05/2026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01441A-589B-49C9-BB64-8FEB0232B141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0495540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Com base nos dados analisados é possível afirmar que as políticas públicas criadas com o intuito de fomentar o Ensino Superior tiveram o efeito de crescimento de matrículas, o que é um fator extremamente positivo, porém o Brasil enfrenta um problema de permanência e conclusão mais do que de expansão de acesso. A formação acadêmica é de extrema importância para a inserção no mercado de trabalho, fazendo com que a taxa de desemprego dos cidadãos com nível Superior seja menor que a média nacional. A comparação com países selecionados mostra que os países mais desenvolvidos têm uma maior taxa de escolarização superior frente aos em desenvolvimento, o que reflete o quão a formação se torna necessária para a transformação da economia local. No Brasil, recomenda-se um pacote integrado: ampliação de políticas de permanência (assistência estudantil, tutoria, apoio pedagógico), orientação acadêmica/carreira e estratégias de transição estudo–trabalho (ODS 8), além de ações para elevar participação e sucesso em STEM (ODS 9) e monitoramento de equidade (ODS 10).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441A-589B-49C9-BB64-8FEB0232B141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6432145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01441A-589B-49C9-BB64-8FEB0232B14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095395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3.png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9C990D-4A14-4034-BDA8-118461C5CFD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466B2EAB-38D5-4FDD-BDAE-CEB949AB83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1C701BE-CFDB-4322-ABEE-2ADE2CECBC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745609-3D8A-4904-8F3C-D450FCA16AF0}" type="datetime1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05D4B4-63BB-4168-81DA-161149DA7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3A3621-469F-4562-A1A1-BCFDEBE9DD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DC95-74DB-4E4A-AE92-27E6D29E523B}" type="slidenum">
              <a:rPr lang="pt-BR" smtClean="0"/>
              <a:t>‹nº›</a:t>
            </a:fld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3C3FFC80-089F-A50F-410C-D1465817ACF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1932" y="6245165"/>
            <a:ext cx="747366" cy="506280"/>
          </a:xfrm>
          <a:prstGeom prst="rect">
            <a:avLst/>
          </a:prstGeom>
        </p:spPr>
      </p:pic>
      <p:pic>
        <p:nvPicPr>
          <p:cNvPr id="10" name="Picture 2" descr="FECOEP - Assista à primeira Reunião Ordinária do exercício de 2020">
            <a:extLst>
              <a:ext uri="{FF2B5EF4-FFF2-40B4-BE49-F238E27FC236}">
                <a16:creationId xmlns:a16="http://schemas.microsoft.com/office/drawing/2014/main" id="{1C90DC99-D785-4263-4850-78CA75066F4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2016" y="6115154"/>
            <a:ext cx="973760" cy="73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EB7DBF91-7D8B-58AE-459E-12FB972DF10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" r="11095"/>
          <a:stretch>
            <a:fillRect/>
          </a:stretch>
        </p:blipFill>
        <p:spPr>
          <a:xfrm>
            <a:off x="10371920" y="12526"/>
            <a:ext cx="1733855" cy="2075919"/>
          </a:xfrm>
          <a:prstGeom prst="rect">
            <a:avLst/>
          </a:prstGeom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B27A1650-28BA-5394-6875-FBB80D74B3C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66" t="6917" r="28833" b="7498"/>
          <a:stretch>
            <a:fillRect/>
          </a:stretch>
        </p:blipFill>
        <p:spPr>
          <a:xfrm flipV="1">
            <a:off x="84325" y="0"/>
            <a:ext cx="2751221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F240D7E6-0A77-3AF7-F5E2-C6EFE009960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324" y="162498"/>
            <a:ext cx="1058675" cy="664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5562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81E0EC-37A6-4DC8-89D9-DEB2B76133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BED168D-754E-4AF4-A5DD-6410A42354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08538F-7CBC-46E6-9433-3CAF52E53A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7AC060-C6A7-4389-9AFE-6E9BE165BFDA}" type="datetime1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800171-1504-47C0-8C56-8EF23124A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A9FDF05-9FDD-4DEA-BFB8-82CBBD96C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DC95-74DB-4E4A-AE92-27E6D29E523B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4">
            <a:extLst>
              <a:ext uri="{FF2B5EF4-FFF2-40B4-BE49-F238E27FC236}">
                <a16:creationId xmlns:a16="http://schemas.microsoft.com/office/drawing/2014/main" id="{78A93C18-909E-8BBD-FEDF-EF62CDFF4BC3}"/>
              </a:ext>
            </a:extLst>
          </p:cNvPr>
          <p:cNvCxnSpPr>
            <a:cxnSpLocks/>
          </p:cNvCxnSpPr>
          <p:nvPr userDrawn="1"/>
        </p:nvCxnSpPr>
        <p:spPr>
          <a:xfrm flipH="1">
            <a:off x="-1" y="6482776"/>
            <a:ext cx="9792000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BF2FF"/>
                </a:gs>
                <a:gs pos="18000">
                  <a:schemeClr val="accent1">
                    <a:lumMod val="45000"/>
                    <a:lumOff val="55000"/>
                  </a:schemeClr>
                </a:gs>
                <a:gs pos="39000">
                  <a:srgbClr val="F5DBF2"/>
                </a:gs>
                <a:gs pos="80000">
                  <a:srgbClr val="FFBEC8"/>
                </a:gs>
                <a:gs pos="100000">
                  <a:srgbClr val="D96059"/>
                </a:gs>
                <a:gs pos="100000">
                  <a:srgbClr val="E5DBFE"/>
                </a:gs>
                <a:gs pos="61000">
                  <a:srgbClr val="E5DBF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139685C7-5AEE-B7AE-F077-5086458C448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36" y="162498"/>
            <a:ext cx="1058675" cy="66486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67E0F532-9989-FD0D-D23A-5C70EDB92D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338" y="6237390"/>
            <a:ext cx="787400" cy="533400"/>
          </a:xfrm>
          <a:prstGeom prst="rect">
            <a:avLst/>
          </a:prstGeom>
        </p:spPr>
      </p:pic>
      <p:pic>
        <p:nvPicPr>
          <p:cNvPr id="12" name="Picture 2" descr="FECOEP - Assista à primeira Reunião Ordinária do exercício de 2020">
            <a:extLst>
              <a:ext uri="{FF2B5EF4-FFF2-40B4-BE49-F238E27FC236}">
                <a16:creationId xmlns:a16="http://schemas.microsoft.com/office/drawing/2014/main" id="{79C5E643-91E7-36B0-F372-8FE07B44788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376" y="6117616"/>
            <a:ext cx="973760" cy="73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09BE7807-898D-4D70-4859-C0DE909EEEA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t="38682" r="27333" b="290"/>
          <a:stretch>
            <a:fillRect/>
          </a:stretch>
        </p:blipFill>
        <p:spPr>
          <a:xfrm flipV="1">
            <a:off x="0" y="-1"/>
            <a:ext cx="1185205" cy="6847936"/>
          </a:xfrm>
          <a:prstGeom prst="rect">
            <a:avLst/>
          </a:prstGeom>
        </p:spPr>
      </p:pic>
      <p:pic>
        <p:nvPicPr>
          <p:cNvPr id="15" name="Imagem 14">
            <a:extLst>
              <a:ext uri="{FF2B5EF4-FFF2-40B4-BE49-F238E27FC236}">
                <a16:creationId xmlns:a16="http://schemas.microsoft.com/office/drawing/2014/main" id="{0654FB68-DDB3-CDC4-8C3A-3BA4454BD2A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" r="11095"/>
          <a:stretch>
            <a:fillRect/>
          </a:stretch>
        </p:blipFill>
        <p:spPr>
          <a:xfrm>
            <a:off x="10371920" y="12526"/>
            <a:ext cx="1733855" cy="207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01497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DDE249-8B3A-4B37-8ACC-60996E312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8769AD5-88D9-4E8C-83F9-469795320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6449422-1505-42B7-9C8D-8829A00D6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60B16A-DFFD-47C9-82FF-A5430B7B00E7}" type="datetime1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38DDD90-A96E-41FE-9877-A2B86B5023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C6D6988-B08B-4959-ADD4-147C14424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DC95-74DB-4E4A-AE92-27E6D29E523B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4">
            <a:extLst>
              <a:ext uri="{FF2B5EF4-FFF2-40B4-BE49-F238E27FC236}">
                <a16:creationId xmlns:a16="http://schemas.microsoft.com/office/drawing/2014/main" id="{544EE920-C3C2-D677-D45E-D15716FE6847}"/>
              </a:ext>
            </a:extLst>
          </p:cNvPr>
          <p:cNvCxnSpPr>
            <a:cxnSpLocks/>
          </p:cNvCxnSpPr>
          <p:nvPr userDrawn="1"/>
        </p:nvCxnSpPr>
        <p:spPr>
          <a:xfrm flipH="1">
            <a:off x="-1" y="6482776"/>
            <a:ext cx="9792000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BF2FF"/>
                </a:gs>
                <a:gs pos="18000">
                  <a:schemeClr val="accent1">
                    <a:lumMod val="45000"/>
                    <a:lumOff val="55000"/>
                  </a:schemeClr>
                </a:gs>
                <a:gs pos="39000">
                  <a:srgbClr val="F5DBF2"/>
                </a:gs>
                <a:gs pos="80000">
                  <a:srgbClr val="FFBEC8"/>
                </a:gs>
                <a:gs pos="100000">
                  <a:srgbClr val="D96059"/>
                </a:gs>
                <a:gs pos="100000">
                  <a:srgbClr val="E5DBFE"/>
                </a:gs>
                <a:gs pos="61000">
                  <a:srgbClr val="E5DBF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10F7BBA5-3F01-7D3D-FF8B-C18C7FA7AB4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36" y="162498"/>
            <a:ext cx="1058675" cy="66486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71B3F898-BFE6-4EAF-0699-C6B5D56F1BD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338" y="6237390"/>
            <a:ext cx="787400" cy="533400"/>
          </a:xfrm>
          <a:prstGeom prst="rect">
            <a:avLst/>
          </a:prstGeom>
        </p:spPr>
      </p:pic>
      <p:pic>
        <p:nvPicPr>
          <p:cNvPr id="11" name="Picture 2" descr="FECOEP - Assista à primeira Reunião Ordinária do exercício de 2020">
            <a:extLst>
              <a:ext uri="{FF2B5EF4-FFF2-40B4-BE49-F238E27FC236}">
                <a16:creationId xmlns:a16="http://schemas.microsoft.com/office/drawing/2014/main" id="{ED819AEE-E153-6D16-5016-230600BDF290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376" y="6117616"/>
            <a:ext cx="973760" cy="73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C65BCECE-4BED-1182-68BA-91DB6FDF36AE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t="38682" r="27333" b="290"/>
          <a:stretch>
            <a:fillRect/>
          </a:stretch>
        </p:blipFill>
        <p:spPr>
          <a:xfrm flipV="1">
            <a:off x="0" y="-1"/>
            <a:ext cx="1185205" cy="68479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DC0EF485-BB95-B55D-1C76-905A96C72F5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" r="11095"/>
          <a:stretch>
            <a:fillRect/>
          </a:stretch>
        </p:blipFill>
        <p:spPr>
          <a:xfrm>
            <a:off x="10371920" y="12526"/>
            <a:ext cx="1733855" cy="207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1280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D9A051-C8A2-4FF1-A8E3-298A72DBE3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115859E-A3DE-4C43-BC5F-19F4D95330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218AAB5-3E04-42C1-A4E6-BB6F89FBC0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CDA8A076-8270-46EB-9B02-7745C9250E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9AFB78-52C2-4620-9F78-31366BC515B7}" type="datetime1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D530C96-391A-4A3B-A62B-36C4560A56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7F89833-E5AC-455D-96F6-22A1F49F6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DC95-74DB-4E4A-AE92-27E6D29E523B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Conector reto 4">
            <a:extLst>
              <a:ext uri="{FF2B5EF4-FFF2-40B4-BE49-F238E27FC236}">
                <a16:creationId xmlns:a16="http://schemas.microsoft.com/office/drawing/2014/main" id="{0B6C2AB4-91D3-65BF-04A1-79DA0A84C93F}"/>
              </a:ext>
            </a:extLst>
          </p:cNvPr>
          <p:cNvCxnSpPr>
            <a:cxnSpLocks/>
          </p:cNvCxnSpPr>
          <p:nvPr userDrawn="1"/>
        </p:nvCxnSpPr>
        <p:spPr>
          <a:xfrm flipH="1">
            <a:off x="-1" y="6482776"/>
            <a:ext cx="9792000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BF2FF"/>
                </a:gs>
                <a:gs pos="18000">
                  <a:schemeClr val="accent1">
                    <a:lumMod val="45000"/>
                    <a:lumOff val="55000"/>
                  </a:schemeClr>
                </a:gs>
                <a:gs pos="39000">
                  <a:srgbClr val="F5DBF2"/>
                </a:gs>
                <a:gs pos="80000">
                  <a:srgbClr val="FFBEC8"/>
                </a:gs>
                <a:gs pos="100000">
                  <a:srgbClr val="D96059"/>
                </a:gs>
                <a:gs pos="100000">
                  <a:srgbClr val="E5DBFE"/>
                </a:gs>
                <a:gs pos="61000">
                  <a:srgbClr val="E5DBF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C735E8DF-D036-65B6-F7DD-BDD3E85ED8F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36" y="162498"/>
            <a:ext cx="1058675" cy="66486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23A8E67-8D9C-4E06-3D79-0E69D93AEBDE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338" y="6237390"/>
            <a:ext cx="787400" cy="533400"/>
          </a:xfrm>
          <a:prstGeom prst="rect">
            <a:avLst/>
          </a:prstGeom>
        </p:spPr>
      </p:pic>
      <p:pic>
        <p:nvPicPr>
          <p:cNvPr id="12" name="Picture 2" descr="FECOEP - Assista à primeira Reunião Ordinária do exercício de 2020">
            <a:extLst>
              <a:ext uri="{FF2B5EF4-FFF2-40B4-BE49-F238E27FC236}">
                <a16:creationId xmlns:a16="http://schemas.microsoft.com/office/drawing/2014/main" id="{C4340AB1-D819-F1FD-C40A-BA790BCA13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376" y="6117616"/>
            <a:ext cx="973760" cy="73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1DF83F34-7543-A7D3-4078-B8A04A34A6F7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t="38682" r="27333" b="290"/>
          <a:stretch>
            <a:fillRect/>
          </a:stretch>
        </p:blipFill>
        <p:spPr>
          <a:xfrm flipV="1">
            <a:off x="0" y="-1"/>
            <a:ext cx="1185205" cy="684793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E6170567-CD32-04BC-AB36-3AD6667FCF4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" r="11095"/>
          <a:stretch>
            <a:fillRect/>
          </a:stretch>
        </p:blipFill>
        <p:spPr>
          <a:xfrm>
            <a:off x="10371920" y="12526"/>
            <a:ext cx="1733855" cy="207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4340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37EC15-99A2-485C-8AF7-BB1AEBC6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5C912B1-DA76-4119-B259-AED6969F3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1FC709D-906C-40F1-924B-130B33302A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B6295A7-A911-481A-B78F-842F50609B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568E18B-BCDF-41E4-B91B-7FC3DDECC6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59751CFF-F0ED-494F-BD94-09F7F1CE63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DE8C3-3DD5-4465-8093-5B2FAF2EECCD}" type="datetime1">
              <a:rPr lang="pt-BR" smtClean="0"/>
              <a:t>26/05/2026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88041FB-7D5D-48C4-8DAE-F24E05B61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1B43DD00-2C76-4503-83F1-012D4C99C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DC95-74DB-4E4A-AE92-27E6D29E523B}" type="slidenum">
              <a:rPr lang="pt-BR" smtClean="0"/>
              <a:t>‹nº›</a:t>
            </a:fld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092EE6B7-85B7-8049-550F-AA7CC39347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766" t="36006" r="27332" b="-431"/>
          <a:stretch>
            <a:fillRect/>
          </a:stretch>
        </p:blipFill>
        <p:spPr>
          <a:xfrm flipV="1">
            <a:off x="-492382" y="-51634"/>
            <a:ext cx="1778588" cy="7103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1698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626BEB4-C277-4820-8A94-71B45A617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6D0F1FF-FCAE-4100-9721-50F65B8521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C979F2-A9AF-4931-95D6-5E33BB374F97}" type="datetime1">
              <a:rPr lang="pt-BR" smtClean="0"/>
              <a:t>26/05/2026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D8BF674A-A613-406B-8D35-3BECE9525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E64D908-6542-49C2-B60F-921879897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DC95-74DB-4E4A-AE92-27E6D29E523B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Conector reto 4">
            <a:extLst>
              <a:ext uri="{FF2B5EF4-FFF2-40B4-BE49-F238E27FC236}">
                <a16:creationId xmlns:a16="http://schemas.microsoft.com/office/drawing/2014/main" id="{EBEB3291-F03D-35C3-D674-3576A7BE8933}"/>
              </a:ext>
            </a:extLst>
          </p:cNvPr>
          <p:cNvCxnSpPr>
            <a:cxnSpLocks/>
          </p:cNvCxnSpPr>
          <p:nvPr userDrawn="1"/>
        </p:nvCxnSpPr>
        <p:spPr>
          <a:xfrm flipH="1">
            <a:off x="-1" y="6482776"/>
            <a:ext cx="9792000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BF2FF"/>
                </a:gs>
                <a:gs pos="18000">
                  <a:schemeClr val="accent1">
                    <a:lumMod val="45000"/>
                    <a:lumOff val="55000"/>
                  </a:schemeClr>
                </a:gs>
                <a:gs pos="39000">
                  <a:srgbClr val="F5DBF2"/>
                </a:gs>
                <a:gs pos="80000">
                  <a:srgbClr val="FFBEC8"/>
                </a:gs>
                <a:gs pos="100000">
                  <a:srgbClr val="D96059"/>
                </a:gs>
                <a:gs pos="100000">
                  <a:srgbClr val="E5DBFE"/>
                </a:gs>
                <a:gs pos="61000">
                  <a:srgbClr val="E5DBF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257FAAAD-1E23-3D84-3169-6EA9CBB212F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36" y="162498"/>
            <a:ext cx="1058675" cy="66486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A1DA77A1-3D00-F64C-C99F-22B7D02C83D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338" y="6237390"/>
            <a:ext cx="787400" cy="533400"/>
          </a:xfrm>
          <a:prstGeom prst="rect">
            <a:avLst/>
          </a:prstGeom>
        </p:spPr>
      </p:pic>
      <p:pic>
        <p:nvPicPr>
          <p:cNvPr id="12" name="Picture 2" descr="FECOEP - Assista à primeira Reunião Ordinária do exercício de 2020">
            <a:extLst>
              <a:ext uri="{FF2B5EF4-FFF2-40B4-BE49-F238E27FC236}">
                <a16:creationId xmlns:a16="http://schemas.microsoft.com/office/drawing/2014/main" id="{EA4B9FDA-B418-5488-AAF4-76A26E4EE4A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376" y="6117616"/>
            <a:ext cx="973760" cy="73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6F7B7015-BD85-413D-5739-3EA8B30699D6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t="38682" r="27333" b="290"/>
          <a:stretch>
            <a:fillRect/>
          </a:stretch>
        </p:blipFill>
        <p:spPr>
          <a:xfrm flipV="1">
            <a:off x="0" y="-1"/>
            <a:ext cx="1185205" cy="684793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32662233-D0EF-1AD4-788C-1FDD8795B791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" r="11095"/>
          <a:stretch>
            <a:fillRect/>
          </a:stretch>
        </p:blipFill>
        <p:spPr>
          <a:xfrm>
            <a:off x="10371920" y="12526"/>
            <a:ext cx="1733855" cy="207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21893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m 17">
            <a:extLst>
              <a:ext uri="{FF2B5EF4-FFF2-40B4-BE49-F238E27FC236}">
                <a16:creationId xmlns:a16="http://schemas.microsoft.com/office/drawing/2014/main" id="{BEC46762-67A6-FE13-02D0-2BD5B2FF96B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520" y="2167724"/>
            <a:ext cx="6188120" cy="4125413"/>
          </a:xfrm>
          <a:prstGeom prst="rect">
            <a:avLst/>
          </a:prstGeom>
        </p:spPr>
      </p:pic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17D61EA5-0A06-4876-8725-8D5B9830E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7143C-0401-488C-A8D8-6DFD458BD09C}" type="datetime1">
              <a:rPr lang="pt-BR" smtClean="0"/>
              <a:t>26/05/2026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39DC5B3-1405-45BC-8C98-B264C57547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822ECFBD-DB35-4865-A181-D46EEACB9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DC95-74DB-4E4A-AE92-27E6D29E523B}" type="slidenum">
              <a:rPr lang="pt-BR" smtClean="0"/>
              <a:t>‹nº›</a:t>
            </a:fld>
            <a:endParaRPr lang="pt-BR"/>
          </a:p>
        </p:txBody>
      </p:sp>
      <p:cxnSp>
        <p:nvCxnSpPr>
          <p:cNvPr id="6" name="Conector reto 4">
            <a:extLst>
              <a:ext uri="{FF2B5EF4-FFF2-40B4-BE49-F238E27FC236}">
                <a16:creationId xmlns:a16="http://schemas.microsoft.com/office/drawing/2014/main" id="{93A7A182-DE65-1F6D-7EF9-D6C7CE9187D4}"/>
              </a:ext>
            </a:extLst>
          </p:cNvPr>
          <p:cNvCxnSpPr>
            <a:cxnSpLocks/>
          </p:cNvCxnSpPr>
          <p:nvPr userDrawn="1"/>
        </p:nvCxnSpPr>
        <p:spPr>
          <a:xfrm flipH="1">
            <a:off x="-1" y="6482776"/>
            <a:ext cx="9792000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BF2FF"/>
                </a:gs>
                <a:gs pos="18000">
                  <a:schemeClr val="accent1">
                    <a:lumMod val="45000"/>
                    <a:lumOff val="55000"/>
                  </a:schemeClr>
                </a:gs>
                <a:gs pos="39000">
                  <a:srgbClr val="F5DBF2"/>
                </a:gs>
                <a:gs pos="80000">
                  <a:srgbClr val="FFBEC8"/>
                </a:gs>
                <a:gs pos="100000">
                  <a:srgbClr val="D96059"/>
                </a:gs>
                <a:gs pos="100000">
                  <a:srgbClr val="E5DBFE"/>
                </a:gs>
                <a:gs pos="61000">
                  <a:srgbClr val="E5DBF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7" name="Imagem 6">
            <a:extLst>
              <a:ext uri="{FF2B5EF4-FFF2-40B4-BE49-F238E27FC236}">
                <a16:creationId xmlns:a16="http://schemas.microsoft.com/office/drawing/2014/main" id="{CF460922-FB6C-EF79-E8C2-48459F15784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36" y="162498"/>
            <a:ext cx="1058675" cy="664868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40747EB8-09C7-7ADD-B2E5-552C691FC7D9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338" y="6237390"/>
            <a:ext cx="787400" cy="533400"/>
          </a:xfrm>
          <a:prstGeom prst="rect">
            <a:avLst/>
          </a:prstGeom>
        </p:spPr>
      </p:pic>
      <p:pic>
        <p:nvPicPr>
          <p:cNvPr id="9" name="Picture 2" descr="FECOEP - Assista à primeira Reunião Ordinária do exercício de 2020">
            <a:extLst>
              <a:ext uri="{FF2B5EF4-FFF2-40B4-BE49-F238E27FC236}">
                <a16:creationId xmlns:a16="http://schemas.microsoft.com/office/drawing/2014/main" id="{9AE056D9-9249-D152-082F-800049839E35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376" y="6117616"/>
            <a:ext cx="973760" cy="73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292A3A4-D660-9A0D-5DF8-20C0A6A19949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t="38682" r="27333" b="290"/>
          <a:stretch>
            <a:fillRect/>
          </a:stretch>
        </p:blipFill>
        <p:spPr>
          <a:xfrm flipV="1">
            <a:off x="0" y="-1"/>
            <a:ext cx="1185205" cy="6847936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3E646A33-6ED3-6EE8-1E31-36EBEDD42B5C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" r="11095"/>
          <a:stretch>
            <a:fillRect/>
          </a:stretch>
        </p:blipFill>
        <p:spPr>
          <a:xfrm>
            <a:off x="10371920" y="12526"/>
            <a:ext cx="1733855" cy="2075919"/>
          </a:xfrm>
          <a:prstGeom prst="rect">
            <a:avLst/>
          </a:prstGeom>
        </p:spPr>
      </p:pic>
      <p:sp>
        <p:nvSpPr>
          <p:cNvPr id="13" name="Título 1">
            <a:extLst>
              <a:ext uri="{FF2B5EF4-FFF2-40B4-BE49-F238E27FC236}">
                <a16:creationId xmlns:a16="http://schemas.microsoft.com/office/drawing/2014/main" id="{5840F381-97D7-AB41-26AC-EA9364842A44}"/>
              </a:ext>
            </a:extLst>
          </p:cNvPr>
          <p:cNvSpPr txBox="1">
            <a:spLocks/>
          </p:cNvSpPr>
          <p:nvPr userDrawn="1"/>
        </p:nvSpPr>
        <p:spPr>
          <a:xfrm>
            <a:off x="1126899" y="1366959"/>
            <a:ext cx="3873367" cy="8007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>
                <a:solidFill>
                  <a:srgbClr val="DE3A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OBRIGADO!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A49390BC-19A9-21F2-E9B7-7297948CE415}"/>
              </a:ext>
            </a:extLst>
          </p:cNvPr>
          <p:cNvSpPr/>
          <p:nvPr userDrawn="1"/>
        </p:nvSpPr>
        <p:spPr>
          <a:xfrm rot="265396">
            <a:off x="1592251" y="3226657"/>
            <a:ext cx="1112862" cy="20225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48688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7D65C7-80F9-4CE9-A189-B1D82D7E7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D3A8917-5287-4C57-A52D-F9FDE36B0C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E05E3BA-5697-4927-BE6F-75D452807A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175D045-44DE-4262-8C89-072BA2CE14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F73BF3-8A3D-4FCC-86DC-DCF69BF0B093}" type="datetime1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67444D7-9981-4EEA-9DB3-7C921BDF7B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A6ED6FB-F42C-41F6-842B-5BFD3CA38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DC95-74DB-4E4A-AE92-27E6D29E523B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Conector reto 4">
            <a:extLst>
              <a:ext uri="{FF2B5EF4-FFF2-40B4-BE49-F238E27FC236}">
                <a16:creationId xmlns:a16="http://schemas.microsoft.com/office/drawing/2014/main" id="{76FB8519-CBB2-52D3-0AAB-0769B6FE123C}"/>
              </a:ext>
            </a:extLst>
          </p:cNvPr>
          <p:cNvCxnSpPr>
            <a:cxnSpLocks/>
          </p:cNvCxnSpPr>
          <p:nvPr userDrawn="1"/>
        </p:nvCxnSpPr>
        <p:spPr>
          <a:xfrm flipH="1">
            <a:off x="-1" y="6482776"/>
            <a:ext cx="9792000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BF2FF"/>
                </a:gs>
                <a:gs pos="18000">
                  <a:schemeClr val="accent1">
                    <a:lumMod val="45000"/>
                    <a:lumOff val="55000"/>
                  </a:schemeClr>
                </a:gs>
                <a:gs pos="39000">
                  <a:srgbClr val="F5DBF2"/>
                </a:gs>
                <a:gs pos="80000">
                  <a:srgbClr val="FFBEC8"/>
                </a:gs>
                <a:gs pos="100000">
                  <a:srgbClr val="D96059"/>
                </a:gs>
                <a:gs pos="100000">
                  <a:srgbClr val="E5DBFE"/>
                </a:gs>
                <a:gs pos="61000">
                  <a:srgbClr val="E5DBF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BD3E0F1F-8A49-0279-A11F-195B156B3C3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36" y="162498"/>
            <a:ext cx="1058675" cy="66486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5D94252-5B50-E9C7-558E-B61A4CDD34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338" y="6237390"/>
            <a:ext cx="787400" cy="533400"/>
          </a:xfrm>
          <a:prstGeom prst="rect">
            <a:avLst/>
          </a:prstGeom>
        </p:spPr>
      </p:pic>
      <p:pic>
        <p:nvPicPr>
          <p:cNvPr id="12" name="Picture 2" descr="FECOEP - Assista à primeira Reunião Ordinária do exercício de 2020">
            <a:extLst>
              <a:ext uri="{FF2B5EF4-FFF2-40B4-BE49-F238E27FC236}">
                <a16:creationId xmlns:a16="http://schemas.microsoft.com/office/drawing/2014/main" id="{514CA8C5-A13B-E05B-6F3E-4066F5853A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376" y="6117616"/>
            <a:ext cx="973760" cy="73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9EC659C-352D-FF6D-2061-41F419F3C9A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t="38682" r="27333" b="290"/>
          <a:stretch>
            <a:fillRect/>
          </a:stretch>
        </p:blipFill>
        <p:spPr>
          <a:xfrm flipV="1">
            <a:off x="0" y="-1"/>
            <a:ext cx="1185205" cy="684793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23DEE5AB-FDF8-5A24-D43B-A2CEB74CFEF6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" r="11095"/>
          <a:stretch>
            <a:fillRect/>
          </a:stretch>
        </p:blipFill>
        <p:spPr>
          <a:xfrm>
            <a:off x="10371920" y="12526"/>
            <a:ext cx="1733855" cy="207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57693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DADC80-A1C6-43F5-8DB5-19EF77E2BD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9F3483D-26E2-4E17-A37C-099182202B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281E77-48A9-494E-918A-AF573EF8F2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13EE955-0EAB-4906-99A3-D8674E55DA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20808-5A6E-46E0-908E-92B2C44F026A}" type="datetime1">
              <a:rPr lang="pt-BR" smtClean="0"/>
              <a:t>26/05/2026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90CD3CB9-6F86-4179-9725-34C47598AF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144C45E-0641-4B86-AB22-978B45223E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DC95-74DB-4E4A-AE92-27E6D29E523B}" type="slidenum">
              <a:rPr lang="pt-BR" smtClean="0"/>
              <a:t>‹nº›</a:t>
            </a:fld>
            <a:endParaRPr lang="pt-BR"/>
          </a:p>
        </p:txBody>
      </p:sp>
      <p:cxnSp>
        <p:nvCxnSpPr>
          <p:cNvPr id="9" name="Conector reto 4">
            <a:extLst>
              <a:ext uri="{FF2B5EF4-FFF2-40B4-BE49-F238E27FC236}">
                <a16:creationId xmlns:a16="http://schemas.microsoft.com/office/drawing/2014/main" id="{B605E274-9A25-6DA5-0841-86D8B2F14DEC}"/>
              </a:ext>
            </a:extLst>
          </p:cNvPr>
          <p:cNvCxnSpPr>
            <a:cxnSpLocks/>
          </p:cNvCxnSpPr>
          <p:nvPr userDrawn="1"/>
        </p:nvCxnSpPr>
        <p:spPr>
          <a:xfrm flipH="1">
            <a:off x="-1" y="6482776"/>
            <a:ext cx="9792000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BF2FF"/>
                </a:gs>
                <a:gs pos="18000">
                  <a:schemeClr val="accent1">
                    <a:lumMod val="45000"/>
                    <a:lumOff val="55000"/>
                  </a:schemeClr>
                </a:gs>
                <a:gs pos="39000">
                  <a:srgbClr val="F5DBF2"/>
                </a:gs>
                <a:gs pos="80000">
                  <a:srgbClr val="FFBEC8"/>
                </a:gs>
                <a:gs pos="100000">
                  <a:srgbClr val="D96059"/>
                </a:gs>
                <a:gs pos="100000">
                  <a:srgbClr val="E5DBFE"/>
                </a:gs>
                <a:gs pos="61000">
                  <a:srgbClr val="E5DBF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10" name="Imagem 9">
            <a:extLst>
              <a:ext uri="{FF2B5EF4-FFF2-40B4-BE49-F238E27FC236}">
                <a16:creationId xmlns:a16="http://schemas.microsoft.com/office/drawing/2014/main" id="{1F29656C-CDCA-98F6-9CD0-FF8FF364BB3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36" y="162498"/>
            <a:ext cx="1058675" cy="66486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0C63839B-EE4F-17F7-0F13-89D2E4B2104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338" y="6237390"/>
            <a:ext cx="787400" cy="533400"/>
          </a:xfrm>
          <a:prstGeom prst="rect">
            <a:avLst/>
          </a:prstGeom>
        </p:spPr>
      </p:pic>
      <p:pic>
        <p:nvPicPr>
          <p:cNvPr id="12" name="Picture 2" descr="FECOEP - Assista à primeira Reunião Ordinária do exercício de 2020">
            <a:extLst>
              <a:ext uri="{FF2B5EF4-FFF2-40B4-BE49-F238E27FC236}">
                <a16:creationId xmlns:a16="http://schemas.microsoft.com/office/drawing/2014/main" id="{226F55CE-2F72-F92B-86EA-674D5847686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376" y="6117616"/>
            <a:ext cx="973760" cy="73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4C10884-7806-94DE-93BB-8C5BE9A66C93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t="38682" r="27333" b="290"/>
          <a:stretch>
            <a:fillRect/>
          </a:stretch>
        </p:blipFill>
        <p:spPr>
          <a:xfrm flipV="1">
            <a:off x="0" y="-1"/>
            <a:ext cx="1185205" cy="6847936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A539117C-C63F-1F31-AF93-5F06667C943B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" r="11095"/>
          <a:stretch>
            <a:fillRect/>
          </a:stretch>
        </p:blipFill>
        <p:spPr>
          <a:xfrm>
            <a:off x="10371920" y="12526"/>
            <a:ext cx="1733855" cy="207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77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5474B60-9F5D-49F6-B183-4C0EAF817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62FA196-154A-45E9-9C6D-AD102FFB5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653DB40-F030-49C8-BFCB-7C4105F6A6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3211D2-048F-4317-BEB8-A49979951ABA}" type="datetime1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A027BE-28CF-487B-9737-1250FB4B4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220CA3E-E10E-44E9-AB93-356F8F73D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DC95-74DB-4E4A-AE92-27E6D29E523B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4">
            <a:extLst>
              <a:ext uri="{FF2B5EF4-FFF2-40B4-BE49-F238E27FC236}">
                <a16:creationId xmlns:a16="http://schemas.microsoft.com/office/drawing/2014/main" id="{A680C833-1202-56A2-DBB5-F211F68AF89D}"/>
              </a:ext>
            </a:extLst>
          </p:cNvPr>
          <p:cNvCxnSpPr>
            <a:cxnSpLocks/>
          </p:cNvCxnSpPr>
          <p:nvPr userDrawn="1"/>
        </p:nvCxnSpPr>
        <p:spPr>
          <a:xfrm flipH="1">
            <a:off x="-1" y="6482776"/>
            <a:ext cx="9792000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BF2FF"/>
                </a:gs>
                <a:gs pos="18000">
                  <a:schemeClr val="accent1">
                    <a:lumMod val="45000"/>
                    <a:lumOff val="55000"/>
                  </a:schemeClr>
                </a:gs>
                <a:gs pos="39000">
                  <a:srgbClr val="F5DBF2"/>
                </a:gs>
                <a:gs pos="80000">
                  <a:srgbClr val="FFBEC8"/>
                </a:gs>
                <a:gs pos="100000">
                  <a:srgbClr val="D96059"/>
                </a:gs>
                <a:gs pos="100000">
                  <a:srgbClr val="E5DBFE"/>
                </a:gs>
                <a:gs pos="61000">
                  <a:srgbClr val="E5DBF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07B5E65C-E97E-7F91-B7CF-2EEE3F2AA95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36" y="162498"/>
            <a:ext cx="1058675" cy="66486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66929215-1229-0E31-17F7-A00DB48EBD8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338" y="6237390"/>
            <a:ext cx="787400" cy="533400"/>
          </a:xfrm>
          <a:prstGeom prst="rect">
            <a:avLst/>
          </a:prstGeom>
        </p:spPr>
      </p:pic>
      <p:pic>
        <p:nvPicPr>
          <p:cNvPr id="11" name="Picture 2" descr="FECOEP - Assista à primeira Reunião Ordinária do exercício de 2020">
            <a:extLst>
              <a:ext uri="{FF2B5EF4-FFF2-40B4-BE49-F238E27FC236}">
                <a16:creationId xmlns:a16="http://schemas.microsoft.com/office/drawing/2014/main" id="{CA0BF65A-6AAF-33BB-EA72-D8989A702E5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376" y="6117616"/>
            <a:ext cx="973760" cy="73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5FD5FFAB-AF91-4EAD-91F9-E6C5D783F524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t="38682" r="27333" b="290"/>
          <a:stretch>
            <a:fillRect/>
          </a:stretch>
        </p:blipFill>
        <p:spPr>
          <a:xfrm flipV="1">
            <a:off x="0" y="-1"/>
            <a:ext cx="1185205" cy="68479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5D4BE8BE-5D80-60CD-A871-7EA5FD1FB79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" r="11095"/>
          <a:stretch>
            <a:fillRect/>
          </a:stretch>
        </p:blipFill>
        <p:spPr>
          <a:xfrm>
            <a:off x="10371920" y="12526"/>
            <a:ext cx="1733855" cy="207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3071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4DC3AB-38FA-4241-9989-AF51F5E5B0C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2252340-78EB-4A7A-A128-EE2A2A57E9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A1D1DA2-906B-4EDF-9ACF-3CDAE74CF9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33FB2-3626-4566-BCB1-4E73BB5A0007}" type="datetime1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2867742-2227-48CB-9EC2-DFE4C73E6B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2CA54A4-35B3-429B-A501-F6337F620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5BDC95-74DB-4E4A-AE92-27E6D29E523B}" type="slidenum">
              <a:rPr lang="pt-BR" smtClean="0"/>
              <a:t>‹nº›</a:t>
            </a:fld>
            <a:endParaRPr lang="pt-BR"/>
          </a:p>
        </p:txBody>
      </p:sp>
      <p:cxnSp>
        <p:nvCxnSpPr>
          <p:cNvPr id="8" name="Conector reto 4">
            <a:extLst>
              <a:ext uri="{FF2B5EF4-FFF2-40B4-BE49-F238E27FC236}">
                <a16:creationId xmlns:a16="http://schemas.microsoft.com/office/drawing/2014/main" id="{2E0089AB-546A-FC52-D8EF-42EBBF98F68E}"/>
              </a:ext>
            </a:extLst>
          </p:cNvPr>
          <p:cNvCxnSpPr>
            <a:cxnSpLocks/>
          </p:cNvCxnSpPr>
          <p:nvPr userDrawn="1"/>
        </p:nvCxnSpPr>
        <p:spPr>
          <a:xfrm flipH="1">
            <a:off x="-1" y="6482776"/>
            <a:ext cx="9792000" cy="0"/>
          </a:xfrm>
          <a:prstGeom prst="line">
            <a:avLst/>
          </a:prstGeom>
          <a:ln w="28575">
            <a:gradFill flip="none" rotWithShape="1">
              <a:gsLst>
                <a:gs pos="0">
                  <a:srgbClr val="0BF2FF"/>
                </a:gs>
                <a:gs pos="18000">
                  <a:schemeClr val="accent1">
                    <a:lumMod val="45000"/>
                    <a:lumOff val="55000"/>
                  </a:schemeClr>
                </a:gs>
                <a:gs pos="39000">
                  <a:srgbClr val="F5DBF2"/>
                </a:gs>
                <a:gs pos="80000">
                  <a:srgbClr val="FFBEC8"/>
                </a:gs>
                <a:gs pos="100000">
                  <a:srgbClr val="D96059"/>
                </a:gs>
                <a:gs pos="100000">
                  <a:srgbClr val="E5DBFE"/>
                </a:gs>
                <a:gs pos="61000">
                  <a:srgbClr val="E5DBFE"/>
                </a:gs>
              </a:gsLst>
              <a:path path="circle">
                <a:fillToRect l="100000" t="100000"/>
              </a:path>
              <a:tileRect r="-100000" b="-100000"/>
            </a:gra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pic>
        <p:nvPicPr>
          <p:cNvPr id="9" name="Imagem 8">
            <a:extLst>
              <a:ext uri="{FF2B5EF4-FFF2-40B4-BE49-F238E27FC236}">
                <a16:creationId xmlns:a16="http://schemas.microsoft.com/office/drawing/2014/main" id="{3C9D715B-7437-652B-1199-61749FA366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5736" y="162498"/>
            <a:ext cx="1058675" cy="664868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35CA297A-E763-E7A8-F6DF-C96C94680F6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338" y="6237390"/>
            <a:ext cx="787400" cy="533400"/>
          </a:xfrm>
          <a:prstGeom prst="rect">
            <a:avLst/>
          </a:prstGeom>
        </p:spPr>
      </p:pic>
      <p:pic>
        <p:nvPicPr>
          <p:cNvPr id="11" name="Picture 2" descr="FECOEP - Assista à primeira Reunião Ordinária do exercício de 2020">
            <a:extLst>
              <a:ext uri="{FF2B5EF4-FFF2-40B4-BE49-F238E27FC236}">
                <a16:creationId xmlns:a16="http://schemas.microsoft.com/office/drawing/2014/main" id="{61597B78-0C95-B2F7-7ABB-817D46BD91C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36376" y="6117616"/>
            <a:ext cx="973760" cy="730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Imagem 11">
            <a:extLst>
              <a:ext uri="{FF2B5EF4-FFF2-40B4-BE49-F238E27FC236}">
                <a16:creationId xmlns:a16="http://schemas.microsoft.com/office/drawing/2014/main" id="{D276C5CE-0C6D-50B3-31E7-678DFA364331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6744" t="38682" r="27333" b="290"/>
          <a:stretch>
            <a:fillRect/>
          </a:stretch>
        </p:blipFill>
        <p:spPr>
          <a:xfrm flipV="1">
            <a:off x="0" y="-1"/>
            <a:ext cx="1185205" cy="6847936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4AFC02F1-DB7B-395F-555D-2187857C87C4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383" r="11095"/>
          <a:stretch>
            <a:fillRect/>
          </a:stretch>
        </p:blipFill>
        <p:spPr>
          <a:xfrm>
            <a:off x="10371920" y="12526"/>
            <a:ext cx="1733855" cy="207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5161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EC5F1354-CE57-487D-8D95-3447459C0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3EFD34F-FB33-4AED-87B6-E5C9BE5937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4C6677E-6442-40B4-86B9-423F12457E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A13BC1D-8293-48F5-A725-B2B3E8AB1C48}" type="datetime1">
              <a:rPr lang="pt-BR" smtClean="0"/>
              <a:t>26/05/2026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18C5FE-185C-4696-B711-0ADACA0F32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0702C6-7103-419D-8440-58F66FE0A1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BDC95-74DB-4E4A-AE92-27E6D29E523B}" type="slidenum">
              <a:rPr lang="pt-BR" smtClean="0"/>
              <a:t>‹nº›</a:t>
            </a:fld>
            <a:endParaRPr lang="pt-BR"/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5C27C7A0-C121-2644-F5AB-957E824AFA95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419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Interno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48F035FC-F40E-35CD-D419-B4D0E65E60BE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11734800" y="6642100"/>
            <a:ext cx="419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BR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Interno</a:t>
            </a:r>
          </a:p>
        </p:txBody>
      </p:sp>
    </p:spTree>
    <p:extLst>
      <p:ext uri="{BB962C8B-B14F-4D97-AF65-F5344CB8AC3E}">
        <p14:creationId xmlns:p14="http://schemas.microsoft.com/office/powerpoint/2010/main" val="4181527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ov.br/inep/pt-br/acesso-a-informacao/dados-abertos/indicadores-educacionais/indicadores-de-fluxo-da-educacao-superior" TargetMode="External"/><Relationship Id="rId3" Type="http://schemas.openxmlformats.org/officeDocument/2006/relationships/hyperlink" Target="https://data.worldbank.org/indicator/SE.TER.CUAT.BA.ZS" TargetMode="External"/><Relationship Id="rId7" Type="http://schemas.openxmlformats.org/officeDocument/2006/relationships/hyperlink" Target="https://data.worldbank.org/indicator/SL.UEM.TOTL.ZS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ata.worldbank.org/indicator/SL.UEM.INTM.ZS" TargetMode="External"/><Relationship Id="rId5" Type="http://schemas.openxmlformats.org/officeDocument/2006/relationships/hyperlink" Target="https://data.worldbank.org/indicator/SL.UEM.ADVN.ZS" TargetMode="External"/><Relationship Id="rId10" Type="http://schemas.openxmlformats.org/officeDocument/2006/relationships/hyperlink" Target="https://www.semesp.org.br/mapa/edicao-16/brasil/" TargetMode="External"/><Relationship Id="rId4" Type="http://schemas.openxmlformats.org/officeDocument/2006/relationships/hyperlink" Target="https://data.worldbank.org/indicator/SE.XPD.TOTL.GD.ZS" TargetMode="External"/><Relationship Id="rId9" Type="http://schemas.openxmlformats.org/officeDocument/2006/relationships/hyperlink" Target="https://www.gov.br/inep/pt-br/acesso-a-informacao/dados-abertos/microdados/enade" TargetMode="Externa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5C928B-64C2-7E41-DB9F-4428182B9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CaixaDeTexto 56">
            <a:extLst>
              <a:ext uri="{FF2B5EF4-FFF2-40B4-BE49-F238E27FC236}">
                <a16:creationId xmlns:a16="http://schemas.microsoft.com/office/drawing/2014/main" id="{9BF64D49-1F32-2C8C-1300-543CA4584E36}"/>
              </a:ext>
            </a:extLst>
          </p:cNvPr>
          <p:cNvSpPr txBox="1"/>
          <p:nvPr/>
        </p:nvSpPr>
        <p:spPr>
          <a:xfrm>
            <a:off x="2671210" y="1233349"/>
            <a:ext cx="6915583" cy="35394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2800" b="1">
                <a:solidFill>
                  <a:srgbClr val="6C787F"/>
                </a:solidFill>
                <a:highlight>
                  <a:srgbClr val="FFFFFF"/>
                </a:highlight>
                <a:latin typeface="Arial"/>
                <a:cs typeface="Arial"/>
              </a:rPr>
              <a:t>POLÍTICAS PÚBLICAS E A INCLUSÃO NO ENSINO SUPERIOR</a:t>
            </a:r>
            <a:endParaRPr lang="pt-BR" sz="3200" b="1">
              <a:solidFill>
                <a:srgbClr val="6C787F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algn="ctr"/>
            <a:endParaRPr lang="en-US" sz="2800" b="1">
              <a:solidFill>
                <a:srgbClr val="6C787F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algn="ctr"/>
            <a:endParaRPr lang="en-US" sz="2800" b="1">
              <a:solidFill>
                <a:srgbClr val="6C787F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algn="ctr"/>
            <a:endParaRPr lang="en-US" sz="2800" b="1">
              <a:solidFill>
                <a:srgbClr val="6C787F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algn="ctr"/>
            <a:endParaRPr lang="en-US" sz="2800" b="1">
              <a:solidFill>
                <a:srgbClr val="6C787F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algn="ctr"/>
            <a:r>
              <a:rPr lang="en-US" sz="2800">
                <a:solidFill>
                  <a:srgbClr val="6C787F"/>
                </a:solidFill>
                <a:highlight>
                  <a:srgbClr val="FFFFFF"/>
                </a:highlight>
                <a:latin typeface="Arial"/>
                <a:cs typeface="Arial"/>
              </a:rPr>
              <a:t>Guilherme Neves Dantas de Oliveira</a:t>
            </a:r>
          </a:p>
          <a:p>
            <a:pPr algn="ctr"/>
            <a:r>
              <a:rPr lang="en-US" sz="2800">
                <a:solidFill>
                  <a:srgbClr val="6C787F"/>
                </a:solidFill>
                <a:highlight>
                  <a:srgbClr val="FFFFFF"/>
                </a:highlight>
                <a:latin typeface="Arial"/>
                <a:cs typeface="Arial"/>
              </a:rPr>
              <a:t>Luiz Rodolfo Dawoglio</a:t>
            </a:r>
          </a:p>
        </p:txBody>
      </p:sp>
    </p:spTree>
    <p:extLst>
      <p:ext uri="{BB962C8B-B14F-4D97-AF65-F5344CB8AC3E}">
        <p14:creationId xmlns:p14="http://schemas.microsoft.com/office/powerpoint/2010/main" val="38705741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458"/>
    </mc:Choice>
    <mc:Fallback xmlns="">
      <p:transition spd="slow" advTm="12458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92576E09-D0CB-E702-2C6A-E72CB0683E0F}"/>
              </a:ext>
            </a:extLst>
          </p:cNvPr>
          <p:cNvSpPr txBox="1">
            <a:spLocks/>
          </p:cNvSpPr>
          <p:nvPr/>
        </p:nvSpPr>
        <p:spPr>
          <a:xfrm>
            <a:off x="501863" y="1297511"/>
            <a:ext cx="10515600" cy="8007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>
                <a:latin typeface="Arial" panose="020B0604020202020204" pitchFamily="34" charset="0"/>
                <a:cs typeface="Arial" panose="020B0604020202020204" pitchFamily="34" charset="0"/>
              </a:rPr>
              <a:t>Objetivo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EB981C73-93EA-AE4C-9CE0-CF726F5C9E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551571"/>
            <a:ext cx="9999133" cy="30089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9pPr>
          </a:lstStyle>
          <a:p>
            <a:pPr marL="0" indent="0" algn="just">
              <a:lnSpc>
                <a:spcPct val="150000"/>
              </a:lnSpc>
              <a:buNone/>
            </a:pP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	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Investigar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a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influência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e a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efetividade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das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políticas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públicas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(ENEM, SISU e PROUNI) e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programas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cotas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na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democratização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do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acesso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ao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Ensino Superior,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diagnosticando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se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essas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ações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realmente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promovem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uma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maior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inserção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de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alunos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na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formação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 </a:t>
            </a:r>
            <a:r>
              <a:rPr lang="en-US" sz="1600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acadêmica</a:t>
            </a:r>
            <a:r>
              <a:rPr lang="en-US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ea typeface="Calibri"/>
                <a:cs typeface="Arial"/>
              </a:rPr>
              <a:t>.   </a:t>
            </a:r>
            <a:endParaRPr lang="pt-BR" sz="1600" dirty="0">
              <a:solidFill>
                <a:srgbClr val="000000"/>
              </a:solidFill>
              <a:ea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508021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38732"/>
    </mc:Choice>
    <mc:Fallback xmlns="">
      <p:transition spd="slow" advTm="3873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1D356-508D-8DBE-1E2A-394D038A83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6D3685C5-8276-CD5C-2FBF-D9DD40D9E94E}"/>
              </a:ext>
            </a:extLst>
          </p:cNvPr>
          <p:cNvSpPr txBox="1">
            <a:spLocks/>
          </p:cNvSpPr>
          <p:nvPr/>
        </p:nvSpPr>
        <p:spPr>
          <a:xfrm>
            <a:off x="501863" y="1297511"/>
            <a:ext cx="10515600" cy="8007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>
                <a:latin typeface="Arial" panose="020B0604020202020204" pitchFamily="34" charset="0"/>
                <a:cs typeface="Arial" panose="020B0604020202020204" pitchFamily="34" charset="0"/>
              </a:rPr>
              <a:t>Metodologia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75D9333F-D5FF-BC92-5BFB-7E2262EF3E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5890" y="2488777"/>
            <a:ext cx="10995763" cy="30402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5pPr>
            <a:lvl6pPr marL="25146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6pPr>
            <a:lvl7pPr marL="29718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7pPr>
            <a:lvl8pPr marL="34290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8pPr>
            <a:lvl9pPr marL="3886200" indent="-22860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he Hand" pitchFamily="66" charset="0"/>
                <a:ea typeface="+mn-ea"/>
                <a:cs typeface="+mn-cs"/>
              </a:defRPr>
            </a:lvl9pPr>
          </a:lstStyle>
          <a:p>
            <a:pPr marL="0" indent="-285750" algn="just">
              <a:lnSpc>
                <a:spcPct val="150000"/>
              </a:lnSpc>
              <a:buNone/>
            </a:pP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	A pesquisa adota uma abordagem quantitativa e qualitativa fundamentada em diretrizes científicas (Gil, 2017). Os dados foram coletados de fontes oficiais nacionais (INEP/ENADE) e internacionais (Banco Mundial). </a:t>
            </a:r>
          </a:p>
          <a:p>
            <a:pPr marL="0" indent="-285750" algn="just">
              <a:lnSpc>
                <a:spcPct val="150000"/>
              </a:lnSpc>
              <a:buNone/>
            </a:pP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	A organização e o tratamento visual das informações foram realizados no Power BI, estruturando os indicadores em quatro eixos analíticos: Fluxo Discente, Trajetória e Inclusão, Comparação Internacional e Evolução do Ensino Superior, visando à extração de </a:t>
            </a:r>
            <a:r>
              <a:rPr lang="pt-BR" sz="1600" i="1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insights</a:t>
            </a:r>
            <a:r>
              <a:rPr lang="pt-BR" sz="16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 estratégicos.</a:t>
            </a:r>
            <a:endParaRPr lang="pt-BR" sz="2400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6750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50065"/>
    </mc:Choice>
    <mc:Fallback xmlns="">
      <p:transition spd="slow" advTm="50065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51144D-0333-4A03-4E8C-1F49F25B8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DD9003A6-3F59-7699-B90D-4C57171D76DA}"/>
              </a:ext>
            </a:extLst>
          </p:cNvPr>
          <p:cNvSpPr txBox="1">
            <a:spLocks/>
          </p:cNvSpPr>
          <p:nvPr/>
        </p:nvSpPr>
        <p:spPr>
          <a:xfrm>
            <a:off x="4112455" y="2635833"/>
            <a:ext cx="4407504" cy="8007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800" b="1">
                <a:latin typeface="Arial" panose="020B0604020202020204" pitchFamily="34" charset="0"/>
                <a:cs typeface="Arial" panose="020B0604020202020204" pitchFamily="34" charset="0"/>
              </a:rPr>
              <a:t>Resultados</a:t>
            </a:r>
          </a:p>
        </p:txBody>
      </p:sp>
    </p:spTree>
    <p:extLst>
      <p:ext uri="{BB962C8B-B14F-4D97-AF65-F5344CB8AC3E}">
        <p14:creationId xmlns:p14="http://schemas.microsoft.com/office/powerpoint/2010/main" val="2631904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981"/>
    </mc:Choice>
    <mc:Fallback xmlns="">
      <p:transition spd="slow" advTm="698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AA5AB-51C7-9EAB-AC95-79A7A17A9E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76305B8-3845-2819-E1AC-1EC81FB3CB9A}"/>
              </a:ext>
            </a:extLst>
          </p:cNvPr>
          <p:cNvSpPr txBox="1"/>
          <p:nvPr/>
        </p:nvSpPr>
        <p:spPr>
          <a:xfrm>
            <a:off x="709246" y="5465519"/>
            <a:ext cx="9427307" cy="13952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025"/>
              </a:lnSpc>
            </a:pPr>
            <a:r>
              <a:rPr lang="pt-BR" sz="12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Painel de Indicadores de Fluxo da Educação Superior (período 2016-2024), apresentando a evolução temporal e a distribuição percentual consolidada das taxas de Permanência, Conclusão, Retenção e Evasão dos estudantes graduandos.</a:t>
            </a:r>
            <a:endParaRPr lang="pt-BR" dirty="0">
              <a:latin typeface="Arial"/>
              <a:ea typeface="+mn-lt"/>
              <a:cs typeface="Arial"/>
            </a:endParaRPr>
          </a:p>
          <a:p>
            <a:pPr algn="ctr">
              <a:lnSpc>
                <a:spcPts val="2025"/>
              </a:lnSpc>
            </a:pPr>
            <a:r>
              <a:rPr lang="pt-BR" sz="900" i="1" dirty="0">
                <a:solidFill>
                  <a:srgbClr val="000000"/>
                </a:solidFill>
                <a:latin typeface="Arial"/>
                <a:cs typeface="Arial"/>
              </a:rPr>
              <a:t>Fonte: </a:t>
            </a:r>
            <a:r>
              <a:rPr lang="pt-BR" sz="900" i="1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Censo da Educação Superior - Inep/MEC</a:t>
            </a:r>
            <a:endParaRPr sz="900" i="1" dirty="0"/>
          </a:p>
          <a:p>
            <a:pPr algn="ctr">
              <a:lnSpc>
                <a:spcPts val="2025"/>
              </a:lnSpc>
            </a:pPr>
            <a:endParaRPr lang="pt-BR" sz="1200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algn="ctr"/>
            <a:endParaRPr lang="pt-BR" dirty="0"/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2B65BA7C-208F-BA9A-F973-E8343010F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247" y="860670"/>
            <a:ext cx="9435123" cy="44821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78658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60882"/>
    </mc:Choice>
    <mc:Fallback xmlns="">
      <p:transition spd="slow" advTm="160882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343C0-CDEB-A35F-D8E0-7D77204EF2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26F2CD0-5FA0-712C-EDE2-F48421C05B55}"/>
              </a:ext>
            </a:extLst>
          </p:cNvPr>
          <p:cNvSpPr txBox="1"/>
          <p:nvPr/>
        </p:nvSpPr>
        <p:spPr>
          <a:xfrm>
            <a:off x="718416" y="5509424"/>
            <a:ext cx="9435124" cy="134568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025"/>
              </a:lnSpc>
            </a:pPr>
            <a:r>
              <a:rPr lang="pt-BR" sz="12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Perfil sociodemográfico dos discentes do Ensino Superior no Brasil (biênio 2023-2024), evidenciando a distribuição percentual por faixas de renda familiar (</a:t>
            </a:r>
            <a:r>
              <a:rPr lang="pt-BR" sz="1200" i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Perfil Socioeconômico</a:t>
            </a:r>
            <a:r>
              <a:rPr lang="pt-BR" sz="12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), marcadores de </a:t>
            </a:r>
            <a:r>
              <a:rPr lang="pt-BR" sz="1200" i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Autodeclaração Étnico-Racial</a:t>
            </a:r>
            <a:r>
              <a:rPr lang="pt-BR" sz="12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e a densidade de matrículas por unidade federativa.</a:t>
            </a:r>
            <a:endParaRPr lang="pt-BR" i="1" dirty="0">
              <a:solidFill>
                <a:srgbClr val="000000"/>
              </a:solidFill>
              <a:latin typeface="Arial"/>
              <a:ea typeface="+mn-lt"/>
              <a:cs typeface="Arial"/>
            </a:endParaRPr>
          </a:p>
          <a:p>
            <a:pPr algn="ctr">
              <a:lnSpc>
                <a:spcPts val="2025"/>
              </a:lnSpc>
            </a:pPr>
            <a:r>
              <a:rPr lang="pt-BR" sz="900" i="1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Fonte</a:t>
            </a:r>
            <a:r>
              <a:rPr lang="pt-BR" sz="900" i="1" dirty="0">
                <a:solidFill>
                  <a:srgbClr val="000000"/>
                </a:solidFill>
                <a:latin typeface="Arial"/>
                <a:cs typeface="Arial"/>
              </a:rPr>
              <a:t>: Microdados do ENADE 2023</a:t>
            </a:r>
            <a:r>
              <a:rPr lang="en-US" sz="900" i="1" dirty="0">
                <a:solidFill>
                  <a:srgbClr val="000000"/>
                </a:solidFill>
                <a:latin typeface="Arial"/>
                <a:cs typeface="Arial"/>
              </a:rPr>
              <a:t> - INEP/MEC</a:t>
            </a:r>
            <a:endParaRPr lang="pt-BR" i="1" dirty="0">
              <a:ea typeface="Calibri"/>
              <a:cs typeface="Calibri"/>
            </a:endParaRPr>
          </a:p>
          <a:p>
            <a:pPr algn="ctr">
              <a:lnSpc>
                <a:spcPts val="2025"/>
              </a:lnSpc>
            </a:pPr>
            <a:endParaRPr lang="pt-BR" sz="1200" dirty="0">
              <a:latin typeface="Arial"/>
              <a:cs typeface="Arial"/>
            </a:endParaRPr>
          </a:p>
        </p:txBody>
      </p:sp>
      <p:pic>
        <p:nvPicPr>
          <p:cNvPr id="6" name="Imagem 5" descr="Linha do tempo&#10;&#10;O conteúdo gerado por IA pode estar incorreto.">
            <a:extLst>
              <a:ext uri="{FF2B5EF4-FFF2-40B4-BE49-F238E27FC236}">
                <a16:creationId xmlns:a16="http://schemas.microsoft.com/office/drawing/2014/main" id="{A2D02E4E-0F22-09F6-A14E-56980D5E71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10" y="860914"/>
            <a:ext cx="9425598" cy="44816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269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16326"/>
    </mc:Choice>
    <mc:Fallback xmlns="">
      <p:transition spd="slow" advTm="11632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7A85D1-C0CA-1A44-28D0-8FF8F559C9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D30844FF-7114-88F3-AB77-14A5BB6FE22C}"/>
              </a:ext>
            </a:extLst>
          </p:cNvPr>
          <p:cNvSpPr txBox="1"/>
          <p:nvPr/>
        </p:nvSpPr>
        <p:spPr>
          <a:xfrm>
            <a:off x="713943" y="5494128"/>
            <a:ext cx="9454661" cy="1041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025"/>
              </a:lnSpc>
            </a:pPr>
            <a:r>
              <a:rPr lang="pt-BR" sz="12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Análise comparativa internacional de indicadores educacionais e socioeconômicos (2023), correlacionando o percentual da população jovem com diploma universitário, a taxa de desemprego por nível de escolaridade e o volume de investimento público em educação em proporção ao PIB.</a:t>
            </a:r>
            <a:endParaRPr lang="pt-BR" dirty="0">
              <a:latin typeface="Arial"/>
              <a:ea typeface="+mn-lt"/>
              <a:cs typeface="Arial"/>
            </a:endParaRPr>
          </a:p>
          <a:p>
            <a:pPr algn="ctr">
              <a:lnSpc>
                <a:spcPts val="1575"/>
              </a:lnSpc>
            </a:pPr>
            <a:r>
              <a:rPr lang="pt-BR" sz="900" i="1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Fonte: World Bank </a:t>
            </a:r>
            <a:r>
              <a:rPr lang="pt-BR" sz="900" i="1" dirty="0" err="1">
                <a:solidFill>
                  <a:srgbClr val="000000"/>
                </a:solidFill>
                <a:latin typeface="Arial"/>
                <a:ea typeface="Calibri"/>
                <a:cs typeface="Arial"/>
              </a:rPr>
              <a:t>Group</a:t>
            </a:r>
            <a:r>
              <a:rPr lang="pt-BR" sz="900" i="1" dirty="0">
                <a:solidFill>
                  <a:srgbClr val="000000"/>
                </a:solidFill>
                <a:latin typeface="Arial"/>
                <a:ea typeface="Calibri"/>
                <a:cs typeface="Arial"/>
              </a:rPr>
              <a:t>.</a:t>
            </a:r>
            <a:endParaRPr lang="en-US" sz="900" i="1" dirty="0">
              <a:latin typeface="Arial"/>
              <a:ea typeface="Calibri"/>
              <a:cs typeface="Arial"/>
            </a:endParaRPr>
          </a:p>
        </p:txBody>
      </p:sp>
      <p:pic>
        <p:nvPicPr>
          <p:cNvPr id="7" name="Imagem 6" descr="Gráfico&#10;&#10;O conteúdo gerado por IA pode estar incorreto.">
            <a:extLst>
              <a:ext uri="{FF2B5EF4-FFF2-40B4-BE49-F238E27FC236}">
                <a16:creationId xmlns:a16="http://schemas.microsoft.com/office/drawing/2014/main" id="{016DA211-614C-02E9-69AC-B1E676AC33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002" y="855907"/>
            <a:ext cx="9464920" cy="4491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580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00821"/>
    </mc:Choice>
    <mc:Fallback xmlns="">
      <p:transition spd="slow" advTm="10082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5A9815-81D8-9671-19A1-B6047D4093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A681563-A5FA-BBA5-B279-04C5E81DF46D}"/>
              </a:ext>
            </a:extLst>
          </p:cNvPr>
          <p:cNvSpPr txBox="1"/>
          <p:nvPr/>
        </p:nvSpPr>
        <p:spPr>
          <a:xfrm>
            <a:off x="714231" y="5508494"/>
            <a:ext cx="9425353" cy="104188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>
              <a:lnSpc>
                <a:spcPts val="2025"/>
              </a:lnSpc>
            </a:pPr>
            <a:r>
              <a:rPr lang="pt-BR" sz="1200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Evolução histórica do número de matrículas no Ensino Superior brasileiro (1980-2024), segmentada por rede pública, rede privada e total acumulado, com destaque para o impacto das principais políticas públicas, marcos regulatórios e eventos conjunturais no crescimento do setor.</a:t>
            </a:r>
            <a:endParaRPr lang="pt-BR" dirty="0">
              <a:latin typeface="Arial"/>
              <a:ea typeface="+mn-lt"/>
              <a:cs typeface="Arial"/>
            </a:endParaRPr>
          </a:p>
          <a:p>
            <a:pPr algn="ctr">
              <a:lnSpc>
                <a:spcPts val="1575"/>
              </a:lnSpc>
            </a:pPr>
            <a:r>
              <a:rPr lang="pt-BR" sz="900" i="1" dirty="0">
                <a:solidFill>
                  <a:srgbClr val="000000"/>
                </a:solidFill>
                <a:latin typeface="Arial"/>
                <a:cs typeface="Arial"/>
              </a:rPr>
              <a:t>Fonte: Dados Brasil 16ª Edição - SEMESP</a:t>
            </a:r>
            <a:endParaRPr lang="pt-BR" sz="1200" dirty="0">
              <a:latin typeface="Arial"/>
              <a:ea typeface="Calibri"/>
              <a:cs typeface="Arial"/>
            </a:endParaRPr>
          </a:p>
        </p:txBody>
      </p:sp>
      <p:pic>
        <p:nvPicPr>
          <p:cNvPr id="4" name="Imagem 3" descr="Uma imagem contendo Interface gráfica do usuário&#10;&#10;O conteúdo gerado por IA pode estar incorreto.">
            <a:extLst>
              <a:ext uri="{FF2B5EF4-FFF2-40B4-BE49-F238E27FC236}">
                <a16:creationId xmlns:a16="http://schemas.microsoft.com/office/drawing/2014/main" id="{B57C8A97-6F5E-5B47-BDF5-4A50887E88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010" y="856152"/>
            <a:ext cx="9425598" cy="4491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1809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3043"/>
    </mc:Choice>
    <mc:Fallback xmlns="">
      <p:transition spd="slow" advTm="63043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D2329E-A235-A984-F0D0-B09AD93E3D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01AFC29C-7E7D-39AF-7C03-A0FF7A3069E1}"/>
              </a:ext>
            </a:extLst>
          </p:cNvPr>
          <p:cNvSpPr txBox="1">
            <a:spLocks/>
          </p:cNvSpPr>
          <p:nvPr/>
        </p:nvSpPr>
        <p:spPr>
          <a:xfrm>
            <a:off x="1563070" y="1373669"/>
            <a:ext cx="3094527" cy="8007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Conclusões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7A7E3D34-821D-0902-591C-CBE00D60CA66}"/>
              </a:ext>
            </a:extLst>
          </p:cNvPr>
          <p:cNvSpPr txBox="1"/>
          <p:nvPr/>
        </p:nvSpPr>
        <p:spPr>
          <a:xfrm>
            <a:off x="691936" y="2174434"/>
            <a:ext cx="4836797" cy="26992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Políticas públicas ampliaram o acesso ao Ensino Superior;</a:t>
            </a:r>
          </a:p>
          <a:p>
            <a:pPr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Principal desafio atual: permanência e conclusão;</a:t>
            </a:r>
          </a:p>
          <a:p>
            <a:pPr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Ensino superior reduz desemprego e aumenta empregabilidade;</a:t>
            </a:r>
          </a:p>
          <a:p>
            <a:pPr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Países desenvolvidos apresentam maior escolarização com impacto direto no desenvolvimento econômico.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B29AEBC8-D7B4-6DFF-9AA4-93590CC4E201}"/>
              </a:ext>
            </a:extLst>
          </p:cNvPr>
          <p:cNvSpPr txBox="1"/>
          <p:nvPr/>
        </p:nvSpPr>
        <p:spPr>
          <a:xfrm>
            <a:off x="5892802" y="2271896"/>
            <a:ext cx="5122332" cy="250434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Fortalecer políticas de permanência (assistência, tutoria, apoio pedagógico);</a:t>
            </a:r>
          </a:p>
          <a:p>
            <a:pPr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Ampliar orientação acadêmica e de carreira;</a:t>
            </a:r>
          </a:p>
          <a:p>
            <a:pPr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Integrar educação e mercado de trabalho (ODS 8);</a:t>
            </a:r>
          </a:p>
          <a:p>
            <a:pPr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Incentivar participação em áreas STEM (ODS 9);</a:t>
            </a:r>
          </a:p>
          <a:p>
            <a:pPr indent="-285750">
              <a:lnSpc>
                <a:spcPct val="150000"/>
              </a:lnSpc>
              <a:spcBef>
                <a:spcPts val="1000"/>
              </a:spcBef>
              <a:buFont typeface="Arial" panose="020B0604020202020204" pitchFamily="34" charset="0"/>
              <a:buChar char="•"/>
            </a:pPr>
            <a:r>
              <a:rPr lang="pt-BR" sz="1400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Monitorar equidade no acesso e nos resultados (ODS 10).</a:t>
            </a:r>
          </a:p>
        </p:txBody>
      </p:sp>
      <p:sp>
        <p:nvSpPr>
          <p:cNvPr id="10" name="Título 1">
            <a:extLst>
              <a:ext uri="{FF2B5EF4-FFF2-40B4-BE49-F238E27FC236}">
                <a16:creationId xmlns:a16="http://schemas.microsoft.com/office/drawing/2014/main" id="{96BD8DF2-6F6E-0204-0695-A4D6477C1508}"/>
              </a:ext>
            </a:extLst>
          </p:cNvPr>
          <p:cNvSpPr txBox="1">
            <a:spLocks/>
          </p:cNvSpPr>
          <p:nvPr/>
        </p:nvSpPr>
        <p:spPr>
          <a:xfrm>
            <a:off x="6607769" y="1373668"/>
            <a:ext cx="3692397" cy="8007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3200" b="1" dirty="0">
                <a:latin typeface="Arial" panose="020B0604020202020204" pitchFamily="34" charset="0"/>
                <a:cs typeface="Arial" panose="020B0604020202020204" pitchFamily="34" charset="0"/>
              </a:rPr>
              <a:t>Recomendações </a:t>
            </a:r>
          </a:p>
        </p:txBody>
      </p: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84D97B5C-3B2E-6CC0-5576-709C7445722B}"/>
              </a:ext>
            </a:extLst>
          </p:cNvPr>
          <p:cNvCxnSpPr/>
          <p:nvPr/>
        </p:nvCxnSpPr>
        <p:spPr>
          <a:xfrm>
            <a:off x="5537200" y="1464733"/>
            <a:ext cx="0" cy="420793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0005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4547"/>
    </mc:Choice>
    <mc:Fallback xmlns="">
      <p:transition spd="slow" advTm="94547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82460-76C3-202F-D526-AA4EF68DC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ítulo 1">
            <a:extLst>
              <a:ext uri="{FF2B5EF4-FFF2-40B4-BE49-F238E27FC236}">
                <a16:creationId xmlns:a16="http://schemas.microsoft.com/office/drawing/2014/main" id="{410658BF-640F-74DC-AA78-3E7CC05B91FB}"/>
              </a:ext>
            </a:extLst>
          </p:cNvPr>
          <p:cNvSpPr txBox="1">
            <a:spLocks/>
          </p:cNvSpPr>
          <p:nvPr/>
        </p:nvSpPr>
        <p:spPr>
          <a:xfrm>
            <a:off x="604836" y="792943"/>
            <a:ext cx="10515600" cy="80076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4000" b="1">
                <a:latin typeface="Arial" panose="020B0604020202020204" pitchFamily="34" charset="0"/>
                <a:cs typeface="Arial" panose="020B0604020202020204" pitchFamily="34" charset="0"/>
              </a:rPr>
              <a:t>Referências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7586D14-AA5B-D782-A598-1B6E7EEB43A8}"/>
              </a:ext>
            </a:extLst>
          </p:cNvPr>
          <p:cNvSpPr txBox="1"/>
          <p:nvPr/>
        </p:nvSpPr>
        <p:spPr>
          <a:xfrm>
            <a:off x="1182391" y="2382271"/>
            <a:ext cx="9082216" cy="62581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ts val="2025"/>
              </a:lnSpc>
            </a:pPr>
            <a:endParaRPr lang="pt-BR" sz="1200">
              <a:latin typeface="Arial"/>
              <a:cs typeface="Arial"/>
            </a:endParaRPr>
          </a:p>
          <a:p>
            <a:pPr algn="ctr"/>
            <a:endParaRPr lang="pt-BR">
              <a:latin typeface="Arial"/>
              <a:cs typeface="Arial"/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0281385-EDA7-A0D6-6FF7-9CDC9A6BD0B3}"/>
              </a:ext>
            </a:extLst>
          </p:cNvPr>
          <p:cNvSpPr txBox="1"/>
          <p:nvPr/>
        </p:nvSpPr>
        <p:spPr>
          <a:xfrm>
            <a:off x="732118" y="1593708"/>
            <a:ext cx="10522322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buFont typeface="Arial"/>
              <a:buChar char="•"/>
            </a:pPr>
            <a:r>
              <a:rPr lang="en-US" sz="1100" dirty="0">
                <a:latin typeface="Arial"/>
                <a:ea typeface="+mn-lt"/>
                <a:cs typeface="Arial"/>
              </a:rPr>
              <a:t> BANCO MUNDIAL. </a:t>
            </a:r>
            <a:r>
              <a:rPr lang="en-US" sz="1100" b="1" dirty="0">
                <a:latin typeface="Arial"/>
                <a:ea typeface="+mn-lt"/>
                <a:cs typeface="Arial"/>
              </a:rPr>
              <a:t>Educational attainment, at least Bachelor's or equivalent, population 25+, total (%) (cumulative)</a:t>
            </a:r>
            <a:r>
              <a:rPr lang="en-US" sz="1100" dirty="0">
                <a:latin typeface="Arial"/>
                <a:ea typeface="+mn-lt"/>
                <a:cs typeface="Arial"/>
              </a:rPr>
              <a:t>. Washington, D.C.: World Bank Group, 2024. </a:t>
            </a:r>
            <a:r>
              <a:rPr lang="en-US" sz="1100" dirty="0" err="1">
                <a:latin typeface="Arial"/>
                <a:ea typeface="+mn-lt"/>
                <a:cs typeface="Arial"/>
              </a:rPr>
              <a:t>Disponível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 </a:t>
            </a:r>
            <a:r>
              <a:rPr lang="en-US" sz="1100" dirty="0">
                <a:latin typeface="Arial"/>
                <a:ea typeface="+mn-lt"/>
                <a:cs typeface="Aria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https://data.worldbank.org/indicator/SE.TER.CUAT.BA.ZS</a:t>
            </a:r>
            <a:r>
              <a:rPr lang="en-US" sz="1100" dirty="0">
                <a:latin typeface="Arial"/>
                <a:ea typeface="+mn-lt"/>
                <a:cs typeface="Arial"/>
              </a:rPr>
              <a:t>. Acesso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 07 </a:t>
            </a:r>
            <a:r>
              <a:rPr lang="en-US" sz="1100" dirty="0" err="1">
                <a:latin typeface="Arial"/>
                <a:ea typeface="+mn-lt"/>
                <a:cs typeface="Arial"/>
              </a:rPr>
              <a:t>maio</a:t>
            </a:r>
            <a:r>
              <a:rPr lang="en-US" sz="1100" dirty="0">
                <a:latin typeface="Arial"/>
                <a:ea typeface="+mn-lt"/>
                <a:cs typeface="Arial"/>
              </a:rPr>
              <a:t> 2026.</a:t>
            </a:r>
            <a:endParaRPr lang="pt-BR" sz="1100" dirty="0">
              <a:latin typeface="Arial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endParaRPr lang="en-US" sz="1100" dirty="0">
              <a:latin typeface="Arial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1100" dirty="0">
                <a:latin typeface="Arial"/>
                <a:ea typeface="+mn-lt"/>
                <a:cs typeface="Arial"/>
              </a:rPr>
              <a:t> BANCO MUNDIAL. </a:t>
            </a:r>
            <a:r>
              <a:rPr lang="en-US" sz="1100" b="1" dirty="0">
                <a:latin typeface="Arial"/>
                <a:ea typeface="+mn-lt"/>
                <a:cs typeface="Arial"/>
              </a:rPr>
              <a:t>Government expenditure on education, total (% of GDP)</a:t>
            </a:r>
            <a:r>
              <a:rPr lang="en-US" sz="1100" dirty="0">
                <a:latin typeface="Arial"/>
                <a:ea typeface="+mn-lt"/>
                <a:cs typeface="Arial"/>
              </a:rPr>
              <a:t>. Washington, D.C.: World Bank Group, 2024. </a:t>
            </a:r>
            <a:r>
              <a:rPr lang="en-US" sz="1100" dirty="0" err="1">
                <a:latin typeface="Arial"/>
                <a:ea typeface="+mn-lt"/>
                <a:cs typeface="Arial"/>
              </a:rPr>
              <a:t>Disponível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 </a:t>
            </a:r>
            <a:r>
              <a:rPr lang="en-US" sz="1100" dirty="0">
                <a:latin typeface="Arial"/>
                <a:ea typeface="+mn-lt"/>
                <a:cs typeface="Arial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https://data.worldbank.org/indicator/SE.XPD.TOTL.GD.ZS</a:t>
            </a:r>
            <a:r>
              <a:rPr lang="en-US" sz="1100" dirty="0">
                <a:latin typeface="Arial"/>
                <a:ea typeface="+mn-lt"/>
                <a:cs typeface="Arial"/>
              </a:rPr>
              <a:t>. Acesso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 07 </a:t>
            </a:r>
            <a:r>
              <a:rPr lang="en-US" sz="1100" dirty="0" err="1">
                <a:latin typeface="Arial"/>
                <a:ea typeface="+mn-lt"/>
                <a:cs typeface="Arial"/>
              </a:rPr>
              <a:t>maio</a:t>
            </a:r>
            <a:r>
              <a:rPr lang="en-US" sz="1100" dirty="0">
                <a:latin typeface="Arial"/>
                <a:ea typeface="+mn-lt"/>
                <a:cs typeface="Arial"/>
              </a:rPr>
              <a:t> 2026.</a:t>
            </a:r>
          </a:p>
          <a:p>
            <a:pPr>
              <a:buFont typeface="Arial"/>
              <a:buChar char="•"/>
            </a:pPr>
            <a:endParaRPr lang="en-US" sz="1100" dirty="0">
              <a:latin typeface="Arial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1100" dirty="0">
                <a:latin typeface="Arial"/>
                <a:ea typeface="+mn-lt"/>
                <a:cs typeface="Arial"/>
              </a:rPr>
              <a:t> BANCO MUNDIAL. </a:t>
            </a:r>
            <a:r>
              <a:rPr lang="en-US" sz="1100" b="1" dirty="0">
                <a:latin typeface="Arial"/>
                <a:ea typeface="+mn-lt"/>
                <a:cs typeface="Arial"/>
              </a:rPr>
              <a:t>Unemployment with advanced education (% of total labor force with advanced education)</a:t>
            </a:r>
            <a:r>
              <a:rPr lang="en-US" sz="1100" dirty="0">
                <a:latin typeface="Arial"/>
                <a:ea typeface="+mn-lt"/>
                <a:cs typeface="Arial"/>
              </a:rPr>
              <a:t>. Washington, D.C.: World Bank Group, 2024. </a:t>
            </a:r>
            <a:r>
              <a:rPr lang="en-US" sz="1100" dirty="0" err="1">
                <a:latin typeface="Arial"/>
                <a:ea typeface="+mn-lt"/>
                <a:cs typeface="Arial"/>
              </a:rPr>
              <a:t>Disponível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 </a:t>
            </a:r>
            <a:r>
              <a:rPr lang="en-US" sz="1100" dirty="0">
                <a:latin typeface="Arial"/>
                <a:ea typeface="+mn-lt"/>
                <a:cs typeface="Arial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https://data.worldbank.org/indicator/SL.UEM.ADVN.ZS</a:t>
            </a:r>
            <a:r>
              <a:rPr lang="en-US" sz="1100" dirty="0">
                <a:latin typeface="Arial"/>
                <a:ea typeface="+mn-lt"/>
                <a:cs typeface="Arial"/>
              </a:rPr>
              <a:t>. Acesso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 07 </a:t>
            </a:r>
            <a:r>
              <a:rPr lang="en-US" sz="1100" dirty="0" err="1">
                <a:latin typeface="Arial"/>
                <a:ea typeface="+mn-lt"/>
                <a:cs typeface="Arial"/>
              </a:rPr>
              <a:t>maio</a:t>
            </a:r>
            <a:r>
              <a:rPr lang="en-US" sz="1100" dirty="0">
                <a:latin typeface="Arial"/>
                <a:ea typeface="+mn-lt"/>
                <a:cs typeface="Arial"/>
              </a:rPr>
              <a:t> 2026.</a:t>
            </a:r>
          </a:p>
          <a:p>
            <a:pPr>
              <a:buFont typeface="Arial"/>
              <a:buChar char="•"/>
            </a:pPr>
            <a:endParaRPr lang="en-US" sz="1100" dirty="0">
              <a:latin typeface="Arial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1100" dirty="0">
                <a:latin typeface="Arial"/>
                <a:ea typeface="+mn-lt"/>
                <a:cs typeface="Arial"/>
              </a:rPr>
              <a:t> BANCO MUNDIAL. </a:t>
            </a:r>
            <a:r>
              <a:rPr lang="en-US" sz="1100" b="1" dirty="0">
                <a:latin typeface="Arial"/>
                <a:ea typeface="+mn-lt"/>
                <a:cs typeface="Arial"/>
              </a:rPr>
              <a:t>Unemployment with intermediate education (% of total labor force with intermediate education)</a:t>
            </a:r>
            <a:r>
              <a:rPr lang="en-US" sz="1100" dirty="0">
                <a:latin typeface="Arial"/>
                <a:ea typeface="+mn-lt"/>
                <a:cs typeface="Arial"/>
              </a:rPr>
              <a:t>. Washington, D.C.: World Bank Group, 2024. </a:t>
            </a:r>
            <a:r>
              <a:rPr lang="en-US" sz="1100" dirty="0" err="1">
                <a:latin typeface="Arial"/>
                <a:ea typeface="+mn-lt"/>
                <a:cs typeface="Arial"/>
              </a:rPr>
              <a:t>Disponível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 </a:t>
            </a:r>
            <a:r>
              <a:rPr lang="en-US" sz="1100" dirty="0">
                <a:latin typeface="Arial"/>
                <a:ea typeface="+mn-lt"/>
                <a:cs typeface="Arial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https://data.worldbank.org/indicator/SL.UEM.INTM.ZS</a:t>
            </a:r>
            <a:r>
              <a:rPr lang="en-US" sz="1100" dirty="0">
                <a:latin typeface="Arial"/>
                <a:ea typeface="+mn-lt"/>
                <a:cs typeface="Arial"/>
              </a:rPr>
              <a:t>. Acesso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 07 </a:t>
            </a:r>
            <a:r>
              <a:rPr lang="en-US" sz="1100" dirty="0" err="1">
                <a:latin typeface="Arial"/>
                <a:ea typeface="+mn-lt"/>
                <a:cs typeface="Arial"/>
              </a:rPr>
              <a:t>maio</a:t>
            </a:r>
            <a:r>
              <a:rPr lang="en-US" sz="1100" dirty="0">
                <a:latin typeface="Arial"/>
                <a:ea typeface="+mn-lt"/>
                <a:cs typeface="Arial"/>
              </a:rPr>
              <a:t> 2026.</a:t>
            </a:r>
            <a:endParaRPr lang="en-US" sz="1100" dirty="0">
              <a:latin typeface="Arial"/>
              <a:ea typeface="Calibri"/>
              <a:cs typeface="Arial"/>
            </a:endParaRPr>
          </a:p>
          <a:p>
            <a:pPr>
              <a:buFont typeface="Arial"/>
              <a:buChar char="•"/>
            </a:pPr>
            <a:endParaRPr lang="en-US" sz="1100" dirty="0">
              <a:latin typeface="Arial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1100" dirty="0">
                <a:latin typeface="Arial"/>
                <a:ea typeface="+mn-lt"/>
                <a:cs typeface="Arial"/>
              </a:rPr>
              <a:t> BANCO MUNDIAL. </a:t>
            </a:r>
            <a:r>
              <a:rPr lang="en-US" sz="1100" b="1" dirty="0">
                <a:latin typeface="Arial"/>
                <a:ea typeface="+mn-lt"/>
                <a:cs typeface="Arial"/>
              </a:rPr>
              <a:t>Unemployment, total (% of total labor force) (modeled ILO estimate)</a:t>
            </a:r>
            <a:r>
              <a:rPr lang="en-US" sz="1100" dirty="0">
                <a:latin typeface="Arial"/>
                <a:ea typeface="+mn-lt"/>
                <a:cs typeface="Arial"/>
              </a:rPr>
              <a:t>. Washington, D.C.: World Bank Group, 2024. </a:t>
            </a:r>
            <a:r>
              <a:rPr lang="en-US" sz="1100" dirty="0" err="1">
                <a:latin typeface="Arial"/>
                <a:ea typeface="+mn-lt"/>
                <a:cs typeface="Arial"/>
              </a:rPr>
              <a:t>Disponível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 </a:t>
            </a:r>
            <a:r>
              <a:rPr lang="en-US" sz="1100" dirty="0">
                <a:latin typeface="Arial"/>
                <a:ea typeface="+mn-lt"/>
                <a:cs typeface="Arial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https://data.worldbank.org/indicator/SL.UEM.TOTL.ZS</a:t>
            </a:r>
            <a:r>
              <a:rPr lang="en-US" sz="1100" dirty="0">
                <a:latin typeface="Arial"/>
                <a:ea typeface="+mn-lt"/>
                <a:cs typeface="Arial"/>
              </a:rPr>
              <a:t>. Acesso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 07 </a:t>
            </a:r>
            <a:r>
              <a:rPr lang="en-US" sz="1100" dirty="0" err="1">
                <a:latin typeface="Arial"/>
                <a:ea typeface="+mn-lt"/>
                <a:cs typeface="Arial"/>
              </a:rPr>
              <a:t>maio</a:t>
            </a:r>
            <a:r>
              <a:rPr lang="en-US" sz="1100" dirty="0">
                <a:latin typeface="Arial"/>
                <a:ea typeface="+mn-lt"/>
                <a:cs typeface="Arial"/>
              </a:rPr>
              <a:t> 2026.</a:t>
            </a:r>
          </a:p>
          <a:p>
            <a:pPr>
              <a:buFont typeface="Arial"/>
              <a:buChar char="•"/>
            </a:pPr>
            <a:endParaRPr lang="en-US" sz="1100" dirty="0">
              <a:latin typeface="Arial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r>
              <a:rPr lang="pt-BR" sz="1100" dirty="0">
                <a:highlight>
                  <a:srgbClr val="FFFFFF"/>
                </a:highlight>
                <a:latin typeface="Arial"/>
                <a:ea typeface="+mn-lt"/>
                <a:cs typeface="Arial"/>
              </a:rPr>
              <a:t>GIL, Antônio Carlos. </a:t>
            </a:r>
            <a:r>
              <a:rPr lang="pt-BR" sz="1100" b="1" dirty="0">
                <a:highlight>
                  <a:srgbClr val="FFFFFF"/>
                </a:highlight>
                <a:latin typeface="Arial"/>
                <a:ea typeface="+mn-lt"/>
                <a:cs typeface="Arial"/>
              </a:rPr>
              <a:t>Como elaborar projetos de pesquisa</a:t>
            </a:r>
            <a:r>
              <a:rPr lang="pt-BR" sz="1100" dirty="0">
                <a:highlight>
                  <a:srgbClr val="FFFFFF"/>
                </a:highlight>
                <a:latin typeface="Arial"/>
                <a:ea typeface="+mn-lt"/>
                <a:cs typeface="Arial"/>
              </a:rPr>
              <a:t>. 6. ed. São Paulo: Atlas, 2017 </a:t>
            </a:r>
            <a:endParaRPr lang="en-US" sz="1100" dirty="0">
              <a:highlight>
                <a:srgbClr val="FFFFFF"/>
              </a:highlight>
              <a:latin typeface="Arial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endParaRPr lang="en-US" sz="1100" dirty="0">
              <a:latin typeface="Arial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1100" dirty="0">
                <a:latin typeface="Arial"/>
                <a:ea typeface="+mn-lt"/>
                <a:cs typeface="Arial"/>
              </a:rPr>
              <a:t> INSTITUTO NACIONAL DE ESTUDOS E PESQUISAS EDUCACIONAIS ANÍSIO TEIXEIRA (INEP). </a:t>
            </a:r>
            <a:r>
              <a:rPr lang="en-US" sz="1100" b="1" dirty="0" err="1">
                <a:latin typeface="Arial"/>
                <a:ea typeface="+mn-lt"/>
                <a:cs typeface="Arial"/>
              </a:rPr>
              <a:t>Indicadores</a:t>
            </a:r>
            <a:r>
              <a:rPr lang="en-US" sz="1100" b="1" dirty="0">
                <a:latin typeface="Arial"/>
                <a:ea typeface="+mn-lt"/>
                <a:cs typeface="Arial"/>
              </a:rPr>
              <a:t> de </a:t>
            </a:r>
            <a:r>
              <a:rPr lang="en-US" sz="1100" b="1" dirty="0" err="1">
                <a:latin typeface="Arial"/>
                <a:ea typeface="+mn-lt"/>
                <a:cs typeface="Arial"/>
              </a:rPr>
              <a:t>Fluxo</a:t>
            </a:r>
            <a:r>
              <a:rPr lang="en-US" sz="1100" b="1" dirty="0">
                <a:latin typeface="Arial"/>
                <a:ea typeface="+mn-lt"/>
                <a:cs typeface="Arial"/>
              </a:rPr>
              <a:t> da </a:t>
            </a:r>
            <a:r>
              <a:rPr lang="en-US" sz="1100" b="1" dirty="0" err="1">
                <a:latin typeface="Arial"/>
                <a:ea typeface="+mn-lt"/>
                <a:cs typeface="Arial"/>
              </a:rPr>
              <a:t>Educação</a:t>
            </a:r>
            <a:r>
              <a:rPr lang="en-US" sz="1100" b="1" dirty="0">
                <a:latin typeface="Arial"/>
                <a:ea typeface="+mn-lt"/>
                <a:cs typeface="Arial"/>
              </a:rPr>
              <a:t> Superior</a:t>
            </a:r>
            <a:r>
              <a:rPr lang="en-US" sz="1100" dirty="0">
                <a:latin typeface="Arial"/>
                <a:ea typeface="+mn-lt"/>
                <a:cs typeface="Arial"/>
              </a:rPr>
              <a:t>. Brasília, DF: INEP, 2024. </a:t>
            </a:r>
            <a:r>
              <a:rPr lang="en-US" sz="1100" dirty="0" err="1">
                <a:latin typeface="Arial"/>
                <a:ea typeface="+mn-lt"/>
                <a:cs typeface="Arial"/>
              </a:rPr>
              <a:t>Disponível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 </a:t>
            </a:r>
            <a:r>
              <a:rPr lang="en-US" sz="1100" dirty="0">
                <a:latin typeface="Arial"/>
                <a:ea typeface="+mn-lt"/>
                <a:cs typeface="Arial"/>
                <a:hlinkClick r:id="rId8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https://www.gov.br/inep/pt-br/acesso-a-informacao/dados-abertos/indicadores-educacionais/indicadores-de-fluxo-da-educacao-superior</a:t>
            </a:r>
            <a:r>
              <a:rPr lang="en-US" sz="1100" dirty="0">
                <a:latin typeface="Arial"/>
                <a:ea typeface="+mn-lt"/>
                <a:cs typeface="Arial"/>
              </a:rPr>
              <a:t>. Acesso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 30 </a:t>
            </a:r>
            <a:r>
              <a:rPr lang="en-US" sz="1100" dirty="0" err="1">
                <a:latin typeface="Arial"/>
                <a:ea typeface="+mn-lt"/>
                <a:cs typeface="Arial"/>
              </a:rPr>
              <a:t>abril</a:t>
            </a:r>
            <a:r>
              <a:rPr lang="en-US" sz="1100" dirty="0">
                <a:latin typeface="Arial"/>
                <a:ea typeface="+mn-lt"/>
                <a:cs typeface="Arial"/>
              </a:rPr>
              <a:t> 2026.</a:t>
            </a:r>
          </a:p>
          <a:p>
            <a:pPr>
              <a:buFont typeface="Arial"/>
              <a:buChar char="•"/>
            </a:pPr>
            <a:endParaRPr lang="en-US" sz="1100" dirty="0">
              <a:latin typeface="Arial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1100" dirty="0">
                <a:latin typeface="Arial"/>
                <a:ea typeface="+mn-lt"/>
                <a:cs typeface="Arial"/>
              </a:rPr>
              <a:t> INSTITUTO NACIONAL DE ESTUDOS E PESQUISAS EDUCACIONAIS ANÍSIO TEIXEIRA (INEP). </a:t>
            </a:r>
            <a:r>
              <a:rPr lang="en-US" sz="1100" b="1" dirty="0" err="1">
                <a:latin typeface="Arial"/>
                <a:ea typeface="+mn-lt"/>
                <a:cs typeface="Arial"/>
              </a:rPr>
              <a:t>Microdados</a:t>
            </a:r>
            <a:r>
              <a:rPr lang="en-US" sz="1100" b="1" dirty="0">
                <a:latin typeface="Arial"/>
                <a:ea typeface="+mn-lt"/>
                <a:cs typeface="Arial"/>
              </a:rPr>
              <a:t> do </a:t>
            </a:r>
            <a:r>
              <a:rPr lang="en-US" sz="1100" b="1" dirty="0" err="1">
                <a:latin typeface="Arial"/>
                <a:ea typeface="+mn-lt"/>
                <a:cs typeface="Arial"/>
              </a:rPr>
              <a:t>Enade</a:t>
            </a:r>
            <a:r>
              <a:rPr lang="en-US" sz="1100" dirty="0">
                <a:latin typeface="Arial"/>
                <a:ea typeface="+mn-lt"/>
                <a:cs typeface="Arial"/>
              </a:rPr>
              <a:t>. Brasília, DF: INEP, 2024. </a:t>
            </a:r>
            <a:r>
              <a:rPr lang="en-US" sz="1100" dirty="0" err="1">
                <a:latin typeface="Arial"/>
                <a:ea typeface="+mn-lt"/>
                <a:cs typeface="Arial"/>
              </a:rPr>
              <a:t>Disponível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 </a:t>
            </a:r>
            <a:r>
              <a:rPr lang="en-US" sz="1100" dirty="0">
                <a:latin typeface="Arial"/>
                <a:ea typeface="+mn-lt"/>
                <a:cs typeface="Arial"/>
                <a:hlinkClick r:id="rId9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https://www.gov.br/inep/pt-br/acesso-a-informacao/dados-abertos/microdados/enade</a:t>
            </a:r>
            <a:r>
              <a:rPr lang="en-US" sz="1100" dirty="0">
                <a:latin typeface="Arial"/>
                <a:ea typeface="+mn-lt"/>
                <a:cs typeface="Arial"/>
              </a:rPr>
              <a:t>. Acesso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 30 </a:t>
            </a:r>
            <a:r>
              <a:rPr lang="en-US" sz="1100" dirty="0" err="1">
                <a:latin typeface="Arial"/>
                <a:ea typeface="+mn-lt"/>
                <a:cs typeface="Arial"/>
              </a:rPr>
              <a:t>abril</a:t>
            </a:r>
            <a:r>
              <a:rPr lang="en-US" sz="1100" dirty="0">
                <a:latin typeface="Arial"/>
                <a:ea typeface="+mn-lt"/>
                <a:cs typeface="Arial"/>
              </a:rPr>
              <a:t> 2026.</a:t>
            </a:r>
          </a:p>
          <a:p>
            <a:pPr>
              <a:buFont typeface="Arial"/>
              <a:buChar char="•"/>
            </a:pPr>
            <a:endParaRPr lang="en-US" sz="1100" dirty="0">
              <a:latin typeface="Arial"/>
              <a:ea typeface="+mn-lt"/>
              <a:cs typeface="Arial"/>
            </a:endParaRPr>
          </a:p>
          <a:p>
            <a:pPr>
              <a:buFont typeface="Arial"/>
              <a:buChar char="•"/>
            </a:pPr>
            <a:r>
              <a:rPr lang="en-US" sz="1100" dirty="0">
                <a:latin typeface="Arial"/>
                <a:ea typeface="+mn-lt"/>
                <a:cs typeface="Arial"/>
              </a:rPr>
              <a:t> SEMESP. </a:t>
            </a:r>
            <a:r>
              <a:rPr lang="en-US" sz="1100" b="1" dirty="0">
                <a:latin typeface="Arial"/>
                <a:ea typeface="+mn-lt"/>
                <a:cs typeface="Arial"/>
              </a:rPr>
              <a:t>Mapa do Ensino Superior no </a:t>
            </a:r>
            <a:r>
              <a:rPr lang="en-US" sz="1100" b="1" dirty="0" err="1">
                <a:latin typeface="Arial"/>
                <a:ea typeface="+mn-lt"/>
                <a:cs typeface="Arial"/>
              </a:rPr>
              <a:t>Brasil</a:t>
            </a:r>
            <a:r>
              <a:rPr lang="en-US" sz="1100" b="1" dirty="0">
                <a:latin typeface="Arial"/>
                <a:ea typeface="+mn-lt"/>
                <a:cs typeface="Arial"/>
              </a:rPr>
              <a:t>: </a:t>
            </a:r>
            <a:r>
              <a:rPr lang="en-US" sz="1100" b="1" dirty="0" err="1">
                <a:latin typeface="Arial"/>
                <a:ea typeface="+mn-lt"/>
                <a:cs typeface="Arial"/>
              </a:rPr>
              <a:t>Edição</a:t>
            </a:r>
            <a:r>
              <a:rPr lang="en-US" sz="1100" b="1" dirty="0">
                <a:latin typeface="Arial"/>
                <a:ea typeface="+mn-lt"/>
                <a:cs typeface="Arial"/>
              </a:rPr>
              <a:t> 16</a:t>
            </a:r>
            <a:r>
              <a:rPr lang="en-US" sz="1100" dirty="0">
                <a:latin typeface="Arial"/>
                <a:ea typeface="+mn-lt"/>
                <a:cs typeface="Arial"/>
              </a:rPr>
              <a:t>. São Paulo: </a:t>
            </a:r>
            <a:r>
              <a:rPr lang="en-US" sz="1100" dirty="0" err="1">
                <a:latin typeface="Arial"/>
                <a:ea typeface="+mn-lt"/>
                <a:cs typeface="Arial"/>
              </a:rPr>
              <a:t>Semesp</a:t>
            </a:r>
            <a:r>
              <a:rPr lang="en-US" sz="1100" dirty="0">
                <a:latin typeface="Arial"/>
                <a:ea typeface="+mn-lt"/>
                <a:cs typeface="Arial"/>
              </a:rPr>
              <a:t>, 2026. </a:t>
            </a:r>
            <a:r>
              <a:rPr lang="en-US" sz="1100" dirty="0" err="1">
                <a:latin typeface="Arial"/>
                <a:ea typeface="+mn-lt"/>
                <a:cs typeface="Arial"/>
              </a:rPr>
              <a:t>Disponível</a:t>
            </a:r>
            <a:r>
              <a:rPr lang="en-US" sz="1100" dirty="0">
                <a:latin typeface="Arial"/>
                <a:ea typeface="+mn-lt"/>
                <a:cs typeface="Arial"/>
              </a:rPr>
              <a:t>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 </a:t>
            </a:r>
            <a:r>
              <a:rPr lang="en-US" sz="1100" dirty="0">
                <a:latin typeface="Arial"/>
                <a:ea typeface="+mn-lt"/>
                <a:cs typeface="Arial"/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https://www.semesp.org.br/mapa/edicao-16/brasil/</a:t>
            </a:r>
            <a:r>
              <a:rPr lang="en-US" sz="1100" dirty="0">
                <a:latin typeface="Arial"/>
                <a:ea typeface="+mn-lt"/>
                <a:cs typeface="Arial"/>
              </a:rPr>
              <a:t>. Acesso </a:t>
            </a:r>
            <a:r>
              <a:rPr lang="en-US" sz="1100" dirty="0" err="1">
                <a:latin typeface="Arial"/>
                <a:ea typeface="+mn-lt"/>
                <a:cs typeface="Arial"/>
              </a:rPr>
              <a:t>em</a:t>
            </a:r>
            <a:r>
              <a:rPr lang="en-US" sz="1100" dirty="0">
                <a:latin typeface="Arial"/>
                <a:ea typeface="+mn-lt"/>
                <a:cs typeface="Arial"/>
              </a:rPr>
              <a:t>: 21 </a:t>
            </a:r>
            <a:r>
              <a:rPr lang="en-US" sz="1100" dirty="0" err="1">
                <a:latin typeface="Arial"/>
                <a:ea typeface="+mn-lt"/>
                <a:cs typeface="Arial"/>
              </a:rPr>
              <a:t>maio</a:t>
            </a:r>
            <a:r>
              <a:rPr lang="en-US" sz="1100" dirty="0">
                <a:latin typeface="Arial"/>
                <a:ea typeface="+mn-lt"/>
                <a:cs typeface="Arial"/>
              </a:rPr>
              <a:t> 2026.</a:t>
            </a:r>
          </a:p>
        </p:txBody>
      </p:sp>
    </p:spTree>
    <p:extLst>
      <p:ext uri="{BB962C8B-B14F-4D97-AF65-F5344CB8AC3E}">
        <p14:creationId xmlns:p14="http://schemas.microsoft.com/office/powerpoint/2010/main" val="28093925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4232"/>
    </mc:Choice>
    <mc:Fallback xmlns="">
      <p:transition spd="slow" advTm="14232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id="{BC7B5A56-041E-0098-B87C-471E2F09815E}"/>
              </a:ext>
            </a:extLst>
          </p:cNvPr>
          <p:cNvSpPr txBox="1">
            <a:spLocks/>
          </p:cNvSpPr>
          <p:nvPr/>
        </p:nvSpPr>
        <p:spPr>
          <a:xfrm>
            <a:off x="6785594" y="2131504"/>
            <a:ext cx="5308928" cy="1182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060"/>
              </a:lnSpc>
            </a:pPr>
            <a:r>
              <a:rPr lang="pt-BR" sz="1800" b="1">
                <a:latin typeface="Arial"/>
                <a:cs typeface="Arial"/>
              </a:rPr>
              <a:t>Guilherme Neves</a:t>
            </a:r>
            <a:endParaRPr lang="pt-BR"/>
          </a:p>
          <a:p>
            <a:pPr>
              <a:lnSpc>
                <a:spcPts val="3060"/>
              </a:lnSpc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Fatec Santana de Parnaíba</a:t>
            </a:r>
          </a:p>
          <a:p>
            <a:pPr>
              <a:lnSpc>
                <a:spcPts val="3060"/>
              </a:lnSpc>
            </a:pPr>
            <a:r>
              <a:rPr lang="pt-BR" sz="1400" dirty="0">
                <a:latin typeface="Arial"/>
                <a:cs typeface="Arial"/>
              </a:rPr>
              <a:t>E-mail: </a:t>
            </a:r>
            <a:r>
              <a:rPr lang="pt-BR" sz="1400">
                <a:latin typeface="Arial"/>
                <a:cs typeface="Arial"/>
              </a:rPr>
              <a:t>guilherme.oliveira11@aluno.cps.sp.gov.br</a:t>
            </a:r>
            <a:endParaRPr lang="pt-BR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ítulo 1">
            <a:extLst>
              <a:ext uri="{FF2B5EF4-FFF2-40B4-BE49-F238E27FC236}">
                <a16:creationId xmlns:a16="http://schemas.microsoft.com/office/drawing/2014/main" id="{9E27EDA7-3DF8-26B1-181B-1BD01394CFF0}"/>
              </a:ext>
            </a:extLst>
          </p:cNvPr>
          <p:cNvSpPr txBox="1">
            <a:spLocks/>
          </p:cNvSpPr>
          <p:nvPr/>
        </p:nvSpPr>
        <p:spPr>
          <a:xfrm>
            <a:off x="6785594" y="3363373"/>
            <a:ext cx="5308928" cy="118224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ts val="3060"/>
              </a:lnSpc>
            </a:pPr>
            <a:r>
              <a:rPr lang="pt-BR" sz="1800" b="1">
                <a:latin typeface="Arial"/>
                <a:cs typeface="Arial"/>
              </a:rPr>
              <a:t>Luiz Rodolfo</a:t>
            </a:r>
            <a:endParaRPr lang="pt-BR"/>
          </a:p>
          <a:p>
            <a:pPr>
              <a:lnSpc>
                <a:spcPts val="3060"/>
              </a:lnSpc>
            </a:pPr>
            <a:r>
              <a:rPr lang="pt-BR" sz="1400">
                <a:latin typeface="Arial" panose="020B0604020202020204" pitchFamily="34" charset="0"/>
                <a:cs typeface="Arial" panose="020B0604020202020204" pitchFamily="34" charset="0"/>
              </a:rPr>
              <a:t>Fatec Santana de Parnaíba</a:t>
            </a:r>
          </a:p>
          <a:p>
            <a:pPr>
              <a:lnSpc>
                <a:spcPts val="3060"/>
              </a:lnSpc>
            </a:pPr>
            <a:r>
              <a:rPr lang="pt-BR" sz="1400">
                <a:latin typeface="Arial"/>
                <a:cs typeface="Arial"/>
              </a:rPr>
              <a:t>E-mail: luiz.dawoglio@aluno.cps.sp.gov.br</a:t>
            </a:r>
            <a:endParaRPr lang="pt-BR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3665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204"/>
    </mc:Choice>
    <mc:Fallback xmlns="">
      <p:transition spd="slow" advTm="9204"/>
    </mc:Fallback>
  </mc:AlternateContent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09A995FA53A144E9CF874FADE237B96" ma:contentTypeVersion="4" ma:contentTypeDescription="Crie um novo documento." ma:contentTypeScope="" ma:versionID="6c00707a17e745f9365233538a16ee50">
  <xsd:schema xmlns:xsd="http://www.w3.org/2001/XMLSchema" xmlns:xs="http://www.w3.org/2001/XMLSchema" xmlns:p="http://schemas.microsoft.com/office/2006/metadata/properties" xmlns:ns2="eb957dfb-e5e6-467c-8998-70eefd99c20f" targetNamespace="http://schemas.microsoft.com/office/2006/metadata/properties" ma:root="true" ma:fieldsID="6fb02888c7e82cda12e3a048ea62b527" ns2:_="">
    <xsd:import namespace="eb957dfb-e5e6-467c-8998-70eefd99c20f"/>
    <xsd:element name="properties">
      <xsd:complexType>
        <xsd:sequence>
          <xsd:element name="documentManagement">
            <xsd:complexType>
              <xsd:all>
                <xsd:element ref="ns2:ReferenceId" minOccurs="0"/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b957dfb-e5e6-467c-8998-70eefd99c20f" elementFormDefault="qualified">
    <xsd:import namespace="http://schemas.microsoft.com/office/2006/documentManagement/types"/>
    <xsd:import namespace="http://schemas.microsoft.com/office/infopath/2007/PartnerControls"/>
    <xsd:element name="ReferenceId" ma:index="8" nillable="true" ma:displayName="ReferenceId" ma:indexed="true" ma:internalName="ReferenceId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ReferenceId xmlns="eb957dfb-e5e6-467c-8998-70eefd99c20f" xsi:nil="true"/>
  </documentManagement>
</p:properties>
</file>

<file path=customXml/itemProps1.xml><?xml version="1.0" encoding="utf-8"?>
<ds:datastoreItem xmlns:ds="http://schemas.openxmlformats.org/officeDocument/2006/customXml" ds:itemID="{AAB764DE-BE9F-4F40-9D59-1AF4DD192DF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2C70ADA-92F4-4946-B366-4E97DEEEAEF6}">
  <ds:schemaRefs>
    <ds:schemaRef ds:uri="eb957dfb-e5e6-467c-8998-70eefd99c20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F1DDA825-2E9A-46C3-8DF8-5E33A72884DE}">
  <ds:schemaRefs>
    <ds:schemaRef ds:uri="77f0c63c-766d-4101-a37c-ad5fa7de7f42"/>
    <ds:schemaRef ds:uri="947cb880-27ee-4ee2-b798-e12c6c201c87"/>
    <ds:schemaRef ds:uri="d59c0161-e50a-4935-b955-8c0b48427bf5"/>
    <ds:schemaRef ds:uri="d7bf5598-ec2b-4b5e-b67c-f45508007322"/>
    <ds:schemaRef ds:uri="eb957dfb-e5e6-467c-8998-70eefd99c20f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1131</Words>
  <Application>Microsoft Office PowerPoint</Application>
  <PresentationFormat>Widescreen</PresentationFormat>
  <Paragraphs>59</Paragraphs>
  <Slides>11</Slides>
  <Notes>2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Departamento de Marketing | Fatec Santana de Parnaiba - 283</dc:creator>
  <cp:lastModifiedBy>ks12426</cp:lastModifiedBy>
  <cp:revision>195</cp:revision>
  <dcterms:created xsi:type="dcterms:W3CDTF">2025-04-15T18:15:29Z</dcterms:created>
  <dcterms:modified xsi:type="dcterms:W3CDTF">2026-05-27T01:20:31Z</dcterms:modified>
  <cp:contentStatus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0x010100B09A995FA53A144E9CF874FADE237B96</vt:lpwstr>
  </property>
  <property fmtid="{D5CDD505-2E9C-101B-9397-08002B2CF9AE}" pid="3" name="MediaServiceImageTags">
    <vt:lpwstr/>
  </property>
  <property fmtid="{D5CDD505-2E9C-101B-9397-08002B2CF9AE}" pid="4" name="Order">
    <vt:r8>12000</vt:r8>
  </property>
  <property fmtid="{D5CDD505-2E9C-101B-9397-08002B2CF9AE}" pid="5" name="_ExtendedDescription">
    <vt:lpwstr/>
  </property>
  <property fmtid="{D5CDD505-2E9C-101B-9397-08002B2CF9AE}" pid="6" name="_CopySource">
    <vt:lpwstr>https://centropaulasouza-my.sharepoint.com/personal/guilherme_oliveira11_aluno_cps_sp_gov_br/Documents/Faculdade/Projeto Integrador I/Projeto Integrador 1 - Luiz Rodolfo e Guilherme Neves P1 1.pptx</vt:lpwstr>
  </property>
  <property fmtid="{D5CDD505-2E9C-101B-9397-08002B2CF9AE}" pid="7" name="MSIP_Label_6288130d-5101-4830-99be-3b599ae91491_Enabled">
    <vt:lpwstr>true</vt:lpwstr>
  </property>
  <property fmtid="{D5CDD505-2E9C-101B-9397-08002B2CF9AE}" pid="8" name="MSIP_Label_6288130d-5101-4830-99be-3b599ae91491_SetDate">
    <vt:lpwstr>2026-05-22T20:07:34Z</vt:lpwstr>
  </property>
  <property fmtid="{D5CDD505-2E9C-101B-9397-08002B2CF9AE}" pid="9" name="MSIP_Label_6288130d-5101-4830-99be-3b599ae91491_Method">
    <vt:lpwstr>Privileged</vt:lpwstr>
  </property>
  <property fmtid="{D5CDD505-2E9C-101B-9397-08002B2CF9AE}" pid="10" name="MSIP_Label_6288130d-5101-4830-99be-3b599ae91491_Name">
    <vt:lpwstr>Interno</vt:lpwstr>
  </property>
  <property fmtid="{D5CDD505-2E9C-101B-9397-08002B2CF9AE}" pid="11" name="MSIP_Label_6288130d-5101-4830-99be-3b599ae91491_SiteId">
    <vt:lpwstr>a38e94f2-456e-47b2-b626-d54f18cebc92</vt:lpwstr>
  </property>
  <property fmtid="{D5CDD505-2E9C-101B-9397-08002B2CF9AE}" pid="12" name="MSIP_Label_6288130d-5101-4830-99be-3b599ae91491_ActionId">
    <vt:lpwstr>d130cc69-4a0b-44ef-9b17-f5ea3038a706</vt:lpwstr>
  </property>
  <property fmtid="{D5CDD505-2E9C-101B-9397-08002B2CF9AE}" pid="13" name="MSIP_Label_6288130d-5101-4830-99be-3b599ae91491_ContentBits">
    <vt:lpwstr>3</vt:lpwstr>
  </property>
  <property fmtid="{D5CDD505-2E9C-101B-9397-08002B2CF9AE}" pid="14" name="MSIP_Label_6288130d-5101-4830-99be-3b599ae91491_Tag">
    <vt:lpwstr>10, 0, 1, 1</vt:lpwstr>
  </property>
  <property fmtid="{D5CDD505-2E9C-101B-9397-08002B2CF9AE}" pid="15" name="ClassificationContentMarkingFooterLocations">
    <vt:lpwstr>Tema do Office:10</vt:lpwstr>
  </property>
  <property fmtid="{D5CDD505-2E9C-101B-9397-08002B2CF9AE}" pid="16" name="ClassificationContentMarkingFooterText">
    <vt:lpwstr>Interno</vt:lpwstr>
  </property>
  <property fmtid="{D5CDD505-2E9C-101B-9397-08002B2CF9AE}" pid="17" name="ClassificationContentMarkingHeaderLocations">
    <vt:lpwstr>Tema do Office:9</vt:lpwstr>
  </property>
  <property fmtid="{D5CDD505-2E9C-101B-9397-08002B2CF9AE}" pid="18" name="ClassificationContentMarkingHeaderText">
    <vt:lpwstr>Interno</vt:lpwstr>
  </property>
</Properties>
</file>